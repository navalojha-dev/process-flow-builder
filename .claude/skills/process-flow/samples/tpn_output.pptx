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autoCompressPictures="0" embedTrueTypeFonts="1" strictFirstAndLastChars="0" saveSubsetFonts="1">
  <ns0:sldMasterIdLst>
    <ns0:sldMasterId id="2147483684" ns1:id="rId5"/>
    <ns0:sldMasterId id="2147483685" ns1:id="rId6"/>
  </ns0:sldMasterIdLst>
  <ns0:notesMasterIdLst>
    <ns0:notesMasterId ns1:id="rId7"/>
  </ns0:notesMasterIdLst>
  <ns0:sldIdLst>
    <ns0:sldId id="270" ns1:id="rId22"/>
    <ns0:sldId id="271" ns1:id="rId55"/>
    <ns0:sldId id="272" ns1:id="rId56"/>
  </ns0:sldIdLst>
  <ns0:sldSz cy="5143500" cx="9144000"/>
  <ns0:notesSz cx="6858000" cy="9144000"/>
  <ns0:embeddedFontLst>
    <ns0:embeddedFont>
      <ns0:font typeface="Hanken Grotesk Medium"/>
      <ns0:regular ns1:id="rId306"/>
      <ns0:bold ns1:id="rId307"/>
      <ns0:italic ns1:id="rId308"/>
      <ns0:boldItalic ns1:id="rId309"/>
    </ns0:embeddedFont>
    <ns0:embeddedFont>
      <ns0:font typeface="Roboto Slab"/>
      <ns0:regular ns1:id="rId310"/>
      <ns0:bold ns1:id="rId311"/>
    </ns0:embeddedFont>
    <ns0:embeddedFont>
      <ns0:font typeface="Lexend Light"/>
      <ns0:regular ns1:id="rId312"/>
      <ns0:bold ns1:id="rId313"/>
    </ns0:embeddedFont>
    <ns0:embeddedFont>
      <ns0:font typeface="Hanken Grotesk"/>
      <ns0:regular ns1:id="rId314"/>
      <ns0:bold ns1:id="rId315"/>
      <ns0:italic ns1:id="rId316"/>
      <ns0:boldItalic ns1:id="rId317"/>
    </ns0:embeddedFont>
    <ns0:embeddedFont>
      <ns0:font typeface="Hanken Grotesk SemiBold"/>
      <ns0:regular ns1:id="rId318"/>
      <ns0:bold ns1:id="rId319"/>
      <ns0:italic ns1:id="rId320"/>
      <ns0:boldItalic ns1:id="rId321"/>
    </ns0:embeddedFont>
    <ns0:embeddedFont>
      <ns0:font typeface="Lexend Medium"/>
      <ns0:regular ns1:id="rId322"/>
      <ns0:bold ns1:id="rId323"/>
    </ns0:embeddedFont>
    <ns0:embeddedFont>
      <ns0:font typeface="Lato Black"/>
      <ns0:bold ns1:id="rId324"/>
      <ns0:boldItalic ns1:id="rId325"/>
    </ns0:embeddedFont>
    <ns0:embeddedFont>
      <ns0:font typeface="Helvetica Neue"/>
      <ns0:regular ns1:id="rId326"/>
      <ns0:bold ns1:id="rId327"/>
      <ns0:italic ns1:id="rId328"/>
      <ns0:boldItalic ns1:id="rId329"/>
    </ns0:embeddedFont>
    <ns0:embeddedFont>
      <ns0:font typeface="Lexend"/>
      <ns0:regular ns1:id="rId330"/>
      <ns0:bold ns1:id="rId331"/>
    </ns0:embeddedFont>
    <ns0:embeddedFont>
      <ns0:font typeface="Alexandria Light"/>
      <ns0:regular ns1:id="rId332"/>
      <ns0:bold ns1:id="rId333"/>
    </ns0:embeddedFont>
    <ns0:embeddedFont>
      <ns0:font typeface="Lexend SemiBold"/>
      <ns0:regular ns1:id="rId334"/>
      <ns0:bold ns1:id="rId335"/>
    </ns0:embeddedFont>
    <ns0:embeddedFont>
      <ns0:font typeface="Roboto"/>
      <ns0:regular ns1:id="rId336"/>
      <ns0:bold ns1:id="rId337"/>
      <ns0:italic ns1:id="rId338"/>
      <ns0:boldItalic ns1:id="rId339"/>
    </ns0:embeddedFont>
    <ns0:embeddedFont>
      <ns0:font typeface="Poppins"/>
      <ns0:regular ns1:id="rId340"/>
      <ns0:bold ns1:id="rId341"/>
      <ns0:italic ns1:id="rId342"/>
      <ns0:boldItalic ns1:id="rId343"/>
    </ns0:embeddedFont>
    <ns0:embeddedFont>
      <ns0:font typeface="Lato"/>
      <ns0:regular ns1:id="rId344"/>
      <ns0:bold ns1:id="rId345"/>
      <ns0:italic ns1:id="rId346"/>
      <ns0:boldItalic ns1:id="rId347"/>
    </ns0:embeddedFont>
    <ns0:embeddedFont>
      <ns0:font typeface="Lexend Thin"/>
      <ns0:regular ns1:id="rId348"/>
      <ns0:bold ns1:id="rId349"/>
    </ns0:embeddedFont>
    <ns0:embeddedFont>
      <ns0:font typeface="Alexandria Black"/>
      <ns0:bold ns1:id="rId350"/>
    </ns0:embeddedFont>
    <ns0:embeddedFont>
      <ns0:font typeface="Lexend Black"/>
      <ns0:bold ns1:id="rId351"/>
    </ns0:embeddedFont>
  </ns0:embeddedFontLst>
  <ns0:defaultTextStyle>
    <ns2:defPPr lvl="0" marR="0" rtl="0" algn="l">
      <ns2:lnSpc>
        <ns2:spcPct val="100000"/>
      </ns2:lnSpc>
      <ns2:spcBef>
        <ns2:spcPts val="0"/>
      </ns2:spcBef>
      <ns2:spcAft>
        <ns2:spcPts val="0"/>
      </ns2:spcAft>
    </ns2:defPPr>
    <ns2:lvl1pPr lvl="0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lvl="1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lvl="2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lvl="3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lvl="4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lvl="5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lvl="6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lvl="7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lvl="8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</ns0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Mrigank Patel"/>
  <p:cmAuthor clrIdx="1" id="1" initials="" lastIdx="1" name="Punyata Gupta"/>
  <p:cmAuthor clrIdx="2" id="2" initials="" lastIdx="1" name="Medha Singh"/>
  <p:cmAuthor clrIdx="3" id="3" initials="" lastIdx="1" name="Kumar Vaibha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3D67A9-73D3-4834-97BB-DDDDBFDB70A3}">
  <a:tblStyle styleId="{923D67A9-73D3-4834-97BB-DDDDBFDB70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F39E316-2A6F-46FE-BB79-8DE11204CA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9BFDCD1-7CC8-4EE3-B7B2-5F212ED0A7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55" Type="http://schemas.openxmlformats.org/officeDocument/2006/relationships/slide" Target="slides/slide2.xml"/><Relationship Id="rId56" Type="http://schemas.openxmlformats.org/officeDocument/2006/relationships/slide" Target="slides/slide3.xml"/><Relationship Id="rId306" Type="http://schemas.openxmlformats.org/officeDocument/2006/relationships/font" Target="fonts/HankenGroteskMedium-regular.fntdata"/><Relationship Id="rId307" Type="http://schemas.openxmlformats.org/officeDocument/2006/relationships/font" Target="fonts/HankenGroteskMedium-bold.fntdata"/><Relationship Id="rId308" Type="http://schemas.openxmlformats.org/officeDocument/2006/relationships/font" Target="fonts/HankenGroteskMedium-italic.fntdata"/><Relationship Id="rId309" Type="http://schemas.openxmlformats.org/officeDocument/2006/relationships/font" Target="fonts/HankenGroteskMedium-boldItalic.fntdata"/><Relationship Id="rId310" Type="http://schemas.openxmlformats.org/officeDocument/2006/relationships/font" Target="fonts/RobotoSlab-regular.fntdata"/><Relationship Id="rId311" Type="http://schemas.openxmlformats.org/officeDocument/2006/relationships/font" Target="fonts/RobotoSlab-bold.fntdata"/><Relationship Id="rId312" Type="http://schemas.openxmlformats.org/officeDocument/2006/relationships/font" Target="fonts/LexendLight-regular.fntdata"/><Relationship Id="rId313" Type="http://schemas.openxmlformats.org/officeDocument/2006/relationships/font" Target="fonts/LexendLight-bold.fntdata"/><Relationship Id="rId314" Type="http://schemas.openxmlformats.org/officeDocument/2006/relationships/font" Target="fonts/HankenGrotesk-regular.fntdata"/><Relationship Id="rId315" Type="http://schemas.openxmlformats.org/officeDocument/2006/relationships/font" Target="fonts/HankenGrotesk-bold.fntdata"/><Relationship Id="rId316" Type="http://schemas.openxmlformats.org/officeDocument/2006/relationships/font" Target="fonts/HankenGrotesk-italic.fntdata"/><Relationship Id="rId317" Type="http://schemas.openxmlformats.org/officeDocument/2006/relationships/font" Target="fonts/HankenGrotesk-boldItalic.fntdata"/><Relationship Id="rId318" Type="http://schemas.openxmlformats.org/officeDocument/2006/relationships/font" Target="fonts/HankenGroteskSemiBold-regular.fntdata"/><Relationship Id="rId319" Type="http://schemas.openxmlformats.org/officeDocument/2006/relationships/font" Target="fonts/HankenGroteskSemiBold-bold.fntdata"/><Relationship Id="rId320" Type="http://schemas.openxmlformats.org/officeDocument/2006/relationships/font" Target="fonts/HankenGroteskSemiBold-italic.fntdata"/><Relationship Id="rId321" Type="http://schemas.openxmlformats.org/officeDocument/2006/relationships/font" Target="fonts/HankenGroteskSemiBold-boldItalic.fntdata"/><Relationship Id="rId322" Type="http://schemas.openxmlformats.org/officeDocument/2006/relationships/font" Target="fonts/LexendMedium-regular.fntdata"/><Relationship Id="rId323" Type="http://schemas.openxmlformats.org/officeDocument/2006/relationships/font" Target="fonts/LexendMedium-bold.fntdata"/><Relationship Id="rId324" Type="http://schemas.openxmlformats.org/officeDocument/2006/relationships/font" Target="fonts/LatoBlack-bold.fntdata"/><Relationship Id="rId325" Type="http://schemas.openxmlformats.org/officeDocument/2006/relationships/font" Target="fonts/LatoBlack-boldItalic.fntdata"/><Relationship Id="rId326" Type="http://schemas.openxmlformats.org/officeDocument/2006/relationships/font" Target="fonts/HelveticaNeue-regular.fntdata"/><Relationship Id="rId327" Type="http://schemas.openxmlformats.org/officeDocument/2006/relationships/font" Target="fonts/HelveticaNeue-bold.fntdata"/><Relationship Id="rId328" Type="http://schemas.openxmlformats.org/officeDocument/2006/relationships/font" Target="fonts/HelveticaNeue-italic.fntdata"/><Relationship Id="rId329" Type="http://schemas.openxmlformats.org/officeDocument/2006/relationships/font" Target="fonts/HelveticaNeue-boldItalic.fntdata"/><Relationship Id="rId330" Type="http://schemas.openxmlformats.org/officeDocument/2006/relationships/font" Target="fonts/Lexend-regular.fntdata"/><Relationship Id="rId331" Type="http://schemas.openxmlformats.org/officeDocument/2006/relationships/font" Target="fonts/Lexend-bold.fntdata"/><Relationship Id="rId332" Type="http://schemas.openxmlformats.org/officeDocument/2006/relationships/font" Target="fonts/AlexandriaLight-regular.fntdata"/><Relationship Id="rId333" Type="http://schemas.openxmlformats.org/officeDocument/2006/relationships/font" Target="fonts/AlexandriaLight-bold.fntdata"/><Relationship Id="rId334" Type="http://schemas.openxmlformats.org/officeDocument/2006/relationships/font" Target="fonts/LexendSemiBold-regular.fntdata"/><Relationship Id="rId335" Type="http://schemas.openxmlformats.org/officeDocument/2006/relationships/font" Target="fonts/LexendSemiBold-bold.fntdata"/><Relationship Id="rId336" Type="http://schemas.openxmlformats.org/officeDocument/2006/relationships/font" Target="fonts/Roboto-regular.fntdata"/><Relationship Id="rId337" Type="http://schemas.openxmlformats.org/officeDocument/2006/relationships/font" Target="fonts/Roboto-bold.fntdata"/><Relationship Id="rId338" Type="http://schemas.openxmlformats.org/officeDocument/2006/relationships/font" Target="fonts/Roboto-italic.fntdata"/><Relationship Id="rId339" Type="http://schemas.openxmlformats.org/officeDocument/2006/relationships/font" Target="fonts/Roboto-boldItalic.fntdata"/><Relationship Id="rId340" Type="http://schemas.openxmlformats.org/officeDocument/2006/relationships/font" Target="fonts/Poppins-regular.fntdata"/><Relationship Id="rId341" Type="http://schemas.openxmlformats.org/officeDocument/2006/relationships/font" Target="fonts/Poppins-bold.fntdata"/><Relationship Id="rId342" Type="http://schemas.openxmlformats.org/officeDocument/2006/relationships/font" Target="fonts/Poppins-italic.fntdata"/><Relationship Id="rId343" Type="http://schemas.openxmlformats.org/officeDocument/2006/relationships/font" Target="fonts/Poppins-boldItalic.fntdata"/><Relationship Id="rId344" Type="http://schemas.openxmlformats.org/officeDocument/2006/relationships/font" Target="fonts/Lato-regular.fntdata"/><Relationship Id="rId345" Type="http://schemas.openxmlformats.org/officeDocument/2006/relationships/font" Target="fonts/Lato-bold.fntdata"/><Relationship Id="rId346" Type="http://schemas.openxmlformats.org/officeDocument/2006/relationships/font" Target="fonts/Lato-italic.fntdata"/><Relationship Id="rId347" Type="http://schemas.openxmlformats.org/officeDocument/2006/relationships/font" Target="fonts/Lato-boldItalic.fntdata"/><Relationship Id="rId348" Type="http://schemas.openxmlformats.org/officeDocument/2006/relationships/font" Target="fonts/LexendThin-regular.fntdata"/><Relationship Id="rId349" Type="http://schemas.openxmlformats.org/officeDocument/2006/relationships/font" Target="fonts/LexendThin-bold.fntdata"/><Relationship Id="rId350" Type="http://schemas.openxmlformats.org/officeDocument/2006/relationships/font" Target="fonts/AlexandriaBlack-bold.fntdata"/><Relationship Id="rId351" Type="http://schemas.openxmlformats.org/officeDocument/2006/relationships/font" Target="fonts/LexendBlack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2987fde59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92987fde59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out that MCM can be done at FM MM &amp; LM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5">
  <p:cSld name="TITLE_AND_BODY_5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457200" y="127866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algn="l">
              <a:spcBef>
                <a:spcPts val="1200"/>
              </a:spcBef>
              <a:spcAft>
                <a:spcPts val="0"/>
              </a:spcAft>
              <a:buSzPts val="1100"/>
              <a:buChar char="○"/>
              <a:defRPr sz="1100"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algn="l">
              <a:spcBef>
                <a:spcPts val="1200"/>
              </a:spcBef>
              <a:spcAft>
                <a:spcPts val="0"/>
              </a:spcAft>
              <a:buSzPts val="900"/>
              <a:buChar char="■"/>
              <a:defRPr sz="900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spcBef>
                <a:spcPts val="1200"/>
              </a:spcBef>
              <a:spcAft>
                <a:spcPts val="0"/>
              </a:spcAft>
              <a:buSzPts val="800"/>
              <a:buChar char="●"/>
              <a:defRPr sz="8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454086" y="277034"/>
            <a:ext cx="82329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2" type="body"/>
          </p:nvPr>
        </p:nvSpPr>
        <p:spPr>
          <a:xfrm>
            <a:off x="453629" y="517922"/>
            <a:ext cx="8236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1">
                <a:solidFill>
                  <a:srgbClr val="00A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5" name="Google Shape;75;p18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">
  <p:cSld name="CUSTOM_17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9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2" type="subTitle"/>
          </p:nvPr>
        </p:nvSpPr>
        <p:spPr>
          <a:xfrm>
            <a:off x="645687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3" type="subTitle"/>
          </p:nvPr>
        </p:nvSpPr>
        <p:spPr>
          <a:xfrm>
            <a:off x="512600" y="1839000"/>
            <a:ext cx="2961900" cy="305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4" type="subTitle"/>
          </p:nvPr>
        </p:nvSpPr>
        <p:spPr>
          <a:xfrm>
            <a:off x="6665125" y="295825"/>
            <a:ext cx="1999200" cy="717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5" type="subTitle"/>
          </p:nvPr>
        </p:nvSpPr>
        <p:spPr>
          <a:xfrm>
            <a:off x="512600" y="13071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6" type="subTitle"/>
          </p:nvPr>
        </p:nvSpPr>
        <p:spPr>
          <a:xfrm>
            <a:off x="512600" y="2715295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7" type="subTitle"/>
          </p:nvPr>
        </p:nvSpPr>
        <p:spPr>
          <a:xfrm>
            <a:off x="512600" y="21834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8" type="subTitle"/>
          </p:nvPr>
        </p:nvSpPr>
        <p:spPr>
          <a:xfrm>
            <a:off x="512600" y="3605552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9" type="subTitle"/>
          </p:nvPr>
        </p:nvSpPr>
        <p:spPr>
          <a:xfrm>
            <a:off x="512600" y="3063525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1">
  <p:cSld name="CUSTOM_17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21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2" type="subTitle"/>
          </p:nvPr>
        </p:nvSpPr>
        <p:spPr>
          <a:xfrm>
            <a:off x="645687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3" type="subTitle"/>
          </p:nvPr>
        </p:nvSpPr>
        <p:spPr>
          <a:xfrm>
            <a:off x="512600" y="1839000"/>
            <a:ext cx="2961900" cy="305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4" type="subTitle"/>
          </p:nvPr>
        </p:nvSpPr>
        <p:spPr>
          <a:xfrm>
            <a:off x="6665125" y="295825"/>
            <a:ext cx="1999200" cy="717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5" type="subTitle"/>
          </p:nvPr>
        </p:nvSpPr>
        <p:spPr>
          <a:xfrm>
            <a:off x="512600" y="13071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6" type="subTitle"/>
          </p:nvPr>
        </p:nvSpPr>
        <p:spPr>
          <a:xfrm>
            <a:off x="512600" y="2715295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7" type="subTitle"/>
          </p:nvPr>
        </p:nvSpPr>
        <p:spPr>
          <a:xfrm>
            <a:off x="512600" y="21834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8" type="subTitle"/>
          </p:nvPr>
        </p:nvSpPr>
        <p:spPr>
          <a:xfrm>
            <a:off x="512600" y="3605552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9" type="subTitle"/>
          </p:nvPr>
        </p:nvSpPr>
        <p:spPr>
          <a:xfrm>
            <a:off x="512600" y="3063525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106" name="Google Shape;106;p22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107" name="Google Shape;107;p22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_2">
  <p:cSld name="SECTION_HEADER_1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7" name="Google Shape;11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0" name="Google Shape;1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4" name="Google Shape;144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5" name="Google Shape;145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9" name="Google Shape;1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2" name="Google Shape;152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8" name="Google Shape;15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359" y="0"/>
            <a:ext cx="548641" cy="55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18.png"/><Relationship Id="rId6" Type="http://schemas.openxmlformats.org/officeDocument/2006/relationships/image" Target="../media/image143.png"/><Relationship Id="rId7" Type="http://schemas.openxmlformats.org/officeDocument/2006/relationships/image" Target="../media/image135.png"/><Relationship Id="rId8" Type="http://schemas.openxmlformats.org/officeDocument/2006/relationships/image" Target="../media/image117.png"/><Relationship Id="rId9" Type="http://schemas.openxmlformats.org/officeDocument/2006/relationships/image" Target="../media/image116.png"/><Relationship Id="rId10" Type="http://schemas.openxmlformats.org/officeDocument/2006/relationships/image" Target="../media/image123.png"/><Relationship Id="rId11" Type="http://schemas.openxmlformats.org/officeDocument/2006/relationships/image" Target="../media/image120.png"/><Relationship Id="rId12" Type="http://schemas.openxmlformats.org/officeDocument/2006/relationships/image" Target="../media/image114.png"/><Relationship Id="rId13" Type="http://schemas.openxmlformats.org/officeDocument/2006/relationships/image" Target="../media/image119.png"/><Relationship Id="rId14" Type="http://schemas.openxmlformats.org/officeDocument/2006/relationships/image" Target="../media/image133.png"/><Relationship Id="rId15" Type="http://schemas.openxmlformats.org/officeDocument/2006/relationships/image" Target="../media/image127.png"/><Relationship Id="rId16" Type="http://schemas.openxmlformats.org/officeDocument/2006/relationships/image" Target="../media/image125.png"/><Relationship Id="rId17" Type="http://schemas.openxmlformats.org/officeDocument/2006/relationships/image" Target="../media/image124.png"/><Relationship Id="rId18" Type="http://schemas.openxmlformats.org/officeDocument/2006/relationships/image" Target="../media/image129.png"/><Relationship Id="rId19" Type="http://schemas.openxmlformats.org/officeDocument/2006/relationships/image" Target="../media/image121.png"/><Relationship Id="rId20" Type="http://schemas.openxmlformats.org/officeDocument/2006/relationships/image" Target="../media/image126.png"/><Relationship Id="rId21" Type="http://schemas.openxmlformats.org/officeDocument/2006/relationships/image" Target="../media/image132.png"/><Relationship Id="rId22" Type="http://schemas.openxmlformats.org/officeDocument/2006/relationships/image" Target="../media/image140.png"/><Relationship Id="rId23" Type="http://schemas.openxmlformats.org/officeDocument/2006/relationships/image" Target="../media/image153.png"/><Relationship Id="rId24" Type="http://schemas.openxmlformats.org/officeDocument/2006/relationships/image" Target="../media/image130.png"/><Relationship Id="rId25" Type="http://schemas.openxmlformats.org/officeDocument/2006/relationships/image" Target="../media/image131.png"/><Relationship Id="rId26" Type="http://schemas.openxmlformats.org/officeDocument/2006/relationships/image" Target="../media/image145.png"/><Relationship Id="rId27" Type="http://schemas.openxmlformats.org/officeDocument/2006/relationships/image" Target="../media/image139.png"/><Relationship Id="rId28" Type="http://schemas.openxmlformats.org/officeDocument/2006/relationships/image" Target="../media/image137.png"/><Relationship Id="rId29" Type="http://schemas.openxmlformats.org/officeDocument/2006/relationships/image" Target="../media/image158.png"/><Relationship Id="rId30" Type="http://schemas.openxmlformats.org/officeDocument/2006/relationships/image" Target="../media/image141.png"/><Relationship Id="rId31" Type="http://schemas.openxmlformats.org/officeDocument/2006/relationships/image" Target="../media/image15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2590" y="-8650"/>
            <a:ext cx="535610" cy="54229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3"/>
          <p:cNvSpPr txBox="1"/>
          <p:nvPr>
            <p:ph type="title"/>
          </p:nvPr>
        </p:nvSpPr>
        <p:spPr>
          <a:xfrm>
            <a:off x="200115" y="104703"/>
            <a:ext cx="83979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34"/>
              <a:buNone/>
            </a:pPr>
            <a:r>
              <a:rPr b="1" lang="en" sz="2343">
                <a:solidFill>
                  <a:srgbClr val="075592"/>
                </a:solidFill>
                <a:latin typeface="Lexend"/>
                <a:ea typeface="Lexend"/>
                <a:cs typeface="Lexend"/>
                <a:sym typeface="Lexend"/>
              </a:rPr>
              <a:t>Process Flow with Shipsy</a:t>
            </a:r>
            <a:endParaRPr sz="2343">
              <a:solidFill>
                <a:srgbClr val="004991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  <p:pic>
        <p:nvPicPr>
          <p:cNvPr id="527" name="Google Shape;52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4650" y="133375"/>
            <a:ext cx="860774" cy="258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8" name="Google Shape;528;p53"/>
          <p:cNvCxnSpPr/>
          <p:nvPr/>
        </p:nvCxnSpPr>
        <p:spPr>
          <a:xfrm flipH="1" rot="10800000">
            <a:off x="1615525" y="679400"/>
            <a:ext cx="6940200" cy="3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9" name="Google Shape;529;p53"/>
          <p:cNvSpPr txBox="1"/>
          <p:nvPr/>
        </p:nvSpPr>
        <p:spPr>
          <a:xfrm>
            <a:off x="200131" y="2022590"/>
            <a:ext cx="1415400" cy="677400"/>
          </a:xfrm>
          <a:prstGeom prst="rect">
            <a:avLst/>
          </a:prstGeom>
          <a:solidFill>
            <a:srgbClr val="3172AD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Middle Mile Journey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Hub-to-Hub Movement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53"/>
          <p:cNvSpPr txBox="1"/>
          <p:nvPr/>
        </p:nvSpPr>
        <p:spPr>
          <a:xfrm>
            <a:off x="200125" y="1353850"/>
            <a:ext cx="1415400" cy="677400"/>
          </a:xfrm>
          <a:prstGeom prst="rect">
            <a:avLst/>
          </a:prstGeom>
          <a:solidFill>
            <a:srgbClr val="084174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First Mile Journey and Hub Activities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53"/>
          <p:cNvSpPr txBox="1"/>
          <p:nvPr/>
        </p:nvSpPr>
        <p:spPr>
          <a:xfrm>
            <a:off x="200131" y="2699972"/>
            <a:ext cx="1415400" cy="754200"/>
          </a:xfrm>
          <a:prstGeom prst="rect">
            <a:avLst/>
          </a:prstGeom>
          <a:solidFill>
            <a:srgbClr val="407CB3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Last Mile Operations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53"/>
          <p:cNvSpPr txBox="1"/>
          <p:nvPr/>
        </p:nvSpPr>
        <p:spPr>
          <a:xfrm>
            <a:off x="200131" y="679400"/>
            <a:ext cx="1415400" cy="6744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Order Creation and First Mile planning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t/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53"/>
          <p:cNvSpPr txBox="1"/>
          <p:nvPr/>
        </p:nvSpPr>
        <p:spPr>
          <a:xfrm>
            <a:off x="200125" y="3454094"/>
            <a:ext cx="1415400" cy="378300"/>
          </a:xfrm>
          <a:prstGeom prst="rect">
            <a:avLst/>
          </a:prstGeom>
          <a:solidFill>
            <a:srgbClr val="588FC2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Customer Communication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53"/>
          <p:cNvSpPr txBox="1"/>
          <p:nvPr/>
        </p:nvSpPr>
        <p:spPr>
          <a:xfrm>
            <a:off x="200125" y="3815122"/>
            <a:ext cx="1415400" cy="378300"/>
          </a:xfrm>
          <a:prstGeom prst="rect">
            <a:avLst/>
          </a:prstGeom>
          <a:solidFill>
            <a:srgbClr val="73A8D8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Finance Operations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53"/>
          <p:cNvSpPr txBox="1"/>
          <p:nvPr/>
        </p:nvSpPr>
        <p:spPr>
          <a:xfrm>
            <a:off x="200125" y="4190323"/>
            <a:ext cx="1415400" cy="378300"/>
          </a:xfrm>
          <a:prstGeom prst="rect">
            <a:avLst/>
          </a:prstGeom>
          <a:solidFill>
            <a:srgbClr val="9AC3E9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Analytics &amp; Reporting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6" name="Google Shape;536;p53"/>
          <p:cNvCxnSpPr/>
          <p:nvPr/>
        </p:nvCxnSpPr>
        <p:spPr>
          <a:xfrm>
            <a:off x="1615525" y="1356800"/>
            <a:ext cx="6376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3"/>
          <p:cNvCxnSpPr/>
          <p:nvPr/>
        </p:nvCxnSpPr>
        <p:spPr>
          <a:xfrm>
            <a:off x="1615525" y="2719157"/>
            <a:ext cx="6421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3"/>
          <p:cNvCxnSpPr/>
          <p:nvPr/>
        </p:nvCxnSpPr>
        <p:spPr>
          <a:xfrm flipH="1" rot="10800000">
            <a:off x="1615525" y="3815224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53"/>
          <p:cNvCxnSpPr/>
          <p:nvPr/>
        </p:nvCxnSpPr>
        <p:spPr>
          <a:xfrm flipH="1" rot="10800000">
            <a:off x="1615525" y="4193663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53"/>
          <p:cNvCxnSpPr/>
          <p:nvPr/>
        </p:nvCxnSpPr>
        <p:spPr>
          <a:xfrm flipH="1" rot="10800000">
            <a:off x="1615525" y="4557482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541" name="Google Shape;54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5775" y="1055875"/>
            <a:ext cx="282075" cy="28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9947" y="793115"/>
            <a:ext cx="784894" cy="410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3" name="Google Shape;543;p53"/>
          <p:cNvCxnSpPr>
            <a:endCxn id="542" idx="1"/>
          </p:cNvCxnSpPr>
          <p:nvPr/>
        </p:nvCxnSpPr>
        <p:spPr>
          <a:xfrm>
            <a:off x="2173847" y="772001"/>
            <a:ext cx="2096100" cy="226200"/>
          </a:xfrm>
          <a:prstGeom prst="bentConnector3">
            <a:avLst>
              <a:gd fmla="val 50000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53"/>
          <p:cNvCxnSpPr>
            <a:stCxn id="541" idx="3"/>
            <a:endCxn id="542" idx="1"/>
          </p:cNvCxnSpPr>
          <p:nvPr/>
        </p:nvCxnSpPr>
        <p:spPr>
          <a:xfrm flipH="1" rot="10800000">
            <a:off x="2177850" y="998313"/>
            <a:ext cx="2092200" cy="198600"/>
          </a:xfrm>
          <a:prstGeom prst="bentConnector3">
            <a:avLst>
              <a:gd fmla="val 49998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53"/>
          <p:cNvSpPr txBox="1"/>
          <p:nvPr/>
        </p:nvSpPr>
        <p:spPr>
          <a:xfrm>
            <a:off x="2391025" y="680900"/>
            <a:ext cx="700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Business Clients</a:t>
            </a:r>
            <a:endParaRPr sz="6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2391025" y="1108800"/>
            <a:ext cx="7371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TPN Connect</a:t>
            </a:r>
            <a:endParaRPr sz="6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7" name="Google Shape;547;p53"/>
          <p:cNvCxnSpPr>
            <a:stCxn id="542" idx="3"/>
            <a:endCxn id="548" idx="1"/>
          </p:cNvCxnSpPr>
          <p:nvPr/>
        </p:nvCxnSpPr>
        <p:spPr>
          <a:xfrm>
            <a:off x="5054840" y="998201"/>
            <a:ext cx="762000" cy="0"/>
          </a:xfrm>
          <a:prstGeom prst="straightConnector1">
            <a:avLst/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53"/>
          <p:cNvCxnSpPr>
            <a:stCxn id="550" idx="3"/>
            <a:endCxn id="551" idx="3"/>
          </p:cNvCxnSpPr>
          <p:nvPr/>
        </p:nvCxnSpPr>
        <p:spPr>
          <a:xfrm flipH="1">
            <a:off x="7705625" y="962800"/>
            <a:ext cx="75600" cy="673200"/>
          </a:xfrm>
          <a:prstGeom prst="bentConnector3">
            <a:avLst>
              <a:gd fmla="val -451058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2" name="Google Shape;552;p53" title="Business Portfolio Ic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7687" y="706052"/>
            <a:ext cx="258250" cy="2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3"/>
          <p:cNvSpPr txBox="1"/>
          <p:nvPr/>
        </p:nvSpPr>
        <p:spPr>
          <a:xfrm>
            <a:off x="7107750" y="1721655"/>
            <a:ext cx="9378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Visibility of collection tasks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5798163" y="172165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Driver navigation + ePOC capture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53"/>
          <p:cNvSpPr txBox="1"/>
          <p:nvPr/>
        </p:nvSpPr>
        <p:spPr>
          <a:xfrm>
            <a:off x="4488575" y="1727380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Collection completion at shipper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6" name="Google Shape;556;p53"/>
          <p:cNvSpPr txBox="1"/>
          <p:nvPr/>
        </p:nvSpPr>
        <p:spPr>
          <a:xfrm>
            <a:off x="3178988" y="172165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Inscan of picked pallets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7" name="Google Shape;557;p53"/>
          <p:cNvSpPr txBox="1"/>
          <p:nvPr/>
        </p:nvSpPr>
        <p:spPr>
          <a:xfrm>
            <a:off x="1644750" y="1721655"/>
            <a:ext cx="1076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Pallet weight &amp; size verification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1" name="Google Shape;551;p53" title="Smartphone UI Desig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47525" y="1506925"/>
            <a:ext cx="258250" cy="2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3" title="Mobile Navigation Ic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34000" y="1479999"/>
            <a:ext cx="295200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3" title="Pickup Icon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24438" y="1479999"/>
            <a:ext cx="295200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53" title="Scan Box Ic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14838" y="1479999"/>
            <a:ext cx="295200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3" title="Order Verification Icon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35500" y="1479999"/>
            <a:ext cx="310896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" name="Google Shape;562;p53"/>
          <p:cNvCxnSpPr>
            <a:stCxn id="551" idx="1"/>
            <a:endCxn id="558" idx="3"/>
          </p:cNvCxnSpPr>
          <p:nvPr/>
        </p:nvCxnSpPr>
        <p:spPr>
          <a:xfrm rot="10800000">
            <a:off x="6429325" y="1618350"/>
            <a:ext cx="10182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53"/>
          <p:cNvCxnSpPr/>
          <p:nvPr/>
        </p:nvCxnSpPr>
        <p:spPr>
          <a:xfrm rot="10800000">
            <a:off x="5119688" y="1638050"/>
            <a:ext cx="101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53"/>
          <p:cNvCxnSpPr>
            <a:endCxn id="560" idx="3"/>
          </p:cNvCxnSpPr>
          <p:nvPr/>
        </p:nvCxnSpPr>
        <p:spPr>
          <a:xfrm flipH="1">
            <a:off x="3810038" y="1613829"/>
            <a:ext cx="9888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53"/>
          <p:cNvCxnSpPr/>
          <p:nvPr/>
        </p:nvCxnSpPr>
        <p:spPr>
          <a:xfrm rot="10800000">
            <a:off x="2397888" y="1626450"/>
            <a:ext cx="107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6" name="Google Shape;566;p53"/>
          <p:cNvSpPr txBox="1"/>
          <p:nvPr/>
        </p:nvSpPr>
        <p:spPr>
          <a:xfrm>
            <a:off x="7107750" y="2461968"/>
            <a:ext cx="9378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Sorting at Swadlincote hub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53"/>
          <p:cNvSpPr txBox="1"/>
          <p:nvPr/>
        </p:nvSpPr>
        <p:spPr>
          <a:xfrm>
            <a:off x="5798163" y="2461968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Trunk dock &amp; bay assignment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53"/>
          <p:cNvSpPr txBox="1"/>
          <p:nvPr/>
        </p:nvSpPr>
        <p:spPr>
          <a:xfrm>
            <a:off x="4488575" y="2461968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Unloading at hub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53"/>
          <p:cNvSpPr txBox="1"/>
          <p:nvPr/>
        </p:nvSpPr>
        <p:spPr>
          <a:xfrm>
            <a:off x="3178975" y="246112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Loading into outbound trunk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53"/>
          <p:cNvSpPr txBox="1"/>
          <p:nvPr/>
        </p:nvSpPr>
        <p:spPr>
          <a:xfrm>
            <a:off x="1644750" y="2461968"/>
            <a:ext cx="1076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Trunk manifest &amp; departure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71" name="Google Shape;571;p53" title="Consignment Ship Icon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35500" y="2201709"/>
            <a:ext cx="310896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53" title="Truck Load Icon (2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97725" y="2185670"/>
            <a:ext cx="310896" cy="30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53" title="Unloading Icon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807331" y="2185666"/>
            <a:ext cx="329432" cy="30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3" title="Map Icon (3)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27525" y="2195629"/>
            <a:ext cx="308175" cy="28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3" title="Sorting Icon (3)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447525" y="2219023"/>
            <a:ext cx="258250" cy="2420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53"/>
          <p:cNvCxnSpPr>
            <a:stCxn id="561" idx="1"/>
            <a:endCxn id="571" idx="1"/>
          </p:cNvCxnSpPr>
          <p:nvPr/>
        </p:nvCxnSpPr>
        <p:spPr>
          <a:xfrm>
            <a:off x="2035500" y="1635447"/>
            <a:ext cx="600" cy="704700"/>
          </a:xfrm>
          <a:prstGeom prst="bentConnector3">
            <a:avLst>
              <a:gd fmla="val -5044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53"/>
          <p:cNvCxnSpPr>
            <a:stCxn id="571" idx="3"/>
            <a:endCxn id="572" idx="1"/>
          </p:cNvCxnSpPr>
          <p:nvPr/>
        </p:nvCxnSpPr>
        <p:spPr>
          <a:xfrm>
            <a:off x="2346396" y="2340039"/>
            <a:ext cx="115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53"/>
          <p:cNvCxnSpPr>
            <a:stCxn id="572" idx="3"/>
            <a:endCxn id="573" idx="1"/>
          </p:cNvCxnSpPr>
          <p:nvPr/>
        </p:nvCxnSpPr>
        <p:spPr>
          <a:xfrm>
            <a:off x="3808621" y="2340041"/>
            <a:ext cx="99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53"/>
          <p:cNvCxnSpPr>
            <a:stCxn id="573" idx="3"/>
            <a:endCxn id="574" idx="1"/>
          </p:cNvCxnSpPr>
          <p:nvPr/>
        </p:nvCxnSpPr>
        <p:spPr>
          <a:xfrm>
            <a:off x="5136762" y="2340037"/>
            <a:ext cx="99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53"/>
          <p:cNvCxnSpPr>
            <a:stCxn id="574" idx="3"/>
            <a:endCxn id="575" idx="1"/>
          </p:cNvCxnSpPr>
          <p:nvPr/>
        </p:nvCxnSpPr>
        <p:spPr>
          <a:xfrm>
            <a:off x="6435700" y="2340039"/>
            <a:ext cx="101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" name="Google Shape;581;p53"/>
          <p:cNvCxnSpPr/>
          <p:nvPr/>
        </p:nvCxnSpPr>
        <p:spPr>
          <a:xfrm>
            <a:off x="8198725" y="1352450"/>
            <a:ext cx="357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53"/>
          <p:cNvCxnSpPr>
            <a:stCxn id="575" idx="3"/>
          </p:cNvCxnSpPr>
          <p:nvPr/>
        </p:nvCxnSpPr>
        <p:spPr>
          <a:xfrm>
            <a:off x="7705775" y="2340039"/>
            <a:ext cx="4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53"/>
          <p:cNvCxnSpPr/>
          <p:nvPr/>
        </p:nvCxnSpPr>
        <p:spPr>
          <a:xfrm>
            <a:off x="8120075" y="2336025"/>
            <a:ext cx="0" cy="9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53"/>
          <p:cNvCxnSpPr/>
          <p:nvPr/>
        </p:nvCxnSpPr>
        <p:spPr>
          <a:xfrm rot="10800000">
            <a:off x="7528150" y="3300382"/>
            <a:ext cx="59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p53"/>
          <p:cNvCxnSpPr/>
          <p:nvPr/>
        </p:nvCxnSpPr>
        <p:spPr>
          <a:xfrm rot="10800000">
            <a:off x="7532875" y="2883354"/>
            <a:ext cx="58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86" name="Google Shape;586;p53"/>
          <p:cNvGrpSpPr/>
          <p:nvPr/>
        </p:nvGrpSpPr>
        <p:grpSpPr>
          <a:xfrm>
            <a:off x="5200940" y="2772438"/>
            <a:ext cx="755975" cy="242079"/>
            <a:chOff x="5260600" y="2871800"/>
            <a:chExt cx="755975" cy="258300"/>
          </a:xfrm>
        </p:grpSpPr>
        <p:sp>
          <p:nvSpPr>
            <p:cNvPr id="587" name="Google Shape;587;p53"/>
            <p:cNvSpPr txBox="1"/>
            <p:nvPr/>
          </p:nvSpPr>
          <p:spPr>
            <a:xfrm>
              <a:off x="5392275" y="2871800"/>
              <a:ext cx="624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Live tracking in driver app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88" name="Google Shape;588;p53" title="Smartphone Icon.png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5260600" y="2892306"/>
              <a:ext cx="217287" cy="21728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89" name="Google Shape;589;p53"/>
          <p:cNvCxnSpPr/>
          <p:nvPr/>
        </p:nvCxnSpPr>
        <p:spPr>
          <a:xfrm>
            <a:off x="8198725" y="2719150"/>
            <a:ext cx="357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0" name="Google Shape;590;p53"/>
          <p:cNvSpPr/>
          <p:nvPr/>
        </p:nvSpPr>
        <p:spPr>
          <a:xfrm>
            <a:off x="8149725" y="61115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1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91" name="Google Shape;591;p53"/>
          <p:cNvGrpSpPr/>
          <p:nvPr/>
        </p:nvGrpSpPr>
        <p:grpSpPr>
          <a:xfrm>
            <a:off x="6478075" y="2772438"/>
            <a:ext cx="1049950" cy="242079"/>
            <a:chOff x="6478075" y="2863169"/>
            <a:chExt cx="1049950" cy="258300"/>
          </a:xfrm>
        </p:grpSpPr>
        <p:sp>
          <p:nvSpPr>
            <p:cNvPr id="592" name="Google Shape;592;p53"/>
            <p:cNvSpPr txBox="1"/>
            <p:nvPr/>
          </p:nvSpPr>
          <p:spPr>
            <a:xfrm>
              <a:off x="6613325" y="2863169"/>
              <a:ext cx="9147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Dynamic delivery planning per depot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3" name="Google Shape;593;p53" title="Last Mile Icon.png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6478075" y="2883681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4" name="Google Shape;594;p53"/>
          <p:cNvGrpSpPr/>
          <p:nvPr/>
        </p:nvGrpSpPr>
        <p:grpSpPr>
          <a:xfrm>
            <a:off x="3525164" y="2772438"/>
            <a:ext cx="1154617" cy="242079"/>
            <a:chOff x="3518188" y="2863175"/>
            <a:chExt cx="1154617" cy="258300"/>
          </a:xfrm>
        </p:grpSpPr>
        <p:sp>
          <p:nvSpPr>
            <p:cNvPr id="595" name="Google Shape;595;p53"/>
            <p:cNvSpPr txBox="1"/>
            <p:nvPr/>
          </p:nvSpPr>
          <p:spPr>
            <a:xfrm>
              <a:off x="3692704" y="2863175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Cluster sequencing + guided loading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6" name="Google Shape;596;p53" title="Sequence planning icon.png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3518188" y="2883688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7" name="Google Shape;597;p53"/>
          <p:cNvGrpSpPr/>
          <p:nvPr/>
        </p:nvGrpSpPr>
        <p:grpSpPr>
          <a:xfrm>
            <a:off x="1865825" y="2772438"/>
            <a:ext cx="1138179" cy="242079"/>
            <a:chOff x="1865825" y="2863725"/>
            <a:chExt cx="1138179" cy="258300"/>
          </a:xfrm>
        </p:grpSpPr>
        <p:sp>
          <p:nvSpPr>
            <p:cNvPr id="598" name="Google Shape;598;p53"/>
            <p:cNvSpPr txBox="1"/>
            <p:nvPr/>
          </p:nvSpPr>
          <p:spPr>
            <a:xfrm>
              <a:off x="2023904" y="2863725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Driver break + working hours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9" name="Google Shape;599;p53" title="Coffee Break Icon.png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1865825" y="2884250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0" name="Google Shape;600;p53"/>
          <p:cNvGrpSpPr/>
          <p:nvPr/>
        </p:nvGrpSpPr>
        <p:grpSpPr>
          <a:xfrm>
            <a:off x="1865825" y="3179364"/>
            <a:ext cx="1138779" cy="242079"/>
            <a:chOff x="1865825" y="3191250"/>
            <a:chExt cx="1138779" cy="258300"/>
          </a:xfrm>
        </p:grpSpPr>
        <p:sp>
          <p:nvSpPr>
            <p:cNvPr id="601" name="Google Shape;601;p53"/>
            <p:cNvSpPr txBox="1"/>
            <p:nvPr/>
          </p:nvSpPr>
          <p:spPr>
            <a:xfrm>
              <a:off x="2024504" y="3191250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Navigation and ePOD capture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2" name="Google Shape;602;p53" title="Navigation Icon.png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1865825" y="3211775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3" name="Google Shape;603;p53"/>
          <p:cNvGrpSpPr/>
          <p:nvPr/>
        </p:nvGrpSpPr>
        <p:grpSpPr>
          <a:xfrm>
            <a:off x="3518188" y="3179364"/>
            <a:ext cx="1858510" cy="242079"/>
            <a:chOff x="3592800" y="3246794"/>
            <a:chExt cx="1858510" cy="258300"/>
          </a:xfrm>
        </p:grpSpPr>
        <p:sp>
          <p:nvSpPr>
            <p:cNvPr id="604" name="Google Shape;604;p53"/>
            <p:cNvSpPr txBox="1"/>
            <p:nvPr/>
          </p:nvSpPr>
          <p:spPr>
            <a:xfrm>
              <a:off x="3692710" y="3246794"/>
              <a:ext cx="17586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Tracing details captured in Shipsy sent back to TPN Connect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5" name="Google Shape;605;p53" title="Erp icon (1).png"/>
            <p:cNvPicPr preferRelativeResize="0"/>
            <p:nvPr/>
          </p:nvPicPr>
          <p:blipFill>
            <a:blip r:embed="rId23">
              <a:alphaModFix/>
            </a:blip>
            <a:stretch>
              <a:fillRect/>
            </a:stretch>
          </p:blipFill>
          <p:spPr>
            <a:xfrm>
              <a:off x="3592800" y="3267319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Google Shape;606;p53"/>
          <p:cNvGrpSpPr/>
          <p:nvPr/>
        </p:nvGrpSpPr>
        <p:grpSpPr>
          <a:xfrm>
            <a:off x="6459025" y="3179364"/>
            <a:ext cx="1069000" cy="242079"/>
            <a:chOff x="6459025" y="3246794"/>
            <a:chExt cx="1069000" cy="258300"/>
          </a:xfrm>
        </p:grpSpPr>
        <p:sp>
          <p:nvSpPr>
            <p:cNvPr id="607" name="Google Shape;607;p53"/>
            <p:cNvSpPr txBox="1"/>
            <p:nvPr/>
          </p:nvSpPr>
          <p:spPr>
            <a:xfrm>
              <a:off x="6613325" y="3246794"/>
              <a:ext cx="9147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3rd Party Allocation (NI/ROI ferry partners)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8" name="Google Shape;608;p53" title="Resource Allocation Icon (2).png"/>
            <p:cNvPicPr preferRelativeResize="0"/>
            <p:nvPr/>
          </p:nvPicPr>
          <p:blipFill>
            <a:blip r:embed="rId24">
              <a:alphaModFix/>
            </a:blip>
            <a:stretch>
              <a:fillRect/>
            </a:stretch>
          </p:blipFill>
          <p:spPr>
            <a:xfrm>
              <a:off x="6459025" y="3267306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09" name="Google Shape;609;p53"/>
          <p:cNvCxnSpPr>
            <a:stCxn id="599" idx="1"/>
            <a:endCxn id="602" idx="1"/>
          </p:cNvCxnSpPr>
          <p:nvPr/>
        </p:nvCxnSpPr>
        <p:spPr>
          <a:xfrm>
            <a:off x="1865825" y="2893477"/>
            <a:ext cx="600" cy="406800"/>
          </a:xfrm>
          <a:prstGeom prst="bentConnector3">
            <a:avLst>
              <a:gd fmla="val -2522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53"/>
          <p:cNvCxnSpPr>
            <a:stCxn id="593" idx="1"/>
            <a:endCxn id="587" idx="3"/>
          </p:cNvCxnSpPr>
          <p:nvPr/>
        </p:nvCxnSpPr>
        <p:spPr>
          <a:xfrm rot="10800000">
            <a:off x="5956975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53"/>
          <p:cNvCxnSpPr>
            <a:stCxn id="608" idx="1"/>
            <a:endCxn id="604" idx="3"/>
          </p:cNvCxnSpPr>
          <p:nvPr/>
        </p:nvCxnSpPr>
        <p:spPr>
          <a:xfrm rot="10800000">
            <a:off x="5376625" y="3300403"/>
            <a:ext cx="108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53"/>
          <p:cNvCxnSpPr>
            <a:stCxn id="596" idx="1"/>
            <a:endCxn id="598" idx="3"/>
          </p:cNvCxnSpPr>
          <p:nvPr/>
        </p:nvCxnSpPr>
        <p:spPr>
          <a:xfrm rot="10800000">
            <a:off x="3004064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53"/>
          <p:cNvCxnSpPr>
            <a:stCxn id="588" idx="1"/>
            <a:endCxn id="595" idx="3"/>
          </p:cNvCxnSpPr>
          <p:nvPr/>
        </p:nvCxnSpPr>
        <p:spPr>
          <a:xfrm rot="10800000">
            <a:off x="4679840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53"/>
          <p:cNvGrpSpPr/>
          <p:nvPr/>
        </p:nvGrpSpPr>
        <p:grpSpPr>
          <a:xfrm>
            <a:off x="1714500" y="3504253"/>
            <a:ext cx="1914449" cy="242079"/>
            <a:chOff x="1714500" y="3648338"/>
            <a:chExt cx="1914449" cy="258300"/>
          </a:xfrm>
        </p:grpSpPr>
        <p:sp>
          <p:nvSpPr>
            <p:cNvPr id="615" name="Google Shape;615;p53"/>
            <p:cNvSpPr txBox="1"/>
            <p:nvPr/>
          </p:nvSpPr>
          <p:spPr>
            <a:xfrm>
              <a:off x="1830149" y="3648338"/>
              <a:ext cx="17988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Configurable stage-wise communication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16" name="Google Shape;616;p53" title="Tracking Icon (1).png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714500" y="366776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7" name="Google Shape;617;p53"/>
          <p:cNvGrpSpPr/>
          <p:nvPr/>
        </p:nvGrpSpPr>
        <p:grpSpPr>
          <a:xfrm>
            <a:off x="3928007" y="3504253"/>
            <a:ext cx="1198050" cy="242079"/>
            <a:chOff x="3810050" y="3655825"/>
            <a:chExt cx="1198050" cy="258300"/>
          </a:xfrm>
        </p:grpSpPr>
        <p:sp>
          <p:nvSpPr>
            <p:cNvPr id="618" name="Google Shape;618;p53"/>
            <p:cNvSpPr txBox="1"/>
            <p:nvPr/>
          </p:nvSpPr>
          <p:spPr>
            <a:xfrm>
              <a:off x="3925700" y="3655825"/>
              <a:ext cx="10824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Live tracking + ETA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19" name="Google Shape;619;p53" title="Tracking Icon (2).png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810050" y="3675975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0" name="Google Shape;620;p53"/>
          <p:cNvGrpSpPr/>
          <p:nvPr/>
        </p:nvGrpSpPr>
        <p:grpSpPr>
          <a:xfrm>
            <a:off x="5425116" y="3504253"/>
            <a:ext cx="1301850" cy="242079"/>
            <a:chOff x="5326125" y="3655825"/>
            <a:chExt cx="1301850" cy="258300"/>
          </a:xfrm>
        </p:grpSpPr>
        <p:sp>
          <p:nvSpPr>
            <p:cNvPr id="621" name="Google Shape;621;p53"/>
            <p:cNvSpPr txBox="1"/>
            <p:nvPr/>
          </p:nvSpPr>
          <p:spPr>
            <a:xfrm>
              <a:off x="5545575" y="3655825"/>
              <a:ext cx="10824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Sharp predicted delivery window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2" name="Google Shape;622;p53" title="Time Prediction Icon.png"/>
            <p:cNvPicPr preferRelativeResize="0"/>
            <p:nvPr/>
          </p:nvPicPr>
          <p:blipFill>
            <a:blip r:embed="rId27">
              <a:alphaModFix/>
            </a:blip>
            <a:stretch>
              <a:fillRect/>
            </a:stretch>
          </p:blipFill>
          <p:spPr>
            <a:xfrm>
              <a:off x="5326125" y="3675250"/>
              <a:ext cx="219450" cy="219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3" name="Google Shape;623;p53"/>
          <p:cNvGrpSpPr/>
          <p:nvPr/>
        </p:nvGrpSpPr>
        <p:grpSpPr>
          <a:xfrm>
            <a:off x="7026025" y="3504253"/>
            <a:ext cx="1122050" cy="242079"/>
            <a:chOff x="7026025" y="3640850"/>
            <a:chExt cx="1122050" cy="258300"/>
          </a:xfrm>
        </p:grpSpPr>
        <p:sp>
          <p:nvSpPr>
            <p:cNvPr id="624" name="Google Shape;624;p53"/>
            <p:cNvSpPr txBox="1"/>
            <p:nvPr/>
          </p:nvSpPr>
          <p:spPr>
            <a:xfrm>
              <a:off x="7167975" y="3640850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Geofence-based delivery validation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5" name="Google Shape;625;p53" title="geofencing.png"/>
            <p:cNvPicPr preferRelativeResize="0"/>
            <p:nvPr/>
          </p:nvPicPr>
          <p:blipFill>
            <a:blip r:embed="rId28">
              <a:alphaModFix/>
            </a:blip>
            <a:stretch>
              <a:fillRect/>
            </a:stretch>
          </p:blipFill>
          <p:spPr>
            <a:xfrm>
              <a:off x="7026025" y="3660288"/>
              <a:ext cx="219450" cy="219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6" name="Google Shape;626;p53"/>
          <p:cNvSpPr txBox="1"/>
          <p:nvPr/>
        </p:nvSpPr>
        <p:spPr>
          <a:xfrm>
            <a:off x="6309325" y="3884749"/>
            <a:ext cx="1683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Reconciliation of POD vs invoice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27" name="Google Shape;627;p53"/>
          <p:cNvGrpSpPr/>
          <p:nvPr/>
        </p:nvGrpSpPr>
        <p:grpSpPr>
          <a:xfrm>
            <a:off x="1714500" y="4255853"/>
            <a:ext cx="1963475" cy="242079"/>
            <a:chOff x="1714500" y="4450300"/>
            <a:chExt cx="1963475" cy="258300"/>
          </a:xfrm>
        </p:grpSpPr>
        <p:sp>
          <p:nvSpPr>
            <p:cNvPr id="628" name="Google Shape;628;p53"/>
            <p:cNvSpPr txBox="1"/>
            <p:nvPr/>
          </p:nvSpPr>
          <p:spPr>
            <a:xfrm>
              <a:off x="1907675" y="4450300"/>
              <a:ext cx="1770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Real-time trunk + vehicle tracking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9" name="Google Shape;629;p53" title="Vehicle Tracking Icon.png"/>
            <p:cNvPicPr preferRelativeResize="0"/>
            <p:nvPr/>
          </p:nvPicPr>
          <p:blipFill rotWithShape="1">
            <a:blip r:embed="rId29">
              <a:alphaModFix/>
            </a:blip>
            <a:srcRect b="-6952" l="0" r="-6952" t="0"/>
            <a:stretch/>
          </p:blipFill>
          <p:spPr>
            <a:xfrm>
              <a:off x="1714500" y="447685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0" name="Google Shape;630;p53"/>
          <p:cNvGrpSpPr/>
          <p:nvPr/>
        </p:nvGrpSpPr>
        <p:grpSpPr>
          <a:xfrm>
            <a:off x="4151163" y="4255853"/>
            <a:ext cx="1921275" cy="242079"/>
            <a:chOff x="3904275" y="4450300"/>
            <a:chExt cx="1921275" cy="258300"/>
          </a:xfrm>
        </p:grpSpPr>
        <p:sp>
          <p:nvSpPr>
            <p:cNvPr id="631" name="Google Shape;631;p53"/>
            <p:cNvSpPr txBox="1"/>
            <p:nvPr/>
          </p:nvSpPr>
          <p:spPr>
            <a:xfrm>
              <a:off x="4055250" y="4450300"/>
              <a:ext cx="1770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Plan vs actual hub-throughput dashboard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32" name="Google Shape;632;p53" title="Dashboard Icon (2).png"/>
            <p:cNvPicPr preferRelativeResize="0"/>
            <p:nvPr/>
          </p:nvPicPr>
          <p:blipFill>
            <a:blip r:embed="rId30">
              <a:alphaModFix/>
            </a:blip>
            <a:stretch>
              <a:fillRect/>
            </a:stretch>
          </p:blipFill>
          <p:spPr>
            <a:xfrm>
              <a:off x="3904275" y="447685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3" name="Google Shape;633;p53"/>
          <p:cNvGrpSpPr/>
          <p:nvPr/>
        </p:nvGrpSpPr>
        <p:grpSpPr>
          <a:xfrm>
            <a:off x="6545625" y="4255853"/>
            <a:ext cx="1602500" cy="242079"/>
            <a:chOff x="6545625" y="4450300"/>
            <a:chExt cx="1602500" cy="258300"/>
          </a:xfrm>
        </p:grpSpPr>
        <p:sp>
          <p:nvSpPr>
            <p:cNvPr id="634" name="Google Shape;634;p53"/>
            <p:cNvSpPr txBox="1"/>
            <p:nvPr/>
          </p:nvSpPr>
          <p:spPr>
            <a:xfrm>
              <a:off x="6641825" y="4450300"/>
              <a:ext cx="1506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Partner performance scorecards &amp; alerts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35" name="Google Shape;635;p53" title="Alerts Icon.png"/>
            <p:cNvPicPr preferRelativeResize="0"/>
            <p:nvPr/>
          </p:nvPicPr>
          <p:blipFill>
            <a:blip r:embed="rId31">
              <a:alphaModFix/>
            </a:blip>
            <a:stretch>
              <a:fillRect/>
            </a:stretch>
          </p:blipFill>
          <p:spPr>
            <a:xfrm>
              <a:off x="6545625" y="4469725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6" name="Google Shape;636;p53"/>
          <p:cNvSpPr/>
          <p:nvPr/>
        </p:nvSpPr>
        <p:spPr>
          <a:xfrm>
            <a:off x="8149725" y="128270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1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53"/>
          <p:cNvSpPr/>
          <p:nvPr/>
        </p:nvSpPr>
        <p:spPr>
          <a:xfrm>
            <a:off x="8149725" y="264940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2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/>
          <p:nvPr/>
        </p:nvSpPr>
        <p:spPr>
          <a:xfrm>
            <a:off x="8149725" y="3746825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2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/>
          <p:nvPr/>
        </p:nvSpPr>
        <p:spPr>
          <a:xfrm>
            <a:off x="8149725" y="411795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3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40" name="Google Shape;640;p53"/>
          <p:cNvCxnSpPr>
            <a:stCxn id="601" idx="3"/>
            <a:endCxn id="605" idx="1"/>
          </p:cNvCxnSpPr>
          <p:nvPr/>
        </p:nvCxnSpPr>
        <p:spPr>
          <a:xfrm>
            <a:off x="3004604" y="3300403"/>
            <a:ext cx="51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1" name="Google Shape;641;p53"/>
          <p:cNvGrpSpPr/>
          <p:nvPr/>
        </p:nvGrpSpPr>
        <p:grpSpPr>
          <a:xfrm>
            <a:off x="200125" y="4634225"/>
            <a:ext cx="1415400" cy="285150"/>
            <a:chOff x="200125" y="4645200"/>
            <a:chExt cx="1415400" cy="285150"/>
          </a:xfrm>
        </p:grpSpPr>
        <p:sp>
          <p:nvSpPr>
            <p:cNvPr id="642" name="Google Shape;642;p53"/>
            <p:cNvSpPr/>
            <p:nvPr/>
          </p:nvSpPr>
          <p:spPr>
            <a:xfrm>
              <a:off x="200125" y="4790850"/>
              <a:ext cx="14154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Phase 1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3" name="Google Shape;643;p53"/>
            <p:cNvSpPr/>
            <p:nvPr/>
          </p:nvSpPr>
          <p:spPr>
            <a:xfrm>
              <a:off x="200125" y="4645200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Technical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4" name="Google Shape;644;p53"/>
          <p:cNvGrpSpPr/>
          <p:nvPr/>
        </p:nvGrpSpPr>
        <p:grpSpPr>
          <a:xfrm>
            <a:off x="2962475" y="4634225"/>
            <a:ext cx="2839200" cy="285150"/>
            <a:chOff x="1727188" y="4648725"/>
            <a:chExt cx="2839200" cy="285150"/>
          </a:xfrm>
        </p:grpSpPr>
        <p:sp>
          <p:nvSpPr>
            <p:cNvPr id="645" name="Google Shape;645;p53"/>
            <p:cNvSpPr/>
            <p:nvPr/>
          </p:nvSpPr>
          <p:spPr>
            <a:xfrm>
              <a:off x="1727188" y="4794375"/>
              <a:ext cx="28392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Phase 2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1727212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Technology &amp; Data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7" name="Google Shape;647;p53"/>
            <p:cNvSpPr/>
            <p:nvPr/>
          </p:nvSpPr>
          <p:spPr>
            <a:xfrm>
              <a:off x="3150962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Other Services of Shipsy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8" name="Google Shape;648;p53"/>
          <p:cNvGrpSpPr/>
          <p:nvPr/>
        </p:nvGrpSpPr>
        <p:grpSpPr>
          <a:xfrm>
            <a:off x="7148625" y="4634225"/>
            <a:ext cx="1415413" cy="285150"/>
            <a:chOff x="4678075" y="4648725"/>
            <a:chExt cx="1415413" cy="285150"/>
          </a:xfrm>
        </p:grpSpPr>
        <p:sp>
          <p:nvSpPr>
            <p:cNvPr id="649" name="Google Shape;649;p53"/>
            <p:cNvSpPr/>
            <p:nvPr/>
          </p:nvSpPr>
          <p:spPr>
            <a:xfrm>
              <a:off x="4678087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Implementation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0" name="Google Shape;650;p53"/>
            <p:cNvSpPr/>
            <p:nvPr/>
          </p:nvSpPr>
          <p:spPr>
            <a:xfrm>
              <a:off x="4678075" y="4794375"/>
              <a:ext cx="14154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Phase 3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1" name="Google Shape;651;p53"/>
          <p:cNvSpPr txBox="1"/>
          <p:nvPr/>
        </p:nvSpPr>
        <p:spPr>
          <a:xfrm>
            <a:off x="1830225" y="3884750"/>
            <a:ext cx="1963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Shipper rate cards &amp; invoicing (sell-side)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2" name="Google Shape;652;p53"/>
          <p:cNvSpPr txBox="1"/>
          <p:nvPr/>
        </p:nvSpPr>
        <p:spPr>
          <a:xfrm>
            <a:off x="3928000" y="3884750"/>
            <a:ext cx="2199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Member depot rate contracts &amp; payouts (buy-side)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53" name="Google Shape;653;p53"/>
          <p:cNvGrpSpPr/>
          <p:nvPr/>
        </p:nvGrpSpPr>
        <p:grpSpPr>
          <a:xfrm>
            <a:off x="5956913" y="833675"/>
            <a:ext cx="1824313" cy="258250"/>
            <a:chOff x="5879663" y="833675"/>
            <a:chExt cx="1824313" cy="258250"/>
          </a:xfrm>
        </p:grpSpPr>
        <p:sp>
          <p:nvSpPr>
            <p:cNvPr id="550" name="Google Shape;550;p53"/>
            <p:cNvSpPr txBox="1"/>
            <p:nvPr/>
          </p:nvSpPr>
          <p:spPr>
            <a:xfrm>
              <a:off x="6101375" y="841750"/>
              <a:ext cx="1602600" cy="2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Pallet Booking &amp; Member Depot Allocation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54" name="Google Shape;654;p53" title="Parcel Pickup Icon (2)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879663" y="833675"/>
              <a:ext cx="258250" cy="258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Our Learnings &amp; Key Problems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DDEE"/>
                </a:solidFill>
              </a:rPr>
              <a:t>The Pallet Network · Pallet Network · Hub-and-Spoke Freight · UK Mainland + NI/ROI (ferry-li…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108960" cy="4023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27432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</a:rPr>
              <a:t>Client Snapshot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BUSINESS MODEL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Federated network of ~120 member depots feeding a central hub at Swadlincote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INDUSTRY VERTICAL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Pallet Network · Hub-and-Spoke Freight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GEOGRAPHY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UK Mainland + NI/ROI (ferry-linked)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LOAD TYPE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Pallets · B2B PTL · single + bulk</a:t>
            </a:r>
          </a:p>
          <a:p>
            <a:pPr>
              <a:spcBef>
                <a:spcPts val="1000"/>
              </a:spcBef>
            </a:pPr>
            <a:r>
              <a:rPr sz="900" b="1">
                <a:solidFill>
                  <a:srgbClr val="555555"/>
                </a:solidFill>
              </a:rPr>
              <a:t>MILE STAGES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222222"/>
                </a:solidFill>
              </a:rPr>
              <a:t>First Mile, Middle Mile, Last Mile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51560"/>
            <a:ext cx="50292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</a:rPr>
              <a:t>Key Problems Identified</a:t>
            </a:r>
          </a:p>
        </p:txBody>
      </p:sp>
      <p:sp>
        <p:nvSpPr>
          <p:cNvPr id="9" name="Oval 8"/>
          <p:cNvSpPr/>
          <p:nvPr/>
        </p:nvSpPr>
        <p:spPr>
          <a:xfrm>
            <a:off x="3794759" y="149047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371600"/>
            <a:ext cx="4709161" cy="44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</a:rPr>
              <a:t>TPN runs at 60% capacity; trucks wait ~4 hours at hub due to manual booking and scheduling</a:t>
            </a:r>
          </a:p>
        </p:txBody>
      </p:sp>
      <p:sp>
        <p:nvSpPr>
          <p:cNvPr id="11" name="Oval 10"/>
          <p:cNvSpPr/>
          <p:nvPr/>
        </p:nvSpPr>
        <p:spPr>
          <a:xfrm>
            <a:off x="3794759" y="1937874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1819002"/>
            <a:ext cx="4709161" cy="44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</a:rPr>
              <a:t>12 staging areas at Swadlincote with 20-30% sorting delays caused by paper-based manifests</a:t>
            </a:r>
          </a:p>
        </p:txBody>
      </p:sp>
      <p:sp>
        <p:nvSpPr>
          <p:cNvPr id="13" name="Oval 12"/>
          <p:cNvSpPr/>
          <p:nvPr/>
        </p:nvSpPr>
        <p:spPr>
          <a:xfrm>
            <a:off x="3794759" y="2385276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266404"/>
            <a:ext cx="4709161" cy="44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</a:rPr>
              <a:t>Member depots use manual pallet scanning, no real-time tracking or partner-level visibility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3794759" y="2832678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59" y="2713806"/>
            <a:ext cx="4709161" cy="44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</a:rPr>
              <a:t>Legacy on-prem TPN Connect — no cloud APIs, no integration with modern shipper systems</a:t>
            </a:r>
          </a:p>
        </p:txBody>
      </p:sp>
      <p:sp>
        <p:nvSpPr>
          <p:cNvPr id="17" name="Oval 16"/>
          <p:cNvSpPr/>
          <p:nvPr/>
        </p:nvSpPr>
        <p:spPr>
          <a:xfrm>
            <a:off x="3794759" y="328008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3161208"/>
            <a:ext cx="4709161" cy="44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</a:rPr>
              <a:t>Manual postcode-based delivery assignment with 20:00 planning starts and repeated edits</a:t>
            </a:r>
          </a:p>
        </p:txBody>
      </p:sp>
      <p:sp>
        <p:nvSpPr>
          <p:cNvPr id="19" name="Oval 18"/>
          <p:cNvSpPr/>
          <p:nvPr/>
        </p:nvSpPr>
        <p:spPr>
          <a:xfrm>
            <a:off x="3794759" y="372748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59" y="3608610"/>
            <a:ext cx="4709161" cy="44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</a:rPr>
              <a:t>Revenue leakage from manual rate-card reconciliation and partner payout misalignment</a:t>
            </a:r>
          </a:p>
        </p:txBody>
      </p:sp>
      <p:sp>
        <p:nvSpPr>
          <p:cNvPr id="21" name="Oval 20"/>
          <p:cNvSpPr/>
          <p:nvPr/>
        </p:nvSpPr>
        <p:spPr>
          <a:xfrm>
            <a:off x="3794759" y="4174884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59" y="4056012"/>
            <a:ext cx="4709161" cy="44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2222"/>
                </a:solidFill>
              </a:rPr>
              <a:t>No alerts on missed NI/ROI ferry connections or misrouted priority pallets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691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Powered by Shipsy · AI-native logistics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Impact &amp; Summary · The Pallet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DDEE"/>
                </a:solidFill>
              </a:rPr>
              <a:t>Capabilities deployed and the AI impact for your operation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02336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7335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Customer portal for pallet booking &amp; label printing (single + bulk + ad-hoc)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19532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7645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Real-time IoT trunk tracking across depots and Swadlincote hub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71729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9842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Hub Ops app with guided loading, dock assignment, and pallet verification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23926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2039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Driver app with cluster sequencing, ePOC/ePOD, and dynamic resequencing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76123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4236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Automated rate-card invoicing on sell- and buy-side with reconciliation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428320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433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BI dashboards for partner performance, hub throughput, and SLA adherence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005840"/>
            <a:ext cx="4023360" cy="3840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0607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The AI Impact</a:t>
            </a:r>
          </a:p>
        </p:txBody>
      </p:sp>
      <p:sp>
        <p:nvSpPr>
          <p:cNvPr id="22" name="Oval 21"/>
          <p:cNvSpPr/>
          <p:nvPr/>
        </p:nvSpPr>
        <p:spPr>
          <a:xfrm>
            <a:off x="4800600" y="1673352"/>
            <a:ext cx="109728" cy="109728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55448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AI address quality enhancement → fewer failed deliveries on the last mile</a:t>
            </a:r>
          </a:p>
        </p:txBody>
      </p:sp>
      <p:sp>
        <p:nvSpPr>
          <p:cNvPr id="24" name="Oval 23"/>
          <p:cNvSpPr/>
          <p:nvPr/>
        </p:nvSpPr>
        <p:spPr>
          <a:xfrm>
            <a:off x="4800600" y="2195322"/>
            <a:ext cx="109728" cy="109728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207645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Auto-allocation routing engine with 200+ constraints replaces manual postcode planning</a:t>
            </a:r>
          </a:p>
        </p:txBody>
      </p:sp>
      <p:sp>
        <p:nvSpPr>
          <p:cNvPr id="26" name="Oval 25"/>
          <p:cNvSpPr/>
          <p:nvPr/>
        </p:nvSpPr>
        <p:spPr>
          <a:xfrm>
            <a:off x="4800600" y="2717292"/>
            <a:ext cx="109728" cy="109728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59842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Control Tower agent flags missed scans, ferry cutoffs, and SLA breaches in real time</a:t>
            </a:r>
          </a:p>
        </p:txBody>
      </p:sp>
      <p:sp>
        <p:nvSpPr>
          <p:cNvPr id="28" name="Oval 27"/>
          <p:cNvSpPr/>
          <p:nvPr/>
        </p:nvSpPr>
        <p:spPr>
          <a:xfrm>
            <a:off x="4800600" y="3239262"/>
            <a:ext cx="109728" cy="109728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12039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Driver gamification scores + leaderboards drive on-time and POD-quality behaviours</a:t>
            </a:r>
          </a:p>
        </p:txBody>
      </p:sp>
      <p:sp>
        <p:nvSpPr>
          <p:cNvPr id="30" name="Oval 29"/>
          <p:cNvSpPr/>
          <p:nvPr/>
        </p:nvSpPr>
        <p:spPr>
          <a:xfrm>
            <a:off x="4800600" y="3761232"/>
            <a:ext cx="109728" cy="109728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364236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AI dispute resolution shrinks claim cycle times across shippers and member depots</a:t>
            </a:r>
          </a:p>
        </p:txBody>
      </p:sp>
      <p:sp>
        <p:nvSpPr>
          <p:cNvPr id="32" name="Oval 31"/>
          <p:cNvSpPr/>
          <p:nvPr/>
        </p:nvSpPr>
        <p:spPr>
          <a:xfrm>
            <a:off x="4800600" y="4283202"/>
            <a:ext cx="109728" cy="109728"/>
          </a:xfrm>
          <a:prstGeom prst="ellipse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4164330"/>
            <a:ext cx="37033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</a:rPr>
              <a:t>Settlement agent reconciles invoices vs computed charges and surfaces discrepancies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691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The Pallet Network · Pallet Network · Hub-and-Spoke Freight · Shipsy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