
<file path=[Content_Types].xml><?xml version="1.0" encoding="utf-8"?>
<ns0:Types xmlns:ns0="http://schemas.openxmlformats.org/package/2006/content-types">
  <ns0:Default ContentType="image/jpeg" Extension="jpg"/>
  <ns0:Default ContentType="application/x-fontdata" Extension="fntdata"/>
  <ns0:Default ContentType="image/gif" Extension="gif"/>
  <ns0:Default ContentType="application/xml" Extension="xml"/>
  <ns0:Default ContentType="image/png" Extension="png"/>
  <ns0:Default ContentType="application/vnd.openxmlformats-officedocument.obfuscatedFont" Extension="odttf"/>
  <ns0:Default ContentType="application/vnd.openxmlformats-package.relationships+xml" Extension="rels"/>
  <ns0:Override ContentType="application/vnd.openxmlformats-officedocument.presentationml.comments+xml" PartName="/ppt/comments/comment1.xml"/>
  <ns0:Override ContentType="application/vnd.openxmlformats-officedocument.presentationml.comments+xml" PartName="/ppt/comments/comment2.xml"/>
  <ns0:Override ContentType="application/vnd.openxmlformats-officedocument.presentationml.comments+xml" PartName="/ppt/comments/comment4.xml"/>
  <ns0:Override ContentType="application/vnd.openxmlformats-officedocument.presentationml.comments+xml" PartName="/ppt/comments/comment3.xml"/>
  <ns0:Override ContentType="application/vnd.openxmlformats-officedocument.presentationml.notesSlide+xml" PartName="/ppt/notesSlides/notesSlide15.xml"/>
  <ns0:Override ContentType="application/vnd.openxmlformats-officedocument.presentationml.tableStyles+xml" PartName="/ppt/tableStyles.xml"/>
  <ns0:Override ContentType="application/vnd.openxmlformats-officedocument.presentationml.slideLayout+xml" PartName="/ppt/slideLayouts/slideLayout3.xml"/>
  <ns0:Override ContentType="application/vnd.openxmlformats-officedocument.presentationml.slideLayout+xml" PartName="/ppt/slideLayouts/slideLayout24.xml"/>
  <ns0:Override ContentType="application/vnd.openxmlformats-officedocument.presentationml.slideLayout+xml" PartName="/ppt/slideLayouts/slideLayout11.xml"/>
  <ns0:Override ContentType="application/vnd.openxmlformats-officedocument.presentationml.slideLayout+xml" PartName="/ppt/slideLayouts/slideLayout29.xml"/>
  <ns0:Override ContentType="application/vnd.openxmlformats-officedocument.presentationml.slideLayout+xml" PartName="/ppt/slideLayouts/slideLayout7.xml"/>
  <ns0:Override ContentType="application/vnd.openxmlformats-officedocument.presentationml.slideLayout+xml" PartName="/ppt/slideLayouts/slideLayout16.xml"/>
  <ns0:Override ContentType="application/vnd.openxmlformats-officedocument.presentationml.slideLayout+xml" PartName="/ppt/slideLayouts/slideLayout20.xml"/>
  <ns0:Override ContentType="application/vnd.openxmlformats-officedocument.presentationml.slideLayout+xml" PartName="/ppt/slideLayouts/slideLayout33.xml"/>
  <ns0:Override ContentType="application/vnd.openxmlformats-officedocument.presentationml.slideLayout+xml" PartName="/ppt/slideLayouts/slideLayout25.xml"/>
  <ns0:Override ContentType="application/vnd.openxmlformats-officedocument.presentationml.slideLayout+xml" PartName="/ppt/slideLayouts/slideLayout17.xml"/>
  <ns0:Override ContentType="application/vnd.openxmlformats-officedocument.presentationml.slideLayout+xml" PartName="/ppt/slideLayouts/slideLayout2.xml"/>
  <ns0:Override ContentType="application/vnd.openxmlformats-officedocument.presentationml.slideLayout+xml" PartName="/ppt/slideLayouts/slideLayout12.xml"/>
  <ns0:Override ContentType="application/vnd.openxmlformats-officedocument.presentationml.slideLayout+xml" PartName="/ppt/slideLayouts/slideLayout34.xml"/>
  <ns0:Override ContentType="application/vnd.openxmlformats-officedocument.presentationml.slideLayout+xml" PartName="/ppt/slideLayouts/slideLayout6.xml"/>
  <ns0:Override ContentType="application/vnd.openxmlformats-officedocument.presentationml.slideLayout+xml" PartName="/ppt/slideLayouts/slideLayout21.xml"/>
  <ns0:Override ContentType="application/vnd.openxmlformats-officedocument.presentationml.slideLayout+xml" PartName="/ppt/slideLayouts/slideLayout30.xml"/>
  <ns0:Override ContentType="application/vnd.openxmlformats-officedocument.presentationml.slideLayout+xml" PartName="/ppt/slideLayouts/slideLayout5.xml"/>
  <ns0:Override ContentType="application/vnd.openxmlformats-officedocument.presentationml.slideLayout+xml" PartName="/ppt/slideLayouts/slideLayout18.xml"/>
  <ns0:Override ContentType="application/vnd.openxmlformats-officedocument.presentationml.slideLayout+xml" PartName="/ppt/slideLayouts/slideLayout26.xml"/>
  <ns0:Override ContentType="application/vnd.openxmlformats-officedocument.presentationml.slideLayout+xml" PartName="/ppt/slideLayouts/slideLayout13.xml"/>
  <ns0:Override ContentType="application/vnd.openxmlformats-officedocument.presentationml.slideLayout+xml" PartName="/ppt/slideLayouts/slideLayout1.xml"/>
  <ns0:Override ContentType="application/vnd.openxmlformats-officedocument.presentationml.slideLayout+xml" PartName="/ppt/slideLayouts/slideLayout22.xml"/>
  <ns0:Override ContentType="application/vnd.openxmlformats-officedocument.presentationml.slideLayout+xml" PartName="/ppt/slideLayouts/slideLayout35.xml"/>
  <ns0:Override ContentType="application/vnd.openxmlformats-officedocument.presentationml.slideLayout+xml" PartName="/ppt/slideLayouts/slideLayout9.xml"/>
  <ns0:Override ContentType="application/vnd.openxmlformats-officedocument.presentationml.slideLayout+xml" PartName="/ppt/slideLayouts/slideLayout31.xml"/>
  <ns0:Override ContentType="application/vnd.openxmlformats-officedocument.presentationml.slideLayout+xml" PartName="/ppt/slideLayouts/slideLayout19.xml"/>
  <ns0:Override ContentType="application/vnd.openxmlformats-officedocument.presentationml.slideLayout+xml" PartName="/ppt/slideLayouts/slideLayout36.xml"/>
  <ns0:Override ContentType="application/vnd.openxmlformats-officedocument.presentationml.slideLayout+xml" PartName="/ppt/slideLayouts/slideLayout4.xml"/>
  <ns0:Override ContentType="application/vnd.openxmlformats-officedocument.presentationml.slideLayout+xml" PartName="/ppt/slideLayouts/slideLayout14.xml"/>
  <ns0:Override ContentType="application/vnd.openxmlformats-officedocument.presentationml.slideLayout+xml" PartName="/ppt/slideLayouts/slideLayout28.xml"/>
  <ns0:Override ContentType="application/vnd.openxmlformats-officedocument.presentationml.slideLayout+xml" PartName="/ppt/slideLayouts/slideLayout27.xml"/>
  <ns0:Override ContentType="application/vnd.openxmlformats-officedocument.presentationml.slideLayout+xml" PartName="/ppt/slideLayouts/slideLayout10.xml"/>
  <ns0:Override ContentType="application/vnd.openxmlformats-officedocument.presentationml.slideLayout+xml" PartName="/ppt/slideLayouts/slideLayout15.xml"/>
  <ns0:Override ContentType="application/vnd.openxmlformats-officedocument.presentationml.slideLayout+xml" PartName="/ppt/slideLayouts/slideLayout23.xml"/>
  <ns0:Override ContentType="application/vnd.openxmlformats-officedocument.presentationml.slideLayout+xml" PartName="/ppt/slideLayouts/slideLayout8.xml"/>
  <ns0:Override ContentType="application/vnd.openxmlformats-officedocument.presentationml.slideLayout+xml" PartName="/ppt/slideLayouts/slideLayout32.xml"/>
  <ns0:Override ContentType="application/vnd.openxmlformats-officedocument.presentationml.slideMaster+xml" PartName="/ppt/slideMasters/slideMaster2.xml"/>
  <ns0:Override ContentType="application/vnd.openxmlformats-officedocument.presentationml.slideMaster+xml" PartName="/ppt/slideMasters/slideMaster1.xml"/>
  <ns0:Override ContentType="application/vnd.openxmlformats-officedocument.presentationml.slide+xml" PartName="/ppt/slides/slide15.xml"/>
  <ns0:Override ContentType="application/vnd.openxmlformats-officedocument.presentationml.notesMaster+xml" PartName="/ppt/notesMasters/notesMaster1.xml"/>
  <ns0:Override ContentType="application/vnd.openxmlformats-officedocument.presentationml.presentation.main+xml" PartName="/ppt/presentation.xml"/>
  <ns0:Override ContentType="application/vnd.openxmlformats-officedocument.presentationml.commentAuthors+xml" PartName="/ppt/commentAuthors.xml"/>
  <ns0:Override ContentType="application/vnd.openxmlformats-officedocument.presentationml.presProps+xml" PartName="/ppt/presProps.xml"/>
  <ns0:Override ContentType="application/vnd.openxmlformats-officedocument.theme+xml" PartName="/ppt/theme/theme1.xml"/>
  <ns0:Override ContentType="application/vnd.openxmlformats-officedocument.theme+xml" PartName="/ppt/theme/theme2.xml"/>
  <ns0:Override ContentType="application/vnd.openxmlformats-officedocument.theme+xml" PartName="/ppt/theme/theme3.xml"/>
</ns0: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autoCompressPictures="0" embedTrueTypeFonts="1" strictFirstAndLastChars="0" saveSubsetFonts="1">
  <ns0:sldMasterIdLst>
    <ns0:sldMasterId id="2147483684" ns1:id="rId5"/>
    <ns0:sldMasterId id="2147483685" ns1:id="rId6"/>
  </ns0:sldMasterIdLst>
  <ns0:notesMasterIdLst>
    <ns0:notesMasterId ns1:id="rId7"/>
  </ns0:notesMasterIdLst>
  <ns0:sldIdLst>
    <ns0:sldId id="270" ns1:id="rId22"/>
  </ns0:sldIdLst>
  <ns0:sldSz cy="5143500" cx="9144000"/>
  <ns0:notesSz cx="6858000" cy="9144000"/>
  <ns0:embeddedFontLst>
    <ns0:embeddedFont>
      <ns0:font typeface="Hanken Grotesk Medium"/>
      <ns0:regular ns1:id="rId306"/>
      <ns0:bold ns1:id="rId307"/>
      <ns0:italic ns1:id="rId308"/>
      <ns0:boldItalic ns1:id="rId309"/>
    </ns0:embeddedFont>
    <ns0:embeddedFont>
      <ns0:font typeface="Roboto Slab"/>
      <ns0:regular ns1:id="rId310"/>
      <ns0:bold ns1:id="rId311"/>
    </ns0:embeddedFont>
    <ns0:embeddedFont>
      <ns0:font typeface="Lexend Light"/>
      <ns0:regular ns1:id="rId312"/>
      <ns0:bold ns1:id="rId313"/>
    </ns0:embeddedFont>
    <ns0:embeddedFont>
      <ns0:font typeface="Hanken Grotesk"/>
      <ns0:regular ns1:id="rId314"/>
      <ns0:bold ns1:id="rId315"/>
      <ns0:italic ns1:id="rId316"/>
      <ns0:boldItalic ns1:id="rId317"/>
    </ns0:embeddedFont>
    <ns0:embeddedFont>
      <ns0:font typeface="Hanken Grotesk SemiBold"/>
      <ns0:regular ns1:id="rId318"/>
      <ns0:bold ns1:id="rId319"/>
      <ns0:italic ns1:id="rId320"/>
      <ns0:boldItalic ns1:id="rId321"/>
    </ns0:embeddedFont>
    <ns0:embeddedFont>
      <ns0:font typeface="Lexend Medium"/>
      <ns0:regular ns1:id="rId322"/>
      <ns0:bold ns1:id="rId323"/>
    </ns0:embeddedFont>
    <ns0:embeddedFont>
      <ns0:font typeface="Lato Black"/>
      <ns0:bold ns1:id="rId324"/>
      <ns0:boldItalic ns1:id="rId325"/>
    </ns0:embeddedFont>
    <ns0:embeddedFont>
      <ns0:font typeface="Helvetica Neue"/>
      <ns0:regular ns1:id="rId326"/>
      <ns0:bold ns1:id="rId327"/>
      <ns0:italic ns1:id="rId328"/>
      <ns0:boldItalic ns1:id="rId329"/>
    </ns0:embeddedFont>
    <ns0:embeddedFont>
      <ns0:font typeface="Lexend"/>
      <ns0:regular ns1:id="rId330"/>
      <ns0:bold ns1:id="rId331"/>
    </ns0:embeddedFont>
    <ns0:embeddedFont>
      <ns0:font typeface="Alexandria Light"/>
      <ns0:regular ns1:id="rId332"/>
      <ns0:bold ns1:id="rId333"/>
    </ns0:embeddedFont>
    <ns0:embeddedFont>
      <ns0:font typeface="Lexend SemiBold"/>
      <ns0:regular ns1:id="rId334"/>
      <ns0:bold ns1:id="rId335"/>
    </ns0:embeddedFont>
    <ns0:embeddedFont>
      <ns0:font typeface="Roboto"/>
      <ns0:regular ns1:id="rId336"/>
      <ns0:bold ns1:id="rId337"/>
      <ns0:italic ns1:id="rId338"/>
      <ns0:boldItalic ns1:id="rId339"/>
    </ns0:embeddedFont>
    <ns0:embeddedFont>
      <ns0:font typeface="Poppins"/>
      <ns0:regular ns1:id="rId340"/>
      <ns0:bold ns1:id="rId341"/>
      <ns0:italic ns1:id="rId342"/>
      <ns0:boldItalic ns1:id="rId343"/>
    </ns0:embeddedFont>
    <ns0:embeddedFont>
      <ns0:font typeface="Lato"/>
      <ns0:regular ns1:id="rId344"/>
      <ns0:bold ns1:id="rId345"/>
      <ns0:italic ns1:id="rId346"/>
      <ns0:boldItalic ns1:id="rId347"/>
    </ns0:embeddedFont>
    <ns0:embeddedFont>
      <ns0:font typeface="Lexend Thin"/>
      <ns0:regular ns1:id="rId348"/>
      <ns0:bold ns1:id="rId349"/>
    </ns0:embeddedFont>
    <ns0:embeddedFont>
      <ns0:font typeface="Alexandria Black"/>
      <ns0:bold ns1:id="rId350"/>
    </ns0:embeddedFont>
    <ns0:embeddedFont>
      <ns0:font typeface="Lexend Black"/>
      <ns0:bold ns1:id="rId351"/>
    </ns0:embeddedFont>
  </ns0:embeddedFontLst>
  <ns0:defaultTextStyle>
    <ns2:defPPr lvl="0" marR="0" rtl="0" algn="l">
      <ns2:lnSpc>
        <ns2:spcPct val="100000"/>
      </ns2:lnSpc>
      <ns2:spcBef>
        <ns2:spcPts val="0"/>
      </ns2:spcBef>
      <ns2:spcAft>
        <ns2:spcPts val="0"/>
      </ns2:spcAft>
    </ns2:defPPr>
    <ns2:lvl1pPr lvl="0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1pPr>
    <ns2:lvl2pPr lvl="1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2pPr>
    <ns2:lvl3pPr lvl="2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3pPr>
    <ns2:lvl4pPr lvl="3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4pPr>
    <ns2:lvl5pPr lvl="4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5pPr>
    <ns2:lvl6pPr lvl="5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6pPr>
    <ns2:lvl7pPr lvl="6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7pPr>
    <ns2:lvl8pPr lvl="7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8pPr>
    <ns2:lvl9pPr lvl="8" marR="0" rtl="0" algn="l">
      <ns2:lnSpc>
        <ns2:spcPct val="100000"/>
      </ns2:lnSpc>
      <ns2:spcBef>
        <ns2:spcPts val="0"/>
      </ns2:spcBef>
      <ns2:spcAft>
        <ns2:spcPts val="0"/>
      </ns2:spcAft>
      <ns2:buClr>
        <ns2:srgbClr val="000000"/>
      </ns2:buClr>
      <ns2:buFont typeface="Arial"/>
      <ns2:defRPr b="0" i="0" sz="1400" u="none" cap="none" strike="noStrike">
        <ns2:solidFill>
          <ns2:srgbClr val="000000"/>
        </ns2:solidFill>
        <ns2:latin typeface="Arial"/>
        <ns2:ea typeface="Arial"/>
        <ns2:cs typeface="Arial"/>
        <ns2:sym typeface="Arial"/>
      </ns2:defRPr>
    </ns2:lvl9pPr>
  </ns0:defaultTextStyle>
</ns0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3" name="Mrigank Patel"/>
  <p:cmAuthor clrIdx="1" id="1" initials="" lastIdx="1" name="Punyata Gupta"/>
  <p:cmAuthor clrIdx="2" id="2" initials="" lastIdx="1" name="Medha Singh"/>
  <p:cmAuthor clrIdx="3" id="3" initials="" lastIdx="1" name="Kumar Vaibhav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23D67A9-73D3-4834-97BB-DDDDBFDB70A3}">
  <a:tblStyle styleId="{923D67A9-73D3-4834-97BB-DDDDBFDB70A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BF39E316-2A6F-46FE-BB79-8DE11204CA5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9BFDCD1-7CC8-4EE3-B7B2-5F212ED0A7B1}" styleName="Table_2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'1.0' encoding='UTF-8'?>
<ns0:Relationships xmlns:ns0="http://schemas.openxmlformats.org/package/2006/relationships"><ns0:Relationship Id="rId22" Type="http://schemas.openxmlformats.org/officeDocument/2006/relationships/slide" Target="slides/slide15.xml" /><ns0:Relationship Id="rId1" Type="http://schemas.openxmlformats.org/officeDocument/2006/relationships/theme" Target="theme/theme2.xml" /><ns0:Relationship Id="rId2" Type="http://schemas.openxmlformats.org/officeDocument/2006/relationships/presProps" Target="presProps.xml" /><ns0:Relationship Id="rId3" Type="http://schemas.openxmlformats.org/officeDocument/2006/relationships/tableStyles" Target="tableStyles.xml" /><ns0:Relationship Id="rId4" Type="http://schemas.openxmlformats.org/officeDocument/2006/relationships/commentAuthors" Target="commentAuthors.xml" /><ns0:Relationship Id="rId5" Type="http://schemas.openxmlformats.org/officeDocument/2006/relationships/slideMaster" Target="slideMasters/slideMaster1.xml" /><ns0:Relationship Id="rId6" Type="http://schemas.openxmlformats.org/officeDocument/2006/relationships/slideMaster" Target="slideMasters/slideMaster2.xml" /><ns0:Relationship Id="rId7" Type="http://schemas.openxmlformats.org/officeDocument/2006/relationships/notesMaster" Target="notesMasters/notesMaster1.xml" /><ns0:Relationship Id="rId349" Type="http://schemas.openxmlformats.org/officeDocument/2006/relationships/font" Target="fonts/LexendThin-bold.fntdata" /><ns0:Relationship Id="rId348" Type="http://schemas.openxmlformats.org/officeDocument/2006/relationships/font" Target="fonts/LexendThin-regular.fntdata" /><ns0:Relationship Id="rId347" Type="http://schemas.openxmlformats.org/officeDocument/2006/relationships/font" Target="fonts/Lato-boldItalic.fntdata" /><ns0:Relationship Id="rId346" Type="http://schemas.openxmlformats.org/officeDocument/2006/relationships/font" Target="fonts/Lato-italic.fntdata" /><ns0:Relationship Id="rId341" Type="http://schemas.openxmlformats.org/officeDocument/2006/relationships/font" Target="fonts/Poppins-bold.fntdata" /><ns0:Relationship Id="rId340" Type="http://schemas.openxmlformats.org/officeDocument/2006/relationships/font" Target="fonts/Poppins-regular.fntdata" /><ns0:Relationship Id="rId345" Type="http://schemas.openxmlformats.org/officeDocument/2006/relationships/font" Target="fonts/Lato-bold.fntdata" /><ns0:Relationship Id="rId344" Type="http://schemas.openxmlformats.org/officeDocument/2006/relationships/font" Target="fonts/Lato-regular.fntdata" /><ns0:Relationship Id="rId343" Type="http://schemas.openxmlformats.org/officeDocument/2006/relationships/font" Target="fonts/Poppins-boldItalic.fntdata" /><ns0:Relationship Id="rId342" Type="http://schemas.openxmlformats.org/officeDocument/2006/relationships/font" Target="fonts/Poppins-italic.fntdata" /><ns0:Relationship Id="rId338" Type="http://schemas.openxmlformats.org/officeDocument/2006/relationships/font" Target="fonts/Roboto-italic.fntdata" /><ns0:Relationship Id="rId337" Type="http://schemas.openxmlformats.org/officeDocument/2006/relationships/font" Target="fonts/Roboto-bold.fntdata" /><ns0:Relationship Id="rId336" Type="http://schemas.openxmlformats.org/officeDocument/2006/relationships/font" Target="fonts/Roboto-regular.fntdata" /><ns0:Relationship Id="rId335" Type="http://schemas.openxmlformats.org/officeDocument/2006/relationships/font" Target="fonts/LexendSemiBold-bold.fntdata" /><ns0:Relationship Id="rId339" Type="http://schemas.openxmlformats.org/officeDocument/2006/relationships/font" Target="fonts/Roboto-boldItalic.fntdata" /><ns0:Relationship Id="rId330" Type="http://schemas.openxmlformats.org/officeDocument/2006/relationships/font" Target="fonts/Lexend-regular.fntdata" /><ns0:Relationship Id="rId334" Type="http://schemas.openxmlformats.org/officeDocument/2006/relationships/font" Target="fonts/LexendSemiBold-regular.fntdata" /><ns0:Relationship Id="rId333" Type="http://schemas.openxmlformats.org/officeDocument/2006/relationships/font" Target="fonts/AlexandriaLight-bold.fntdata" /><ns0:Relationship Id="rId332" Type="http://schemas.openxmlformats.org/officeDocument/2006/relationships/font" Target="fonts/AlexandriaLight-regular.fntdata" /><ns0:Relationship Id="rId331" Type="http://schemas.openxmlformats.org/officeDocument/2006/relationships/font" Target="fonts/Lexend-bold.fntdata" /><ns0:Relationship Id="rId351" Type="http://schemas.openxmlformats.org/officeDocument/2006/relationships/font" Target="fonts/LexendBlack-bold.fntdata" /><ns0:Relationship Id="rId350" Type="http://schemas.openxmlformats.org/officeDocument/2006/relationships/font" Target="fonts/AlexandriaBlack-bold.fntdata" /><ns0:Relationship Id="rId309" Type="http://schemas.openxmlformats.org/officeDocument/2006/relationships/font" Target="fonts/HankenGroteskMedium-boldItalic.fntdata" /><ns0:Relationship Id="rId308" Type="http://schemas.openxmlformats.org/officeDocument/2006/relationships/font" Target="fonts/HankenGroteskMedium-italic.fntdata" /><ns0:Relationship Id="rId307" Type="http://schemas.openxmlformats.org/officeDocument/2006/relationships/font" Target="fonts/HankenGroteskMedium-bold.fntdata" /><ns0:Relationship Id="rId306" Type="http://schemas.openxmlformats.org/officeDocument/2006/relationships/font" Target="fonts/HankenGroteskMedium-regular.fntdata" /><ns0:Relationship Id="rId327" Type="http://schemas.openxmlformats.org/officeDocument/2006/relationships/font" Target="fonts/HelveticaNeue-bold.fntdata" /><ns0:Relationship Id="rId326" Type="http://schemas.openxmlformats.org/officeDocument/2006/relationships/font" Target="fonts/HelveticaNeue-regular.fntdata" /><ns0:Relationship Id="rId325" Type="http://schemas.openxmlformats.org/officeDocument/2006/relationships/font" Target="fonts/LatoBlack-boldItalic.fntdata" /><ns0:Relationship Id="rId324" Type="http://schemas.openxmlformats.org/officeDocument/2006/relationships/font" Target="fonts/LatoBlack-bold.fntdata" /><ns0:Relationship Id="rId329" Type="http://schemas.openxmlformats.org/officeDocument/2006/relationships/font" Target="fonts/HelveticaNeue-boldItalic.fntdata" /><ns0:Relationship Id="rId328" Type="http://schemas.openxmlformats.org/officeDocument/2006/relationships/font" Target="fonts/HelveticaNeue-italic.fntdata" /><ns0:Relationship Id="rId323" Type="http://schemas.openxmlformats.org/officeDocument/2006/relationships/font" Target="fonts/LexendMedium-bold.fntdata" /><ns0:Relationship Id="rId322" Type="http://schemas.openxmlformats.org/officeDocument/2006/relationships/font" Target="fonts/LexendMedium-regular.fntdata" /><ns0:Relationship Id="rId321" Type="http://schemas.openxmlformats.org/officeDocument/2006/relationships/font" Target="fonts/HankenGroteskSemiBold-boldItalic.fntdata" /><ns0:Relationship Id="rId320" Type="http://schemas.openxmlformats.org/officeDocument/2006/relationships/font" Target="fonts/HankenGroteskSemiBold-italic.fntdata" /><ns0:Relationship Id="rId316" Type="http://schemas.openxmlformats.org/officeDocument/2006/relationships/font" Target="fonts/HankenGrotesk-italic.fntdata" /><ns0:Relationship Id="rId315" Type="http://schemas.openxmlformats.org/officeDocument/2006/relationships/font" Target="fonts/HankenGrotesk-bold.fntdata" /><ns0:Relationship Id="rId314" Type="http://schemas.openxmlformats.org/officeDocument/2006/relationships/font" Target="fonts/HankenGrotesk-regular.fntdata" /><ns0:Relationship Id="rId313" Type="http://schemas.openxmlformats.org/officeDocument/2006/relationships/font" Target="fonts/LexendLight-bold.fntdata" /><ns0:Relationship Id="rId319" Type="http://schemas.openxmlformats.org/officeDocument/2006/relationships/font" Target="fonts/HankenGroteskSemiBold-bold.fntdata" /><ns0:Relationship Id="rId318" Type="http://schemas.openxmlformats.org/officeDocument/2006/relationships/font" Target="fonts/HankenGroteskSemiBold-regular.fntdata" /><ns0:Relationship Id="rId317" Type="http://schemas.openxmlformats.org/officeDocument/2006/relationships/font" Target="fonts/HankenGrotesk-boldItalic.fntdata" /><ns0:Relationship Id="rId312" Type="http://schemas.openxmlformats.org/officeDocument/2006/relationships/font" Target="fonts/LexendLight-regular.fntdata" /><ns0:Relationship Id="rId311" Type="http://schemas.openxmlformats.org/officeDocument/2006/relationships/font" Target="fonts/RobotoSlab-bold.fntdata" /><ns0:Relationship Id="rId310" Type="http://schemas.openxmlformats.org/officeDocument/2006/relationships/font" Target="fonts/RobotoSlab-regular.fntdata" /></ns0: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1-16T14:42:36.353">
    <p:pos x="240" y="144"/>
    <p:text>revenue:
Revenue (Annual) sequentially for columns
$500M - $2B
$5B - $50B+
XPO Logistics ($18.1B), Saia Inc. ($2.8B), J.B. Hunt ($11.7B)
FedEx ($84.6B), UPS ($97.3B), DHL ($87.2B)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1" dt="2026-01-16T20:33:01.194">
    <p:pos x="6000" y="0"/>
    <p:text>@kumar.vaibhav@shipsy.io Can you please add the blue versions of these stickers, i cant seem to find them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2" idx="1" dt="2026-01-16T05:48:01.946">
    <p:pos x="262" y="661"/>
    <p:text>pod validation could be a point @lakshmi.sharvani@shipsy.io @punyata.gupta@shipsy.io . If you are planning to show hnk pod approval workflow
_Assigned to Lakshmi Sharvani Valepe_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1-14T17:36:17.302">
    <p:pos x="6000" y="0"/>
    <p:text>@kumar.vaibhav@shipsy.io what is ai enhancementhere?</p:text>
  </p:cm>
  <p:cm authorId="3" idx="1" dt="2026-01-14T17:16:20.619">
    <p:pos x="6000" y="0"/>
    <p:text>that was the original idea to show the AI stuff. We can remove it now. 
Also, I didn't make this slide so I'm not aware of the content.</p:text>
  </p:cm>
  <p:cm authorId="0" idx="3" dt="2026-01-14T17:36:17.302">
    <p:pos x="6000" y="0"/>
    <p:text>Han so do this sense check across the deck please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92987fde59_1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92987fde59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 out that MCM can be done at FM MM &amp; LM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5">
  <p:cSld name="TITLE_AND_BODY_5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Title and Content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idx="1" type="body"/>
          </p:nvPr>
        </p:nvSpPr>
        <p:spPr>
          <a:xfrm>
            <a:off x="457200" y="127866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SzPts val="1200"/>
              <a:buChar char="●"/>
              <a:defRPr sz="1200"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algn="l">
              <a:spcBef>
                <a:spcPts val="1200"/>
              </a:spcBef>
              <a:spcAft>
                <a:spcPts val="0"/>
              </a:spcAft>
              <a:buSzPts val="1100"/>
              <a:buChar char="○"/>
              <a:defRPr sz="1100">
                <a:latin typeface="Arial"/>
                <a:ea typeface="Arial"/>
                <a:cs typeface="Arial"/>
                <a:sym typeface="Arial"/>
              </a:defRPr>
            </a:lvl2pPr>
            <a:lvl3pPr indent="-285750" lvl="2" marL="1371600" algn="l">
              <a:spcBef>
                <a:spcPts val="1200"/>
              </a:spcBef>
              <a:spcAft>
                <a:spcPts val="0"/>
              </a:spcAft>
              <a:buSzPts val="900"/>
              <a:buChar char="■"/>
              <a:defRPr sz="900">
                <a:latin typeface="Arial"/>
                <a:ea typeface="Arial"/>
                <a:cs typeface="Arial"/>
                <a:sym typeface="Arial"/>
              </a:defRPr>
            </a:lvl3pPr>
            <a:lvl4pPr indent="-279400" lvl="3" marL="1828800" algn="l">
              <a:spcBef>
                <a:spcPts val="1200"/>
              </a:spcBef>
              <a:spcAft>
                <a:spcPts val="0"/>
              </a:spcAft>
              <a:buSzPts val="800"/>
              <a:buChar char="●"/>
              <a:defRPr sz="800"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type="title"/>
          </p:nvPr>
        </p:nvSpPr>
        <p:spPr>
          <a:xfrm>
            <a:off x="454086" y="277034"/>
            <a:ext cx="82329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2" type="body"/>
          </p:nvPr>
        </p:nvSpPr>
        <p:spPr>
          <a:xfrm>
            <a:off x="453629" y="517922"/>
            <a:ext cx="82368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SzPts val="1400"/>
              <a:buNone/>
              <a:defRPr b="1">
                <a:solidFill>
                  <a:srgbClr val="00A2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algn="l"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spcBef>
                <a:spcPts val="12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spcBef>
                <a:spcPts val="12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D">
  <p:cSld name="TITLE_AND_BODY_2_1_1_1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/>
          <p:nvPr>
            <p:ph idx="2" type="pic"/>
          </p:nvPr>
        </p:nvSpPr>
        <p:spPr>
          <a:xfrm>
            <a:off x="296299" y="316350"/>
            <a:ext cx="4510800" cy="451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75" name="Google Shape;75;p18"/>
          <p:cNvSpPr txBox="1"/>
          <p:nvPr>
            <p:ph type="title"/>
          </p:nvPr>
        </p:nvSpPr>
        <p:spPr>
          <a:xfrm>
            <a:off x="5151925" y="289525"/>
            <a:ext cx="3548100" cy="109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>
            <a:off x="5151925" y="1565671"/>
            <a:ext cx="35481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orient="horz" pos="2880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8">
  <p:cSld name="CUSTOM_17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Google Shape;78;p19"/>
          <p:cNvCxnSpPr/>
          <p:nvPr/>
        </p:nvCxnSpPr>
        <p:spPr>
          <a:xfrm>
            <a:off x="481825" y="4327500"/>
            <a:ext cx="81825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" name="Google Shape;79;p19"/>
          <p:cNvSpPr txBox="1"/>
          <p:nvPr>
            <p:ph idx="1" type="subTitle"/>
          </p:nvPr>
        </p:nvSpPr>
        <p:spPr>
          <a:xfrm>
            <a:off x="474950" y="4494125"/>
            <a:ext cx="2961900" cy="400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19"/>
          <p:cNvSpPr txBox="1"/>
          <p:nvPr>
            <p:ph idx="2" type="subTitle"/>
          </p:nvPr>
        </p:nvSpPr>
        <p:spPr>
          <a:xfrm>
            <a:off x="6456875" y="4494125"/>
            <a:ext cx="2215200" cy="4002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19"/>
          <p:cNvSpPr txBox="1"/>
          <p:nvPr>
            <p:ph idx="3" type="subTitle"/>
          </p:nvPr>
        </p:nvSpPr>
        <p:spPr>
          <a:xfrm>
            <a:off x="512600" y="1839000"/>
            <a:ext cx="2961900" cy="3051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2" name="Google Shape;82;p19"/>
          <p:cNvSpPr txBox="1"/>
          <p:nvPr>
            <p:ph idx="4" type="subTitle"/>
          </p:nvPr>
        </p:nvSpPr>
        <p:spPr>
          <a:xfrm>
            <a:off x="6665125" y="295825"/>
            <a:ext cx="1999200" cy="7173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19"/>
          <p:cNvSpPr txBox="1"/>
          <p:nvPr>
            <p:ph type="ctrTitle"/>
          </p:nvPr>
        </p:nvSpPr>
        <p:spPr>
          <a:xfrm>
            <a:off x="403275" y="313225"/>
            <a:ext cx="6247200" cy="68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" name="Google Shape;84;p19"/>
          <p:cNvSpPr txBox="1"/>
          <p:nvPr>
            <p:ph idx="5" type="subTitle"/>
          </p:nvPr>
        </p:nvSpPr>
        <p:spPr>
          <a:xfrm>
            <a:off x="512600" y="1307100"/>
            <a:ext cx="2943600" cy="4926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19"/>
          <p:cNvSpPr txBox="1"/>
          <p:nvPr>
            <p:ph idx="6" type="subTitle"/>
          </p:nvPr>
        </p:nvSpPr>
        <p:spPr>
          <a:xfrm>
            <a:off x="512600" y="2715295"/>
            <a:ext cx="2961900" cy="3381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6" name="Google Shape;86;p19"/>
          <p:cNvSpPr txBox="1"/>
          <p:nvPr>
            <p:ph idx="7" type="subTitle"/>
          </p:nvPr>
        </p:nvSpPr>
        <p:spPr>
          <a:xfrm>
            <a:off x="512600" y="2183400"/>
            <a:ext cx="2943600" cy="4926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19"/>
          <p:cNvSpPr txBox="1"/>
          <p:nvPr>
            <p:ph idx="8" type="subTitle"/>
          </p:nvPr>
        </p:nvSpPr>
        <p:spPr>
          <a:xfrm>
            <a:off x="512600" y="3605552"/>
            <a:ext cx="2961900" cy="3381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8" name="Google Shape;88;p19"/>
          <p:cNvSpPr txBox="1"/>
          <p:nvPr>
            <p:ph idx="9" type="subTitle"/>
          </p:nvPr>
        </p:nvSpPr>
        <p:spPr>
          <a:xfrm>
            <a:off x="512600" y="3063525"/>
            <a:ext cx="2943600" cy="4926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8 1">
  <p:cSld name="CUSTOM_17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21"/>
          <p:cNvCxnSpPr/>
          <p:nvPr/>
        </p:nvCxnSpPr>
        <p:spPr>
          <a:xfrm>
            <a:off x="481825" y="4327500"/>
            <a:ext cx="81825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21"/>
          <p:cNvSpPr txBox="1"/>
          <p:nvPr>
            <p:ph idx="1" type="subTitle"/>
          </p:nvPr>
        </p:nvSpPr>
        <p:spPr>
          <a:xfrm>
            <a:off x="474950" y="4494125"/>
            <a:ext cx="2961900" cy="4002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21"/>
          <p:cNvSpPr txBox="1"/>
          <p:nvPr>
            <p:ph idx="2" type="subTitle"/>
          </p:nvPr>
        </p:nvSpPr>
        <p:spPr>
          <a:xfrm>
            <a:off x="6456875" y="4494125"/>
            <a:ext cx="2215200" cy="4002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21"/>
          <p:cNvSpPr txBox="1"/>
          <p:nvPr>
            <p:ph idx="3" type="subTitle"/>
          </p:nvPr>
        </p:nvSpPr>
        <p:spPr>
          <a:xfrm>
            <a:off x="512600" y="1839000"/>
            <a:ext cx="2961900" cy="3051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4" type="subTitle"/>
          </p:nvPr>
        </p:nvSpPr>
        <p:spPr>
          <a:xfrm>
            <a:off x="6665125" y="295825"/>
            <a:ext cx="1999200" cy="7173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7" name="Google Shape;97;p21"/>
          <p:cNvSpPr txBox="1"/>
          <p:nvPr>
            <p:ph type="ctrTitle"/>
          </p:nvPr>
        </p:nvSpPr>
        <p:spPr>
          <a:xfrm>
            <a:off x="403275" y="313225"/>
            <a:ext cx="6247200" cy="68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lexandria Black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8" name="Google Shape;98;p21"/>
          <p:cNvSpPr txBox="1"/>
          <p:nvPr>
            <p:ph idx="5" type="subTitle"/>
          </p:nvPr>
        </p:nvSpPr>
        <p:spPr>
          <a:xfrm>
            <a:off x="512600" y="1307100"/>
            <a:ext cx="2943600" cy="4926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21"/>
          <p:cNvSpPr txBox="1"/>
          <p:nvPr>
            <p:ph idx="6" type="subTitle"/>
          </p:nvPr>
        </p:nvSpPr>
        <p:spPr>
          <a:xfrm>
            <a:off x="512600" y="2715295"/>
            <a:ext cx="2961900" cy="3381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0" name="Google Shape;100;p21"/>
          <p:cNvSpPr txBox="1"/>
          <p:nvPr>
            <p:ph idx="7" type="subTitle"/>
          </p:nvPr>
        </p:nvSpPr>
        <p:spPr>
          <a:xfrm>
            <a:off x="512600" y="2183400"/>
            <a:ext cx="2943600" cy="4926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21"/>
          <p:cNvSpPr txBox="1"/>
          <p:nvPr>
            <p:ph idx="8" type="subTitle"/>
          </p:nvPr>
        </p:nvSpPr>
        <p:spPr>
          <a:xfrm>
            <a:off x="512600" y="3605552"/>
            <a:ext cx="2961900" cy="3381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exend Light"/>
              <a:buNone/>
              <a:defRPr sz="1000">
                <a:solidFill>
                  <a:schemeClr val="lt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2" name="Google Shape;102;p21"/>
          <p:cNvSpPr txBox="1"/>
          <p:nvPr>
            <p:ph idx="9" type="subTitle"/>
          </p:nvPr>
        </p:nvSpPr>
        <p:spPr>
          <a:xfrm>
            <a:off x="512600" y="3063525"/>
            <a:ext cx="2943600" cy="492600"/>
          </a:xfrm>
          <a:prstGeom prst="rect">
            <a:avLst/>
          </a:prstGeom>
        </p:spPr>
        <p:txBody>
          <a:bodyPr anchorCtr="0" anchor="ctr" bIns="91425" lIns="0" spcFirstLastPara="1" rIns="180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exend"/>
              <a:buNone/>
              <a:defRPr b="1"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19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/>
          <p:nvPr>
            <p:ph idx="2" type="pic"/>
          </p:nvPr>
        </p:nvSpPr>
        <p:spPr>
          <a:xfrm>
            <a:off x="8710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106" name="Google Shape;106;p22"/>
          <p:cNvSpPr/>
          <p:nvPr>
            <p:ph idx="3" type="pic"/>
          </p:nvPr>
        </p:nvSpPr>
        <p:spPr>
          <a:xfrm>
            <a:off x="36286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  <p:sp>
        <p:nvSpPr>
          <p:cNvPr id="107" name="Google Shape;107;p22"/>
          <p:cNvSpPr/>
          <p:nvPr>
            <p:ph idx="4" type="pic"/>
          </p:nvPr>
        </p:nvSpPr>
        <p:spPr>
          <a:xfrm>
            <a:off x="6386275" y="517125"/>
            <a:ext cx="1905900" cy="4070700"/>
          </a:xfrm>
          <a:prstGeom prst="roundRect">
            <a:avLst>
              <a:gd fmla="val 11144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_1_2">
  <p:cSld name="SECTION_HEADER_1_2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0" name="Google Shape;11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7" name="Google Shape;117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8" name="Google Shape;118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1" name="Google Shape;121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" name="Google Shape;124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5" name="Google Shape;12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8" name="Google Shape;128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29" name="Google Shape;129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0" name="Google Shape;130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" name="Google Shape;13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6" name="Google Shape;136;p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7" name="Google Shape;13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0" name="Google Shape;14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4" name="Google Shape;144;p3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5" name="Google Shape;145;p3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6" name="Google Shape;14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49" name="Google Shape;14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2" name="Google Shape;152;p3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3" name="Google Shape;153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_1">
  <p:cSld name="SECTION_HEADER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8" name="Google Shape;15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9" name="Google Shape;159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95359" y="0"/>
            <a:ext cx="548641" cy="555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2" name="Google Shape;162;p3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63" name="Google Shape;163;p3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3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" name="Google Shape;11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9" Type="http://schemas.openxmlformats.org/officeDocument/2006/relationships/image" Target="../media/image116.png"/><Relationship Id="rId5" Type="http://schemas.openxmlformats.org/officeDocument/2006/relationships/image" Target="../media/image118.png"/><Relationship Id="rId6" Type="http://schemas.openxmlformats.org/officeDocument/2006/relationships/image" Target="../media/image143.png"/><Relationship Id="rId7" Type="http://schemas.openxmlformats.org/officeDocument/2006/relationships/image" Target="../media/image135.png"/><Relationship Id="rId8" Type="http://schemas.openxmlformats.org/officeDocument/2006/relationships/image" Target="../media/image117.png"/><Relationship Id="rId31" Type="http://schemas.openxmlformats.org/officeDocument/2006/relationships/image" Target="../media/image155.png"/><Relationship Id="rId30" Type="http://schemas.openxmlformats.org/officeDocument/2006/relationships/image" Target="../media/image141.png"/><Relationship Id="rId20" Type="http://schemas.openxmlformats.org/officeDocument/2006/relationships/image" Target="../media/image126.png"/><Relationship Id="rId22" Type="http://schemas.openxmlformats.org/officeDocument/2006/relationships/image" Target="../media/image140.png"/><Relationship Id="rId21" Type="http://schemas.openxmlformats.org/officeDocument/2006/relationships/image" Target="../media/image132.png"/><Relationship Id="rId24" Type="http://schemas.openxmlformats.org/officeDocument/2006/relationships/image" Target="../media/image130.png"/><Relationship Id="rId23" Type="http://schemas.openxmlformats.org/officeDocument/2006/relationships/image" Target="../media/image153.png"/><Relationship Id="rId26" Type="http://schemas.openxmlformats.org/officeDocument/2006/relationships/image" Target="../media/image145.png"/><Relationship Id="rId25" Type="http://schemas.openxmlformats.org/officeDocument/2006/relationships/image" Target="../media/image131.png"/><Relationship Id="rId28" Type="http://schemas.openxmlformats.org/officeDocument/2006/relationships/image" Target="../media/image137.png"/><Relationship Id="rId27" Type="http://schemas.openxmlformats.org/officeDocument/2006/relationships/image" Target="../media/image139.png"/><Relationship Id="rId29" Type="http://schemas.openxmlformats.org/officeDocument/2006/relationships/image" Target="../media/image158.png"/><Relationship Id="rId11" Type="http://schemas.openxmlformats.org/officeDocument/2006/relationships/image" Target="../media/image120.png"/><Relationship Id="rId10" Type="http://schemas.openxmlformats.org/officeDocument/2006/relationships/image" Target="../media/image123.png"/><Relationship Id="rId13" Type="http://schemas.openxmlformats.org/officeDocument/2006/relationships/image" Target="../media/image119.png"/><Relationship Id="rId12" Type="http://schemas.openxmlformats.org/officeDocument/2006/relationships/image" Target="../media/image114.png"/><Relationship Id="rId15" Type="http://schemas.openxmlformats.org/officeDocument/2006/relationships/image" Target="../media/image127.png"/><Relationship Id="rId14" Type="http://schemas.openxmlformats.org/officeDocument/2006/relationships/image" Target="../media/image133.png"/><Relationship Id="rId17" Type="http://schemas.openxmlformats.org/officeDocument/2006/relationships/image" Target="../media/image124.png"/><Relationship Id="rId16" Type="http://schemas.openxmlformats.org/officeDocument/2006/relationships/image" Target="../media/image125.png"/><Relationship Id="rId19" Type="http://schemas.openxmlformats.org/officeDocument/2006/relationships/image" Target="../media/image121.png"/><Relationship Id="rId18" Type="http://schemas.openxmlformats.org/officeDocument/2006/relationships/image" Target="../media/image129.png"/></Relationships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5" name="Google Shape;52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2590" y="-8650"/>
            <a:ext cx="535610" cy="542294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53"/>
          <p:cNvSpPr txBox="1"/>
          <p:nvPr>
            <p:ph type="title"/>
          </p:nvPr>
        </p:nvSpPr>
        <p:spPr>
          <a:xfrm>
            <a:off x="200115" y="104703"/>
            <a:ext cx="83979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734"/>
              <a:buNone/>
            </a:pPr>
            <a:r>
              <a:rPr b="1" lang="en" sz="2343">
                <a:solidFill>
                  <a:srgbClr val="075592"/>
                </a:solidFill>
                <a:latin typeface="Lexend"/>
                <a:ea typeface="Lexend"/>
                <a:cs typeface="Lexend"/>
                <a:sym typeface="Lexend"/>
              </a:rPr>
              <a:t>Process Flow with Shipsy</a:t>
            </a:r>
            <a:endParaRPr sz="2343">
              <a:solidFill>
                <a:srgbClr val="004991"/>
              </a:solidFill>
              <a:latin typeface="Hanken Grotesk Medium"/>
              <a:ea typeface="Hanken Grotesk Medium"/>
              <a:cs typeface="Hanken Grotesk Medium"/>
              <a:sym typeface="Hanken Grotesk Medium"/>
            </a:endParaRPr>
          </a:p>
        </p:txBody>
      </p:sp>
      <p:pic>
        <p:nvPicPr>
          <p:cNvPr id="527" name="Google Shape;527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34650" y="133375"/>
            <a:ext cx="860774" cy="2582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8" name="Google Shape;528;p53"/>
          <p:cNvCxnSpPr/>
          <p:nvPr/>
        </p:nvCxnSpPr>
        <p:spPr>
          <a:xfrm flipH="1" rot="10800000">
            <a:off x="1615525" y="679400"/>
            <a:ext cx="6940200" cy="30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29" name="Google Shape;529;p53"/>
          <p:cNvSpPr txBox="1"/>
          <p:nvPr/>
        </p:nvSpPr>
        <p:spPr>
          <a:xfrm>
            <a:off x="200131" y="2022590"/>
            <a:ext cx="1415400" cy="677400"/>
          </a:xfrm>
          <a:prstGeom prst="rect">
            <a:avLst/>
          </a:prstGeom>
          <a:solidFill>
            <a:srgbClr val="3172AD"/>
          </a:solidFill>
          <a:ln>
            <a:noFill/>
          </a:ln>
        </p:spPr>
        <p:txBody>
          <a:bodyPr anchorCtr="0" anchor="ctr" bIns="28625" lIns="57275" spcFirstLastPara="1" rIns="57275" wrap="square" tIns="57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Middle Mile Journey</a:t>
            </a:r>
            <a:endParaRPr b="1" sz="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Hub-to-Hub Movement</a:t>
            </a:r>
            <a:endParaRPr b="1" sz="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0" name="Google Shape;530;p53"/>
          <p:cNvSpPr txBox="1"/>
          <p:nvPr/>
        </p:nvSpPr>
        <p:spPr>
          <a:xfrm>
            <a:off x="200125" y="1353850"/>
            <a:ext cx="1415400" cy="677400"/>
          </a:xfrm>
          <a:prstGeom prst="rect">
            <a:avLst/>
          </a:prstGeom>
          <a:solidFill>
            <a:srgbClr val="084174"/>
          </a:solidFill>
          <a:ln>
            <a:noFill/>
          </a:ln>
        </p:spPr>
        <p:txBody>
          <a:bodyPr anchorCtr="0" anchor="ctr" bIns="28625" lIns="57275" spcFirstLastPara="1" rIns="57275" wrap="square" tIns="57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First Mile Journey and Hub Activities</a:t>
            </a:r>
            <a:endParaRPr b="1" sz="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53"/>
          <p:cNvSpPr txBox="1"/>
          <p:nvPr/>
        </p:nvSpPr>
        <p:spPr>
          <a:xfrm>
            <a:off x="200131" y="2699972"/>
            <a:ext cx="1415400" cy="754200"/>
          </a:xfrm>
          <a:prstGeom prst="rect">
            <a:avLst/>
          </a:prstGeom>
          <a:solidFill>
            <a:srgbClr val="407CB3"/>
          </a:solidFill>
          <a:ln>
            <a:noFill/>
          </a:ln>
        </p:spPr>
        <p:txBody>
          <a:bodyPr anchorCtr="0" anchor="ctr" bIns="28625" lIns="57275" spcFirstLastPara="1" rIns="57275" wrap="square" tIns="57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Last Mile Operations</a:t>
            </a:r>
            <a:endParaRPr b="1" sz="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2" name="Google Shape;532;p53"/>
          <p:cNvSpPr txBox="1"/>
          <p:nvPr/>
        </p:nvSpPr>
        <p:spPr>
          <a:xfrm>
            <a:off x="200131" y="679400"/>
            <a:ext cx="1415400" cy="674400"/>
          </a:xfrm>
          <a:prstGeom prst="rect">
            <a:avLst/>
          </a:prstGeom>
          <a:solidFill>
            <a:srgbClr val="073763"/>
          </a:solidFill>
          <a:ln>
            <a:noFill/>
          </a:ln>
        </p:spPr>
        <p:txBody>
          <a:bodyPr anchorCtr="0" anchor="ctr" bIns="28625" lIns="57275" spcFirstLastPara="1" rIns="57275" wrap="square" tIns="57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Order Creation and First Mile planning</a:t>
            </a:r>
            <a:endParaRPr b="1" sz="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t/>
            </a:r>
            <a:endParaRPr b="1" sz="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3" name="Google Shape;533;p53"/>
          <p:cNvSpPr txBox="1"/>
          <p:nvPr/>
        </p:nvSpPr>
        <p:spPr>
          <a:xfrm>
            <a:off x="200125" y="3454094"/>
            <a:ext cx="1415400" cy="378300"/>
          </a:xfrm>
          <a:prstGeom prst="rect">
            <a:avLst/>
          </a:prstGeom>
          <a:solidFill>
            <a:srgbClr val="588FC2"/>
          </a:solidFill>
          <a:ln>
            <a:noFill/>
          </a:ln>
        </p:spPr>
        <p:txBody>
          <a:bodyPr anchorCtr="0" anchor="ctr" bIns="28625" lIns="57275" spcFirstLastPara="1" rIns="57275" wrap="square" tIns="57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Customer Communication</a:t>
            </a:r>
            <a:endParaRPr b="1" sz="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4" name="Google Shape;534;p53"/>
          <p:cNvSpPr txBox="1"/>
          <p:nvPr/>
        </p:nvSpPr>
        <p:spPr>
          <a:xfrm>
            <a:off x="200125" y="3815122"/>
            <a:ext cx="1415400" cy="378300"/>
          </a:xfrm>
          <a:prstGeom prst="rect">
            <a:avLst/>
          </a:prstGeom>
          <a:solidFill>
            <a:srgbClr val="73A8D8"/>
          </a:solidFill>
          <a:ln>
            <a:noFill/>
          </a:ln>
        </p:spPr>
        <p:txBody>
          <a:bodyPr anchorCtr="0" anchor="ctr" bIns="28625" lIns="57275" spcFirstLastPara="1" rIns="57275" wrap="square" tIns="57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Finance Operations</a:t>
            </a:r>
            <a:endParaRPr b="1" sz="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5" name="Google Shape;535;p53"/>
          <p:cNvSpPr txBox="1"/>
          <p:nvPr/>
        </p:nvSpPr>
        <p:spPr>
          <a:xfrm>
            <a:off x="200125" y="4190323"/>
            <a:ext cx="1415400" cy="378300"/>
          </a:xfrm>
          <a:prstGeom prst="rect">
            <a:avLst/>
          </a:prstGeom>
          <a:solidFill>
            <a:srgbClr val="9AC3E9"/>
          </a:solidFill>
          <a:ln>
            <a:noFill/>
          </a:ln>
        </p:spPr>
        <p:txBody>
          <a:bodyPr anchorCtr="0" anchor="ctr" bIns="28625" lIns="57275" spcFirstLastPara="1" rIns="57275" wrap="square" tIns="57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alibri"/>
              <a:buNone/>
            </a:pPr>
            <a:r>
              <a:rPr b="1" lang="en" sz="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Analytics &amp; Reporting</a:t>
            </a:r>
            <a:endParaRPr b="1" sz="8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36" name="Google Shape;536;p53"/>
          <p:cNvCxnSpPr/>
          <p:nvPr/>
        </p:nvCxnSpPr>
        <p:spPr>
          <a:xfrm>
            <a:off x="1615525" y="1356800"/>
            <a:ext cx="63768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37" name="Google Shape;537;p53"/>
          <p:cNvCxnSpPr/>
          <p:nvPr/>
        </p:nvCxnSpPr>
        <p:spPr>
          <a:xfrm>
            <a:off x="1615525" y="2719157"/>
            <a:ext cx="64218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38" name="Google Shape;538;p53"/>
          <p:cNvCxnSpPr/>
          <p:nvPr/>
        </p:nvCxnSpPr>
        <p:spPr>
          <a:xfrm flipH="1" rot="10800000">
            <a:off x="1615525" y="3815224"/>
            <a:ext cx="6940200" cy="2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39" name="Google Shape;539;p53"/>
          <p:cNvCxnSpPr/>
          <p:nvPr/>
        </p:nvCxnSpPr>
        <p:spPr>
          <a:xfrm flipH="1" rot="10800000">
            <a:off x="1615525" y="4193663"/>
            <a:ext cx="6940200" cy="2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40" name="Google Shape;540;p53"/>
          <p:cNvCxnSpPr/>
          <p:nvPr/>
        </p:nvCxnSpPr>
        <p:spPr>
          <a:xfrm flipH="1" rot="10800000">
            <a:off x="1615525" y="4557482"/>
            <a:ext cx="6940200" cy="27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pic>
        <p:nvPicPr>
          <p:cNvPr id="541" name="Google Shape;541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95775" y="1055875"/>
            <a:ext cx="282075" cy="28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69947" y="793115"/>
            <a:ext cx="784894" cy="4101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3" name="Google Shape;543;p53"/>
          <p:cNvCxnSpPr>
            <a:endCxn id="542" idx="1"/>
          </p:cNvCxnSpPr>
          <p:nvPr/>
        </p:nvCxnSpPr>
        <p:spPr>
          <a:xfrm>
            <a:off x="2173847" y="772001"/>
            <a:ext cx="2096100" cy="226200"/>
          </a:xfrm>
          <a:prstGeom prst="bentConnector3">
            <a:avLst>
              <a:gd fmla="val 50000" name="adj1"/>
            </a:avLst>
          </a:prstGeom>
          <a:noFill/>
          <a:ln cap="flat" cmpd="sng" w="8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4" name="Google Shape;544;p53"/>
          <p:cNvCxnSpPr>
            <a:stCxn id="541" idx="3"/>
            <a:endCxn id="542" idx="1"/>
          </p:cNvCxnSpPr>
          <p:nvPr/>
        </p:nvCxnSpPr>
        <p:spPr>
          <a:xfrm flipH="1" rot="10800000">
            <a:off x="2177850" y="998313"/>
            <a:ext cx="2092200" cy="198600"/>
          </a:xfrm>
          <a:prstGeom prst="bentConnector3">
            <a:avLst>
              <a:gd fmla="val 49998" name="adj1"/>
            </a:avLst>
          </a:prstGeom>
          <a:noFill/>
          <a:ln cap="flat" cmpd="sng" w="8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5" name="Google Shape;545;p53"/>
          <p:cNvSpPr txBox="1"/>
          <p:nvPr/>
        </p:nvSpPr>
        <p:spPr>
          <a:xfrm>
            <a:off x="2391025" y="680900"/>
            <a:ext cx="700800" cy="2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Business Clients</a:t>
            </a:r>
            <a:endParaRPr sz="6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6" name="Google Shape;546;p53"/>
          <p:cNvSpPr txBox="1"/>
          <p:nvPr/>
        </p:nvSpPr>
        <p:spPr>
          <a:xfrm>
            <a:off x="2391025" y="1108800"/>
            <a:ext cx="737100" cy="17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7175" lIns="67175" spcFirstLastPara="1" rIns="67175" wrap="square" tIns="67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highlight>
                  <a:schemeClr val="lt1"/>
                </a:highlight>
                <a:latin typeface="Lexend"/>
                <a:ea typeface="Lexend"/>
                <a:cs typeface="Lexend"/>
                <a:sym typeface="Lexend"/>
              </a:rPr>
              <a:t>Skynet Upstream</a:t>
            </a:r>
            <a:endParaRPr sz="600">
              <a:solidFill>
                <a:schemeClr val="dk1"/>
              </a:solidFill>
              <a:highlight>
                <a:schemeClr val="lt1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47" name="Google Shape;547;p53"/>
          <p:cNvCxnSpPr>
            <a:stCxn id="542" idx="3"/>
            <a:endCxn id="548" idx="1"/>
          </p:cNvCxnSpPr>
          <p:nvPr/>
        </p:nvCxnSpPr>
        <p:spPr>
          <a:xfrm>
            <a:off x="5054840" y="998201"/>
            <a:ext cx="762000" cy="0"/>
          </a:xfrm>
          <a:prstGeom prst="straightConnector1">
            <a:avLst/>
          </a:prstGeom>
          <a:noFill/>
          <a:ln cap="flat" cmpd="sng" w="8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9" name="Google Shape;549;p53"/>
          <p:cNvCxnSpPr>
            <a:stCxn id="550" idx="3"/>
            <a:endCxn id="551" idx="3"/>
          </p:cNvCxnSpPr>
          <p:nvPr/>
        </p:nvCxnSpPr>
        <p:spPr>
          <a:xfrm flipH="1">
            <a:off x="7705625" y="962800"/>
            <a:ext cx="75600" cy="673200"/>
          </a:xfrm>
          <a:prstGeom prst="bentConnector3">
            <a:avLst>
              <a:gd fmla="val -451058" name="adj1"/>
            </a:avLst>
          </a:prstGeom>
          <a:noFill/>
          <a:ln cap="flat" cmpd="sng" w="8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52" name="Google Shape;552;p53" title="Business Portfolio Icon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07687" y="706052"/>
            <a:ext cx="258250" cy="25825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53"/>
          <p:cNvSpPr txBox="1"/>
          <p:nvPr/>
        </p:nvSpPr>
        <p:spPr>
          <a:xfrm>
            <a:off x="7107750" y="1721655"/>
            <a:ext cx="9378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Visibility of pickup tasks</a:t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53"/>
          <p:cNvSpPr txBox="1"/>
          <p:nvPr/>
        </p:nvSpPr>
        <p:spPr>
          <a:xfrm>
            <a:off x="5798163" y="1721655"/>
            <a:ext cx="9669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Navigation and epop capture</a:t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5" name="Google Shape;555;p53"/>
          <p:cNvSpPr txBox="1"/>
          <p:nvPr/>
        </p:nvSpPr>
        <p:spPr>
          <a:xfrm>
            <a:off x="4488575" y="1727380"/>
            <a:ext cx="9669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Pickup Completion</a:t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6" name="Google Shape;556;p53"/>
          <p:cNvSpPr txBox="1"/>
          <p:nvPr/>
        </p:nvSpPr>
        <p:spPr>
          <a:xfrm>
            <a:off x="3178988" y="1721655"/>
            <a:ext cx="9669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Inscan of Pickup Order</a:t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7" name="Google Shape;557;p53"/>
          <p:cNvSpPr txBox="1"/>
          <p:nvPr/>
        </p:nvSpPr>
        <p:spPr>
          <a:xfrm>
            <a:off x="1644750" y="1721655"/>
            <a:ext cx="10767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Order Verification</a:t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51" name="Google Shape;551;p53" title="Smartphone UI Design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447525" y="1506925"/>
            <a:ext cx="258250" cy="25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53" title="Mobile Navigation Icon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134000" y="1479999"/>
            <a:ext cx="295200" cy="27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53" title="Pickup Icon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824438" y="1479999"/>
            <a:ext cx="295200" cy="310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53" title="Scan Box Icon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514838" y="1479999"/>
            <a:ext cx="295200" cy="27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53" title="Order Verification Icon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035500" y="1479999"/>
            <a:ext cx="310896" cy="3108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2" name="Google Shape;562;p53"/>
          <p:cNvCxnSpPr>
            <a:stCxn id="551" idx="1"/>
            <a:endCxn id="558" idx="3"/>
          </p:cNvCxnSpPr>
          <p:nvPr/>
        </p:nvCxnSpPr>
        <p:spPr>
          <a:xfrm rot="10800000">
            <a:off x="6429325" y="1618350"/>
            <a:ext cx="1018200" cy="1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3" name="Google Shape;563;p53"/>
          <p:cNvCxnSpPr/>
          <p:nvPr/>
        </p:nvCxnSpPr>
        <p:spPr>
          <a:xfrm rot="10800000">
            <a:off x="5119688" y="1638050"/>
            <a:ext cx="1018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4" name="Google Shape;564;p53"/>
          <p:cNvCxnSpPr>
            <a:endCxn id="560" idx="3"/>
          </p:cNvCxnSpPr>
          <p:nvPr/>
        </p:nvCxnSpPr>
        <p:spPr>
          <a:xfrm flipH="1">
            <a:off x="3810038" y="1613829"/>
            <a:ext cx="988800" cy="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65" name="Google Shape;565;p53"/>
          <p:cNvCxnSpPr/>
          <p:nvPr/>
        </p:nvCxnSpPr>
        <p:spPr>
          <a:xfrm rot="10800000">
            <a:off x="2397888" y="1626450"/>
            <a:ext cx="107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6" name="Google Shape;566;p53"/>
          <p:cNvSpPr txBox="1"/>
          <p:nvPr/>
        </p:nvSpPr>
        <p:spPr>
          <a:xfrm>
            <a:off x="7107750" y="2461968"/>
            <a:ext cx="9378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Sorting based on Zones</a:t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7" name="Google Shape;567;p53"/>
          <p:cNvSpPr txBox="1"/>
          <p:nvPr/>
        </p:nvSpPr>
        <p:spPr>
          <a:xfrm>
            <a:off x="5798163" y="2461968"/>
            <a:ext cx="9669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and Load Balancing</a:t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8" name="Google Shape;568;p53"/>
          <p:cNvSpPr txBox="1"/>
          <p:nvPr/>
        </p:nvSpPr>
        <p:spPr>
          <a:xfrm>
            <a:off x="4488575" y="2461968"/>
            <a:ext cx="9669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Unloading at Destination Hub</a:t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53"/>
          <p:cNvSpPr txBox="1"/>
          <p:nvPr/>
        </p:nvSpPr>
        <p:spPr>
          <a:xfrm>
            <a:off x="3178975" y="2461125"/>
            <a:ext cx="9669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Loading orders in line haul vehicle</a:t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53"/>
          <p:cNvSpPr txBox="1"/>
          <p:nvPr/>
        </p:nvSpPr>
        <p:spPr>
          <a:xfrm>
            <a:off x="1644750" y="2461968"/>
            <a:ext cx="10767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Bagging and Trip creation</a:t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71" name="Google Shape;571;p53" title="Consignment Ship Icon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035500" y="2201709"/>
            <a:ext cx="310896" cy="27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53" title="Truck Load Icon (2)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497725" y="2185670"/>
            <a:ext cx="310896" cy="308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" name="Google Shape;573;p53" title="Unloading Icon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4807331" y="2185666"/>
            <a:ext cx="329432" cy="308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53" title="Map Icon (3)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127525" y="2195629"/>
            <a:ext cx="308175" cy="288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53" title="Sorting Icon (3)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7447525" y="2219023"/>
            <a:ext cx="258250" cy="24203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6" name="Google Shape;576;p53"/>
          <p:cNvCxnSpPr>
            <a:stCxn id="561" idx="1"/>
            <a:endCxn id="571" idx="1"/>
          </p:cNvCxnSpPr>
          <p:nvPr/>
        </p:nvCxnSpPr>
        <p:spPr>
          <a:xfrm>
            <a:off x="2035500" y="1635447"/>
            <a:ext cx="600" cy="704700"/>
          </a:xfrm>
          <a:prstGeom prst="bentConnector3">
            <a:avLst>
              <a:gd fmla="val -5044166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7" name="Google Shape;577;p53"/>
          <p:cNvCxnSpPr>
            <a:stCxn id="571" idx="3"/>
            <a:endCxn id="572" idx="1"/>
          </p:cNvCxnSpPr>
          <p:nvPr/>
        </p:nvCxnSpPr>
        <p:spPr>
          <a:xfrm>
            <a:off x="2346396" y="2340039"/>
            <a:ext cx="1151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8" name="Google Shape;578;p53"/>
          <p:cNvCxnSpPr>
            <a:stCxn id="572" idx="3"/>
            <a:endCxn id="573" idx="1"/>
          </p:cNvCxnSpPr>
          <p:nvPr/>
        </p:nvCxnSpPr>
        <p:spPr>
          <a:xfrm>
            <a:off x="3808621" y="2340041"/>
            <a:ext cx="998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9" name="Google Shape;579;p53"/>
          <p:cNvCxnSpPr>
            <a:stCxn id="573" idx="3"/>
            <a:endCxn id="574" idx="1"/>
          </p:cNvCxnSpPr>
          <p:nvPr/>
        </p:nvCxnSpPr>
        <p:spPr>
          <a:xfrm>
            <a:off x="5136762" y="2340037"/>
            <a:ext cx="990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0" name="Google Shape;580;p53"/>
          <p:cNvCxnSpPr>
            <a:stCxn id="574" idx="3"/>
            <a:endCxn id="575" idx="1"/>
          </p:cNvCxnSpPr>
          <p:nvPr/>
        </p:nvCxnSpPr>
        <p:spPr>
          <a:xfrm>
            <a:off x="6435700" y="2340039"/>
            <a:ext cx="1011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1" name="Google Shape;581;p53"/>
          <p:cNvCxnSpPr/>
          <p:nvPr/>
        </p:nvCxnSpPr>
        <p:spPr>
          <a:xfrm>
            <a:off x="8198725" y="1352450"/>
            <a:ext cx="3570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2" name="Google Shape;582;p53"/>
          <p:cNvCxnSpPr>
            <a:stCxn id="575" idx="3"/>
          </p:cNvCxnSpPr>
          <p:nvPr/>
        </p:nvCxnSpPr>
        <p:spPr>
          <a:xfrm>
            <a:off x="7705775" y="2340039"/>
            <a:ext cx="414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3" name="Google Shape;583;p53"/>
          <p:cNvCxnSpPr/>
          <p:nvPr/>
        </p:nvCxnSpPr>
        <p:spPr>
          <a:xfrm>
            <a:off x="8120075" y="2336025"/>
            <a:ext cx="0" cy="96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4" name="Google Shape;584;p53"/>
          <p:cNvCxnSpPr/>
          <p:nvPr/>
        </p:nvCxnSpPr>
        <p:spPr>
          <a:xfrm rot="10800000">
            <a:off x="7528150" y="3300382"/>
            <a:ext cx="594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5" name="Google Shape;585;p53"/>
          <p:cNvCxnSpPr/>
          <p:nvPr/>
        </p:nvCxnSpPr>
        <p:spPr>
          <a:xfrm rot="10800000">
            <a:off x="7532875" y="2883354"/>
            <a:ext cx="584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86" name="Google Shape;586;p53"/>
          <p:cNvGrpSpPr/>
          <p:nvPr/>
        </p:nvGrpSpPr>
        <p:grpSpPr>
          <a:xfrm>
            <a:off x="5200940" y="2772438"/>
            <a:ext cx="755975" cy="242079"/>
            <a:chOff x="5260600" y="2871800"/>
            <a:chExt cx="755975" cy="258300"/>
          </a:xfrm>
        </p:grpSpPr>
        <p:sp>
          <p:nvSpPr>
            <p:cNvPr id="587" name="Google Shape;587;p53"/>
            <p:cNvSpPr txBox="1"/>
            <p:nvPr/>
          </p:nvSpPr>
          <p:spPr>
            <a:xfrm>
              <a:off x="5392275" y="2871800"/>
              <a:ext cx="6243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Visibility in mobile app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588" name="Google Shape;588;p53" title="Smartphone Icon.png"/>
            <p:cNvPicPr preferRelativeResize="0"/>
            <p:nvPr/>
          </p:nvPicPr>
          <p:blipFill>
            <a:blip r:embed="rId18">
              <a:alphaModFix/>
            </a:blip>
            <a:stretch>
              <a:fillRect/>
            </a:stretch>
          </p:blipFill>
          <p:spPr>
            <a:xfrm>
              <a:off x="5260600" y="2892306"/>
              <a:ext cx="217287" cy="217287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589" name="Google Shape;589;p53"/>
          <p:cNvCxnSpPr/>
          <p:nvPr/>
        </p:nvCxnSpPr>
        <p:spPr>
          <a:xfrm>
            <a:off x="8198725" y="2719150"/>
            <a:ext cx="357000" cy="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90" name="Google Shape;590;p53"/>
          <p:cNvSpPr/>
          <p:nvPr/>
        </p:nvSpPr>
        <p:spPr>
          <a:xfrm>
            <a:off x="8149725" y="611150"/>
            <a:ext cx="414300" cy="139500"/>
          </a:xfrm>
          <a:prstGeom prst="rect">
            <a:avLst/>
          </a:prstGeom>
          <a:solidFill>
            <a:srgbClr val="004991"/>
          </a:solidFill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Day 1</a:t>
            </a:r>
            <a:endParaRPr sz="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91" name="Google Shape;591;p53"/>
          <p:cNvGrpSpPr/>
          <p:nvPr/>
        </p:nvGrpSpPr>
        <p:grpSpPr>
          <a:xfrm>
            <a:off x="6478075" y="2772438"/>
            <a:ext cx="1049950" cy="242079"/>
            <a:chOff x="6478075" y="2863169"/>
            <a:chExt cx="1049950" cy="258300"/>
          </a:xfrm>
        </p:grpSpPr>
        <p:sp>
          <p:nvSpPr>
            <p:cNvPr id="592" name="Google Shape;592;p53"/>
            <p:cNvSpPr txBox="1"/>
            <p:nvPr/>
          </p:nvSpPr>
          <p:spPr>
            <a:xfrm>
              <a:off x="6613325" y="2863169"/>
              <a:ext cx="9147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Dynamic Planning of Last Mile Orders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593" name="Google Shape;593;p53" title="Last Mile Icon.png"/>
            <p:cNvPicPr preferRelativeResize="0"/>
            <p:nvPr/>
          </p:nvPicPr>
          <p:blipFill>
            <a:blip r:embed="rId19">
              <a:alphaModFix/>
            </a:blip>
            <a:stretch>
              <a:fillRect/>
            </a:stretch>
          </p:blipFill>
          <p:spPr>
            <a:xfrm>
              <a:off x="6478075" y="2883681"/>
              <a:ext cx="217275" cy="2172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4" name="Google Shape;594;p53"/>
          <p:cNvGrpSpPr/>
          <p:nvPr/>
        </p:nvGrpSpPr>
        <p:grpSpPr>
          <a:xfrm>
            <a:off x="3525164" y="2772438"/>
            <a:ext cx="1154617" cy="242079"/>
            <a:chOff x="3518188" y="2863175"/>
            <a:chExt cx="1154617" cy="258300"/>
          </a:xfrm>
        </p:grpSpPr>
        <p:sp>
          <p:nvSpPr>
            <p:cNvPr id="595" name="Google Shape;595;p53"/>
            <p:cNvSpPr txBox="1"/>
            <p:nvPr/>
          </p:nvSpPr>
          <p:spPr>
            <a:xfrm>
              <a:off x="3692704" y="2863175"/>
              <a:ext cx="9801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Cluster sequence Selection and loading 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596" name="Google Shape;596;p53" title="Sequence planning icon.png"/>
            <p:cNvPicPr preferRelativeResize="0"/>
            <p:nvPr/>
          </p:nvPicPr>
          <p:blipFill>
            <a:blip r:embed="rId20">
              <a:alphaModFix/>
            </a:blip>
            <a:stretch>
              <a:fillRect/>
            </a:stretch>
          </p:blipFill>
          <p:spPr>
            <a:xfrm>
              <a:off x="3518188" y="2883688"/>
              <a:ext cx="217275" cy="2172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7" name="Google Shape;597;p53"/>
          <p:cNvGrpSpPr/>
          <p:nvPr/>
        </p:nvGrpSpPr>
        <p:grpSpPr>
          <a:xfrm>
            <a:off x="1865825" y="2772438"/>
            <a:ext cx="1138179" cy="242079"/>
            <a:chOff x="1865825" y="2863725"/>
            <a:chExt cx="1138179" cy="258300"/>
          </a:xfrm>
        </p:grpSpPr>
        <p:sp>
          <p:nvSpPr>
            <p:cNvPr id="598" name="Google Shape;598;p53"/>
            <p:cNvSpPr txBox="1"/>
            <p:nvPr/>
          </p:nvSpPr>
          <p:spPr>
            <a:xfrm>
              <a:off x="2023904" y="2863725"/>
              <a:ext cx="9801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Break Time Inputs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599" name="Google Shape;599;p53" title="Coffee Break Icon.png"/>
            <p:cNvPicPr preferRelativeResize="0"/>
            <p:nvPr/>
          </p:nvPicPr>
          <p:blipFill>
            <a:blip r:embed="rId21">
              <a:alphaModFix/>
            </a:blip>
            <a:stretch>
              <a:fillRect/>
            </a:stretch>
          </p:blipFill>
          <p:spPr>
            <a:xfrm>
              <a:off x="1865825" y="2884250"/>
              <a:ext cx="217250" cy="217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0" name="Google Shape;600;p53"/>
          <p:cNvGrpSpPr/>
          <p:nvPr/>
        </p:nvGrpSpPr>
        <p:grpSpPr>
          <a:xfrm>
            <a:off x="1865825" y="3179364"/>
            <a:ext cx="1138779" cy="242079"/>
            <a:chOff x="1865825" y="3191250"/>
            <a:chExt cx="1138779" cy="258300"/>
          </a:xfrm>
        </p:grpSpPr>
        <p:sp>
          <p:nvSpPr>
            <p:cNvPr id="601" name="Google Shape;601;p53"/>
            <p:cNvSpPr txBox="1"/>
            <p:nvPr/>
          </p:nvSpPr>
          <p:spPr>
            <a:xfrm>
              <a:off x="2024504" y="3191250"/>
              <a:ext cx="9801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Navigation and ePOD capture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602" name="Google Shape;602;p53" title="Navigation Icon.png"/>
            <p:cNvPicPr preferRelativeResize="0"/>
            <p:nvPr/>
          </p:nvPicPr>
          <p:blipFill>
            <a:blip r:embed="rId22">
              <a:alphaModFix/>
            </a:blip>
            <a:stretch>
              <a:fillRect/>
            </a:stretch>
          </p:blipFill>
          <p:spPr>
            <a:xfrm>
              <a:off x="1865825" y="3211775"/>
              <a:ext cx="217250" cy="217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3" name="Google Shape;603;p53"/>
          <p:cNvGrpSpPr/>
          <p:nvPr/>
        </p:nvGrpSpPr>
        <p:grpSpPr>
          <a:xfrm>
            <a:off x="3518188" y="3179364"/>
            <a:ext cx="1858510" cy="242079"/>
            <a:chOff x="3592800" y="3246794"/>
            <a:chExt cx="1858510" cy="258300"/>
          </a:xfrm>
        </p:grpSpPr>
        <p:sp>
          <p:nvSpPr>
            <p:cNvPr id="604" name="Google Shape;604;p53"/>
            <p:cNvSpPr txBox="1"/>
            <p:nvPr/>
          </p:nvSpPr>
          <p:spPr>
            <a:xfrm>
              <a:off x="3692710" y="3246794"/>
              <a:ext cx="17586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Tracing details captured in Shipsy sent back Skynet ERP 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605" name="Google Shape;605;p53" title="Erp icon (1).png"/>
            <p:cNvPicPr preferRelativeResize="0"/>
            <p:nvPr/>
          </p:nvPicPr>
          <p:blipFill>
            <a:blip r:embed="rId23">
              <a:alphaModFix/>
            </a:blip>
            <a:stretch>
              <a:fillRect/>
            </a:stretch>
          </p:blipFill>
          <p:spPr>
            <a:xfrm>
              <a:off x="3592800" y="3267319"/>
              <a:ext cx="217250" cy="2172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6" name="Google Shape;606;p53"/>
          <p:cNvGrpSpPr/>
          <p:nvPr/>
        </p:nvGrpSpPr>
        <p:grpSpPr>
          <a:xfrm>
            <a:off x="6459025" y="3179364"/>
            <a:ext cx="1069000" cy="242079"/>
            <a:chOff x="6459025" y="3246794"/>
            <a:chExt cx="1069000" cy="258300"/>
          </a:xfrm>
        </p:grpSpPr>
        <p:sp>
          <p:nvSpPr>
            <p:cNvPr id="607" name="Google Shape;607;p53"/>
            <p:cNvSpPr txBox="1"/>
            <p:nvPr/>
          </p:nvSpPr>
          <p:spPr>
            <a:xfrm>
              <a:off x="6613325" y="3246794"/>
              <a:ext cx="9147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3rd Party Allocation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608" name="Google Shape;608;p53" title="Resource Allocation Icon (2).png"/>
            <p:cNvPicPr preferRelativeResize="0"/>
            <p:nvPr/>
          </p:nvPicPr>
          <p:blipFill>
            <a:blip r:embed="rId24">
              <a:alphaModFix/>
            </a:blip>
            <a:stretch>
              <a:fillRect/>
            </a:stretch>
          </p:blipFill>
          <p:spPr>
            <a:xfrm>
              <a:off x="6459025" y="3267306"/>
              <a:ext cx="217275" cy="21727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609" name="Google Shape;609;p53"/>
          <p:cNvCxnSpPr>
            <a:stCxn id="599" idx="1"/>
            <a:endCxn id="602" idx="1"/>
          </p:cNvCxnSpPr>
          <p:nvPr/>
        </p:nvCxnSpPr>
        <p:spPr>
          <a:xfrm>
            <a:off x="1865825" y="2893477"/>
            <a:ext cx="600" cy="406800"/>
          </a:xfrm>
          <a:prstGeom prst="bentConnector3">
            <a:avLst>
              <a:gd fmla="val -2522083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0" name="Google Shape;610;p53"/>
          <p:cNvCxnSpPr>
            <a:stCxn id="593" idx="1"/>
            <a:endCxn id="587" idx="3"/>
          </p:cNvCxnSpPr>
          <p:nvPr/>
        </p:nvCxnSpPr>
        <p:spPr>
          <a:xfrm rot="10800000">
            <a:off x="5956975" y="2893477"/>
            <a:ext cx="52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1" name="Google Shape;611;p53"/>
          <p:cNvCxnSpPr>
            <a:stCxn id="608" idx="1"/>
            <a:endCxn id="604" idx="3"/>
          </p:cNvCxnSpPr>
          <p:nvPr/>
        </p:nvCxnSpPr>
        <p:spPr>
          <a:xfrm rot="10800000">
            <a:off x="5376625" y="3300403"/>
            <a:ext cx="1082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2" name="Google Shape;612;p53"/>
          <p:cNvCxnSpPr>
            <a:stCxn id="596" idx="1"/>
            <a:endCxn id="598" idx="3"/>
          </p:cNvCxnSpPr>
          <p:nvPr/>
        </p:nvCxnSpPr>
        <p:spPr>
          <a:xfrm rot="10800000">
            <a:off x="3004064" y="2893477"/>
            <a:ext cx="52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3" name="Google Shape;613;p53"/>
          <p:cNvCxnSpPr>
            <a:stCxn id="588" idx="1"/>
            <a:endCxn id="595" idx="3"/>
          </p:cNvCxnSpPr>
          <p:nvPr/>
        </p:nvCxnSpPr>
        <p:spPr>
          <a:xfrm rot="10800000">
            <a:off x="4679840" y="2893477"/>
            <a:ext cx="52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14" name="Google Shape;614;p53"/>
          <p:cNvGrpSpPr/>
          <p:nvPr/>
        </p:nvGrpSpPr>
        <p:grpSpPr>
          <a:xfrm>
            <a:off x="1714500" y="3504253"/>
            <a:ext cx="1914449" cy="242079"/>
            <a:chOff x="1714500" y="3648338"/>
            <a:chExt cx="1914449" cy="258300"/>
          </a:xfrm>
        </p:grpSpPr>
        <p:sp>
          <p:nvSpPr>
            <p:cNvPr id="615" name="Google Shape;615;p53"/>
            <p:cNvSpPr txBox="1"/>
            <p:nvPr/>
          </p:nvSpPr>
          <p:spPr>
            <a:xfrm>
              <a:off x="1830149" y="3648338"/>
              <a:ext cx="17988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Configurable stage wise communication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616" name="Google Shape;616;p53" title="Tracking Icon (1).png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1714500" y="3667760"/>
              <a:ext cx="219456" cy="2194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17" name="Google Shape;617;p53"/>
          <p:cNvGrpSpPr/>
          <p:nvPr/>
        </p:nvGrpSpPr>
        <p:grpSpPr>
          <a:xfrm>
            <a:off x="3928007" y="3504253"/>
            <a:ext cx="1198050" cy="242079"/>
            <a:chOff x="3810050" y="3655825"/>
            <a:chExt cx="1198050" cy="258300"/>
          </a:xfrm>
        </p:grpSpPr>
        <p:sp>
          <p:nvSpPr>
            <p:cNvPr id="618" name="Google Shape;618;p53"/>
            <p:cNvSpPr txBox="1"/>
            <p:nvPr/>
          </p:nvSpPr>
          <p:spPr>
            <a:xfrm>
              <a:off x="3925700" y="3655825"/>
              <a:ext cx="10824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Live tracking + ETA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619" name="Google Shape;619;p53" title="Tracking Icon (2).png"/>
            <p:cNvPicPr preferRelativeResize="0"/>
            <p:nvPr/>
          </p:nvPicPr>
          <p:blipFill rotWithShape="1">
            <a:blip r:embed="rId26">
              <a:alphaModFix/>
            </a:blip>
            <a:srcRect b="0" l="0" r="0" t="0"/>
            <a:stretch/>
          </p:blipFill>
          <p:spPr>
            <a:xfrm>
              <a:off x="3810050" y="3675975"/>
              <a:ext cx="219456" cy="2194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20" name="Google Shape;620;p53"/>
          <p:cNvGrpSpPr/>
          <p:nvPr/>
        </p:nvGrpSpPr>
        <p:grpSpPr>
          <a:xfrm>
            <a:off x="5425116" y="3504253"/>
            <a:ext cx="1301850" cy="242079"/>
            <a:chOff x="5326125" y="3655825"/>
            <a:chExt cx="1301850" cy="258300"/>
          </a:xfrm>
        </p:grpSpPr>
        <p:sp>
          <p:nvSpPr>
            <p:cNvPr id="621" name="Google Shape;621;p53"/>
            <p:cNvSpPr txBox="1"/>
            <p:nvPr/>
          </p:nvSpPr>
          <p:spPr>
            <a:xfrm>
              <a:off x="5545575" y="3655825"/>
              <a:ext cx="10824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Sharp predicted window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622" name="Google Shape;622;p53" title="Time Prediction Icon.png"/>
            <p:cNvPicPr preferRelativeResize="0"/>
            <p:nvPr/>
          </p:nvPicPr>
          <p:blipFill>
            <a:blip r:embed="rId27">
              <a:alphaModFix/>
            </a:blip>
            <a:stretch>
              <a:fillRect/>
            </a:stretch>
          </p:blipFill>
          <p:spPr>
            <a:xfrm>
              <a:off x="5326125" y="3675250"/>
              <a:ext cx="219450" cy="2194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23" name="Google Shape;623;p53"/>
          <p:cNvGrpSpPr/>
          <p:nvPr/>
        </p:nvGrpSpPr>
        <p:grpSpPr>
          <a:xfrm>
            <a:off x="7026025" y="3504253"/>
            <a:ext cx="1122050" cy="242079"/>
            <a:chOff x="7026025" y="3640850"/>
            <a:chExt cx="1122050" cy="258300"/>
          </a:xfrm>
        </p:grpSpPr>
        <p:sp>
          <p:nvSpPr>
            <p:cNvPr id="624" name="Google Shape;624;p53"/>
            <p:cNvSpPr txBox="1"/>
            <p:nvPr/>
          </p:nvSpPr>
          <p:spPr>
            <a:xfrm>
              <a:off x="7167975" y="3640850"/>
              <a:ext cx="9801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geofence based delivery validation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625" name="Google Shape;625;p53" title="geofencing.png"/>
            <p:cNvPicPr preferRelativeResize="0"/>
            <p:nvPr/>
          </p:nvPicPr>
          <p:blipFill>
            <a:blip r:embed="rId28">
              <a:alphaModFix/>
            </a:blip>
            <a:stretch>
              <a:fillRect/>
            </a:stretch>
          </p:blipFill>
          <p:spPr>
            <a:xfrm>
              <a:off x="7026025" y="3660288"/>
              <a:ext cx="219450" cy="2194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26" name="Google Shape;626;p53"/>
          <p:cNvSpPr txBox="1"/>
          <p:nvPr/>
        </p:nvSpPr>
        <p:spPr>
          <a:xfrm>
            <a:off x="6309325" y="3884749"/>
            <a:ext cx="16830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Cash and Order Reconciliation</a:t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27" name="Google Shape;627;p53"/>
          <p:cNvGrpSpPr/>
          <p:nvPr/>
        </p:nvGrpSpPr>
        <p:grpSpPr>
          <a:xfrm>
            <a:off x="1714500" y="4255853"/>
            <a:ext cx="1963475" cy="242079"/>
            <a:chOff x="1714500" y="4450300"/>
            <a:chExt cx="1963475" cy="258300"/>
          </a:xfrm>
        </p:grpSpPr>
        <p:sp>
          <p:nvSpPr>
            <p:cNvPr id="628" name="Google Shape;628;p53"/>
            <p:cNvSpPr txBox="1"/>
            <p:nvPr/>
          </p:nvSpPr>
          <p:spPr>
            <a:xfrm>
              <a:off x="1907675" y="4450300"/>
              <a:ext cx="17703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Dynamic vehicle tracking and ETA visibility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629" name="Google Shape;629;p53" title="Vehicle Tracking Icon.png"/>
            <p:cNvPicPr preferRelativeResize="0"/>
            <p:nvPr/>
          </p:nvPicPr>
          <p:blipFill rotWithShape="1">
            <a:blip r:embed="rId29">
              <a:alphaModFix/>
            </a:blip>
            <a:srcRect b="-6952" l="0" r="-6952" t="0"/>
            <a:stretch/>
          </p:blipFill>
          <p:spPr>
            <a:xfrm>
              <a:off x="1714500" y="4476850"/>
              <a:ext cx="219456" cy="2194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0" name="Google Shape;630;p53"/>
          <p:cNvGrpSpPr/>
          <p:nvPr/>
        </p:nvGrpSpPr>
        <p:grpSpPr>
          <a:xfrm>
            <a:off x="4151163" y="4255853"/>
            <a:ext cx="1921275" cy="242079"/>
            <a:chOff x="3904275" y="4450300"/>
            <a:chExt cx="1921275" cy="258300"/>
          </a:xfrm>
        </p:grpSpPr>
        <p:sp>
          <p:nvSpPr>
            <p:cNvPr id="631" name="Google Shape;631;p53"/>
            <p:cNvSpPr txBox="1"/>
            <p:nvPr/>
          </p:nvSpPr>
          <p:spPr>
            <a:xfrm>
              <a:off x="4055250" y="4450300"/>
              <a:ext cx="17703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Dashboard for Plan vs actual performance comparisons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632" name="Google Shape;632;p53" title="Dashboard Icon (2).png"/>
            <p:cNvPicPr preferRelativeResize="0"/>
            <p:nvPr/>
          </p:nvPicPr>
          <p:blipFill>
            <a:blip r:embed="rId30">
              <a:alphaModFix/>
            </a:blip>
            <a:stretch>
              <a:fillRect/>
            </a:stretch>
          </p:blipFill>
          <p:spPr>
            <a:xfrm>
              <a:off x="3904275" y="4476850"/>
              <a:ext cx="219456" cy="2194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3" name="Google Shape;633;p53"/>
          <p:cNvGrpSpPr/>
          <p:nvPr/>
        </p:nvGrpSpPr>
        <p:grpSpPr>
          <a:xfrm>
            <a:off x="6545625" y="4255853"/>
            <a:ext cx="1602500" cy="242079"/>
            <a:chOff x="6545625" y="4450300"/>
            <a:chExt cx="1602500" cy="258300"/>
          </a:xfrm>
        </p:grpSpPr>
        <p:sp>
          <p:nvSpPr>
            <p:cNvPr id="634" name="Google Shape;634;p53"/>
            <p:cNvSpPr txBox="1"/>
            <p:nvPr/>
          </p:nvSpPr>
          <p:spPr>
            <a:xfrm>
              <a:off x="6641825" y="4450300"/>
              <a:ext cx="1506300" cy="25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Performance metrics  and alerts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635" name="Google Shape;635;p53" title="Alerts Icon.png"/>
            <p:cNvPicPr preferRelativeResize="0"/>
            <p:nvPr/>
          </p:nvPicPr>
          <p:blipFill>
            <a:blip r:embed="rId31">
              <a:alphaModFix/>
            </a:blip>
            <a:stretch>
              <a:fillRect/>
            </a:stretch>
          </p:blipFill>
          <p:spPr>
            <a:xfrm>
              <a:off x="6545625" y="4469725"/>
              <a:ext cx="219456" cy="21945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36" name="Google Shape;636;p53"/>
          <p:cNvSpPr/>
          <p:nvPr/>
        </p:nvSpPr>
        <p:spPr>
          <a:xfrm>
            <a:off x="8149725" y="1282700"/>
            <a:ext cx="414300" cy="139500"/>
          </a:xfrm>
          <a:prstGeom prst="rect">
            <a:avLst/>
          </a:prstGeom>
          <a:solidFill>
            <a:srgbClr val="004991"/>
          </a:solidFill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Day 2</a:t>
            </a:r>
            <a:endParaRPr sz="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53"/>
          <p:cNvSpPr/>
          <p:nvPr/>
        </p:nvSpPr>
        <p:spPr>
          <a:xfrm>
            <a:off x="8149725" y="2649400"/>
            <a:ext cx="414300" cy="139500"/>
          </a:xfrm>
          <a:prstGeom prst="rect">
            <a:avLst/>
          </a:prstGeom>
          <a:solidFill>
            <a:srgbClr val="004991"/>
          </a:solidFill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Day 3</a:t>
            </a:r>
            <a:endParaRPr sz="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8" name="Google Shape;638;p53"/>
          <p:cNvSpPr/>
          <p:nvPr/>
        </p:nvSpPr>
        <p:spPr>
          <a:xfrm>
            <a:off x="8149725" y="3746825"/>
            <a:ext cx="414300" cy="139500"/>
          </a:xfrm>
          <a:prstGeom prst="rect">
            <a:avLst/>
          </a:prstGeom>
          <a:solidFill>
            <a:srgbClr val="004991"/>
          </a:solidFill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Day 2</a:t>
            </a:r>
            <a:endParaRPr sz="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9" name="Google Shape;639;p53"/>
          <p:cNvSpPr/>
          <p:nvPr/>
        </p:nvSpPr>
        <p:spPr>
          <a:xfrm>
            <a:off x="8149725" y="4117950"/>
            <a:ext cx="414300" cy="139500"/>
          </a:xfrm>
          <a:prstGeom prst="rect">
            <a:avLst/>
          </a:prstGeom>
          <a:solidFill>
            <a:srgbClr val="004991"/>
          </a:solidFill>
          <a:ln>
            <a:noFill/>
          </a:ln>
        </p:spPr>
        <p:txBody>
          <a:bodyPr anchorCtr="0" anchor="ctr" bIns="89250" lIns="89250" spcFirstLastPara="1" rIns="89250" wrap="square" tIns="89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Day 5</a:t>
            </a:r>
            <a:endParaRPr sz="6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640" name="Google Shape;640;p53"/>
          <p:cNvCxnSpPr>
            <a:stCxn id="601" idx="3"/>
            <a:endCxn id="605" idx="1"/>
          </p:cNvCxnSpPr>
          <p:nvPr/>
        </p:nvCxnSpPr>
        <p:spPr>
          <a:xfrm>
            <a:off x="3004604" y="3300403"/>
            <a:ext cx="513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41" name="Google Shape;641;p53"/>
          <p:cNvGrpSpPr/>
          <p:nvPr/>
        </p:nvGrpSpPr>
        <p:grpSpPr>
          <a:xfrm>
            <a:off x="200125" y="4634225"/>
            <a:ext cx="1415400" cy="285150"/>
            <a:chOff x="200125" y="4645200"/>
            <a:chExt cx="1415400" cy="285150"/>
          </a:xfrm>
        </p:grpSpPr>
        <p:sp>
          <p:nvSpPr>
            <p:cNvPr id="642" name="Google Shape;642;p53"/>
            <p:cNvSpPr/>
            <p:nvPr/>
          </p:nvSpPr>
          <p:spPr>
            <a:xfrm>
              <a:off x="200125" y="4790850"/>
              <a:ext cx="1415400" cy="139500"/>
            </a:xfrm>
            <a:prstGeom prst="rect">
              <a:avLst/>
            </a:prstGeom>
            <a:solidFill>
              <a:srgbClr val="004991"/>
            </a:solidFill>
            <a:ln>
              <a:noFill/>
            </a:ln>
          </p:spPr>
          <p:txBody>
            <a:bodyPr anchorCtr="0" anchor="ctr" bIns="89250" lIns="89250" spcFirstLastPara="1" rIns="89250" wrap="square" tIns="89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Day 1</a:t>
              </a:r>
              <a:endParaRPr sz="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43" name="Google Shape;643;p53"/>
            <p:cNvSpPr/>
            <p:nvPr/>
          </p:nvSpPr>
          <p:spPr>
            <a:xfrm>
              <a:off x="200125" y="4645200"/>
              <a:ext cx="1415400" cy="139500"/>
            </a:xfrm>
            <a:prstGeom prst="rect">
              <a:avLst/>
            </a:prstGeom>
            <a:solidFill>
              <a:srgbClr val="12B4EB"/>
            </a:solidFill>
            <a:ln>
              <a:noFill/>
            </a:ln>
          </p:spPr>
          <p:txBody>
            <a:bodyPr anchorCtr="0" anchor="ctr" bIns="89250" lIns="89250" spcFirstLastPara="1" rIns="89250" wrap="square" tIns="89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Technical</a:t>
              </a:r>
              <a:endParaRPr b="1" sz="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4" name="Google Shape;644;p53"/>
          <p:cNvGrpSpPr/>
          <p:nvPr/>
        </p:nvGrpSpPr>
        <p:grpSpPr>
          <a:xfrm>
            <a:off x="2962475" y="4634225"/>
            <a:ext cx="2839200" cy="285150"/>
            <a:chOff x="1727188" y="4648725"/>
            <a:chExt cx="2839200" cy="285150"/>
          </a:xfrm>
        </p:grpSpPr>
        <p:sp>
          <p:nvSpPr>
            <p:cNvPr id="645" name="Google Shape;645;p53"/>
            <p:cNvSpPr/>
            <p:nvPr/>
          </p:nvSpPr>
          <p:spPr>
            <a:xfrm>
              <a:off x="1727188" y="4794375"/>
              <a:ext cx="2839200" cy="139500"/>
            </a:xfrm>
            <a:prstGeom prst="rect">
              <a:avLst/>
            </a:prstGeom>
            <a:solidFill>
              <a:srgbClr val="004991"/>
            </a:solidFill>
            <a:ln>
              <a:noFill/>
            </a:ln>
          </p:spPr>
          <p:txBody>
            <a:bodyPr anchorCtr="0" anchor="ctr" bIns="89250" lIns="89250" spcFirstLastPara="1" rIns="89250" wrap="square" tIns="89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Day 4</a:t>
              </a:r>
              <a:endParaRPr sz="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46" name="Google Shape;646;p53"/>
            <p:cNvSpPr/>
            <p:nvPr/>
          </p:nvSpPr>
          <p:spPr>
            <a:xfrm>
              <a:off x="1727212" y="4648725"/>
              <a:ext cx="1415400" cy="139500"/>
            </a:xfrm>
            <a:prstGeom prst="rect">
              <a:avLst/>
            </a:prstGeom>
            <a:solidFill>
              <a:srgbClr val="12B4EB"/>
            </a:solidFill>
            <a:ln>
              <a:noFill/>
            </a:ln>
          </p:spPr>
          <p:txBody>
            <a:bodyPr anchorCtr="0" anchor="ctr" bIns="89250" lIns="89250" spcFirstLastPara="1" rIns="89250" wrap="square" tIns="89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Technology &amp; Data</a:t>
              </a:r>
              <a:endParaRPr b="1" sz="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47" name="Google Shape;647;p53"/>
            <p:cNvSpPr/>
            <p:nvPr/>
          </p:nvSpPr>
          <p:spPr>
            <a:xfrm>
              <a:off x="3150962" y="4648725"/>
              <a:ext cx="1415400" cy="139500"/>
            </a:xfrm>
            <a:prstGeom prst="rect">
              <a:avLst/>
            </a:prstGeom>
            <a:solidFill>
              <a:srgbClr val="12B4EB"/>
            </a:solidFill>
            <a:ln>
              <a:noFill/>
            </a:ln>
          </p:spPr>
          <p:txBody>
            <a:bodyPr anchorCtr="0" anchor="ctr" bIns="89250" lIns="89250" spcFirstLastPara="1" rIns="89250" wrap="square" tIns="89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Other Services of Shipsy</a:t>
              </a:r>
              <a:endParaRPr b="1" sz="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8" name="Google Shape;648;p53"/>
          <p:cNvGrpSpPr/>
          <p:nvPr/>
        </p:nvGrpSpPr>
        <p:grpSpPr>
          <a:xfrm>
            <a:off x="7148625" y="4634225"/>
            <a:ext cx="1415413" cy="285150"/>
            <a:chOff x="4678075" y="4648725"/>
            <a:chExt cx="1415413" cy="285150"/>
          </a:xfrm>
        </p:grpSpPr>
        <p:sp>
          <p:nvSpPr>
            <p:cNvPr id="649" name="Google Shape;649;p53"/>
            <p:cNvSpPr/>
            <p:nvPr/>
          </p:nvSpPr>
          <p:spPr>
            <a:xfrm>
              <a:off x="4678087" y="4648725"/>
              <a:ext cx="1415400" cy="139500"/>
            </a:xfrm>
            <a:prstGeom prst="rect">
              <a:avLst/>
            </a:prstGeom>
            <a:solidFill>
              <a:srgbClr val="12B4EB"/>
            </a:solidFill>
            <a:ln>
              <a:noFill/>
            </a:ln>
          </p:spPr>
          <p:txBody>
            <a:bodyPr anchorCtr="0" anchor="ctr" bIns="89250" lIns="89250" spcFirstLastPara="1" rIns="89250" wrap="square" tIns="89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Implementation</a:t>
              </a:r>
              <a:endParaRPr b="1" sz="7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650" name="Google Shape;650;p53"/>
            <p:cNvSpPr/>
            <p:nvPr/>
          </p:nvSpPr>
          <p:spPr>
            <a:xfrm>
              <a:off x="4678075" y="4794375"/>
              <a:ext cx="1415400" cy="139500"/>
            </a:xfrm>
            <a:prstGeom prst="rect">
              <a:avLst/>
            </a:prstGeom>
            <a:solidFill>
              <a:srgbClr val="004991"/>
            </a:solidFill>
            <a:ln>
              <a:noFill/>
            </a:ln>
          </p:spPr>
          <p:txBody>
            <a:bodyPr anchorCtr="0" anchor="ctr" bIns="89250" lIns="89250" spcFirstLastPara="1" rIns="89250" wrap="square" tIns="89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Day 5</a:t>
              </a:r>
              <a:endParaRPr sz="6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651" name="Google Shape;651;p53"/>
          <p:cNvSpPr txBox="1"/>
          <p:nvPr/>
        </p:nvSpPr>
        <p:spPr>
          <a:xfrm>
            <a:off x="1830225" y="3884750"/>
            <a:ext cx="19635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Client Rate contracts and Invoice Generation</a:t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2" name="Google Shape;652;p53"/>
          <p:cNvSpPr txBox="1"/>
          <p:nvPr/>
        </p:nvSpPr>
        <p:spPr>
          <a:xfrm>
            <a:off x="3928000" y="3884750"/>
            <a:ext cx="2199600" cy="2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80250" lIns="80250" spcFirstLastPara="1" rIns="80250" wrap="square" tIns="80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Sub Contractor Rate contracts and Invoice generation</a:t>
            </a:r>
            <a:endParaRPr sz="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653" name="Google Shape;653;p53"/>
          <p:cNvGrpSpPr/>
          <p:nvPr/>
        </p:nvGrpSpPr>
        <p:grpSpPr>
          <a:xfrm>
            <a:off x="5956913" y="833675"/>
            <a:ext cx="1824313" cy="258250"/>
            <a:chOff x="5879663" y="833675"/>
            <a:chExt cx="1824313" cy="258250"/>
          </a:xfrm>
        </p:grpSpPr>
        <p:sp>
          <p:nvSpPr>
            <p:cNvPr id="550" name="Google Shape;550;p53"/>
            <p:cNvSpPr txBox="1"/>
            <p:nvPr/>
          </p:nvSpPr>
          <p:spPr>
            <a:xfrm>
              <a:off x="6101375" y="841750"/>
              <a:ext cx="1602600" cy="24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250" lIns="80250" spcFirstLastPara="1" rIns="80250" wrap="square" tIns="802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Dynamic Pickup Planning and Driver Assignment</a:t>
              </a:r>
              <a:endParaRPr sz="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654" name="Google Shape;654;p53" title="Parcel Pickup Icon (2).png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5879663" y="833675"/>
              <a:ext cx="258250" cy="2582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