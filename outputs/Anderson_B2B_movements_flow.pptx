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92AD92-665E-4B27-B92C-A34CAC28C5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46077A-AD01-4AAF-9D76-905B07092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083F79-3F58-4B6A-893C-A7B8584F32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6739CC-E635-41CB-9D6F-87D609BE22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45975B-53FD-4662-A20F-AA738F8F2E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8F9394-6CEC-4372-80D0-A8BE016381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492495-EF37-41DE-AD14-68314C5213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6A831E-4B9B-431D-8E15-DC0F790927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CE2FFC-471C-4AA0-A3CF-64A861FEEE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681C68-B172-45AA-A4BA-024E9D33C0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118ED8-CCAF-4297-93D4-60756EF490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2.png"/><Relationship Id="rId13" Type="http://schemas.openxmlformats.org/officeDocument/2006/relationships/image" Target="../media/image4.png"/><Relationship Id="rId14" Type="http://schemas.openxmlformats.org/officeDocument/2006/relationships/image" Target="../media/image6.png"/><Relationship Id="rId15" Type="http://schemas.openxmlformats.org/officeDocument/2006/relationships/image" Target="../media/image5.png"/><Relationship Id="rId16" Type="http://schemas.openxmlformats.org/officeDocument/2006/relationships/image" Target="../media/image2.png"/><Relationship Id="rId17" Type="http://schemas.openxmlformats.org/officeDocument/2006/relationships/image" Target="../media/image8.png"/><Relationship Id="rId18" Type="http://schemas.openxmlformats.org/officeDocument/2006/relationships/image" Target="../media/image3.png"/><Relationship Id="rId19" Type="http://schemas.openxmlformats.org/officeDocument/2006/relationships/image" Target="../media/image4.png"/><Relationship Id="rId20" Type="http://schemas.openxmlformats.org/officeDocument/2006/relationships/image" Target="../media/image5.png"/><Relationship Id="rId2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74320" y="914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Anderson B2B — Movement Flows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 descr="shipsy-logo-mark.png"/>
          <p:cNvPicPr/>
          <p:nvPr/>
        </p:nvPicPr>
        <p:blipFill>
          <a:blip r:embed="rId1"/>
          <a:stretch/>
        </p:blipFill>
        <p:spPr>
          <a:xfrm>
            <a:off x="8092440" y="164520"/>
            <a:ext cx="69948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3"/>
          <p:cNvSpPr/>
          <p:nvPr/>
        </p:nvSpPr>
        <p:spPr>
          <a:xfrm>
            <a:off x="0" y="667440"/>
            <a:ext cx="1416960" cy="108432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" y="69480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Standard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B2B Delivery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business-clients.png"/>
          <p:cNvPicPr/>
          <p:nvPr/>
        </p:nvPicPr>
        <p:blipFill>
          <a:blip r:embed="rId2"/>
          <a:stretch/>
        </p:blipFill>
        <p:spPr>
          <a:xfrm>
            <a:off x="192024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1444680" y="125280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(corporate shipper)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pickup-check.png"/>
          <p:cNvPicPr/>
          <p:nvPr/>
        </p:nvPicPr>
        <p:blipFill>
          <a:blip r:embed="rId3"/>
          <a:stretch/>
        </p:blipFill>
        <p:spPr>
          <a:xfrm>
            <a:off x="342900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2953440" y="125280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picks up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parcel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9"/>
          <p:cNvSpPr/>
          <p:nvPr/>
        </p:nvSpPr>
        <p:spPr>
          <a:xfrm>
            <a:off x="2468880" y="89172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loading-truck.png"/>
          <p:cNvPicPr/>
          <p:nvPr/>
        </p:nvPicPr>
        <p:blipFill>
          <a:blip r:embed="rId4"/>
          <a:stretch/>
        </p:blipFill>
        <p:spPr>
          <a:xfrm>
            <a:off x="493776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4462200" y="125280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Inter-station /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transit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ight Arrow 12"/>
          <p:cNvSpPr/>
          <p:nvPr/>
        </p:nvSpPr>
        <p:spPr>
          <a:xfrm>
            <a:off x="3977640" y="89172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Picture 13" descr="navigation-epod.png"/>
          <p:cNvPicPr/>
          <p:nvPr/>
        </p:nvPicPr>
        <p:blipFill>
          <a:blip r:embed="rId5"/>
          <a:stretch/>
        </p:blipFill>
        <p:spPr>
          <a:xfrm>
            <a:off x="644652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14"/>
          <p:cNvSpPr/>
          <p:nvPr/>
        </p:nvSpPr>
        <p:spPr>
          <a:xfrm>
            <a:off x="5970960" y="125280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delivers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to recipient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ight Arrow 15"/>
          <p:cNvSpPr/>
          <p:nvPr/>
        </p:nvSpPr>
        <p:spPr>
          <a:xfrm>
            <a:off x="5486400" y="89172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6" name="Picture 16" descr="verify-clipboard.png"/>
          <p:cNvPicPr/>
          <p:nvPr/>
        </p:nvPicPr>
        <p:blipFill>
          <a:blip r:embed="rId6"/>
          <a:stretch/>
        </p:blipFill>
        <p:spPr>
          <a:xfrm>
            <a:off x="7955280" y="7131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7"/>
          <p:cNvSpPr/>
          <p:nvPr/>
        </p:nvSpPr>
        <p:spPr>
          <a:xfrm>
            <a:off x="7479720" y="125280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ePOD captured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(signature / photo / OTP)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ight Arrow 18"/>
          <p:cNvSpPr/>
          <p:nvPr/>
        </p:nvSpPr>
        <p:spPr>
          <a:xfrm>
            <a:off x="6995160" y="89172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9"/>
          <p:cNvSpPr/>
          <p:nvPr/>
        </p:nvSpPr>
        <p:spPr>
          <a:xfrm>
            <a:off x="0" y="1752120"/>
            <a:ext cx="1416960" cy="1084320"/>
          </a:xfrm>
          <a:prstGeom prst="rect">
            <a:avLst/>
          </a:prstGeom>
          <a:solidFill>
            <a:srgbClr val="3955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0" name="Connector 20"/>
          <p:cNvCxnSpPr/>
          <p:nvPr/>
        </p:nvCxnSpPr>
        <p:spPr>
          <a:xfrm>
            <a:off x="1463040" y="17521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81" name="TextBox 21"/>
          <p:cNvSpPr/>
          <p:nvPr/>
        </p:nvSpPr>
        <p:spPr>
          <a:xfrm>
            <a:off x="45720" y="177948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Acknowledgment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Receipt (AR)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2" descr="business-clients.png"/>
          <p:cNvPicPr/>
          <p:nvPr/>
        </p:nvPicPr>
        <p:blipFill>
          <a:blip r:embed="rId7"/>
          <a:stretch/>
        </p:blipFill>
        <p:spPr>
          <a:xfrm>
            <a:off x="192024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23"/>
          <p:cNvSpPr/>
          <p:nvPr/>
        </p:nvSpPr>
        <p:spPr>
          <a:xfrm>
            <a:off x="1444680" y="233748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(corporate)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24" descr="pickup-check.png"/>
          <p:cNvPicPr/>
          <p:nvPr/>
        </p:nvPicPr>
        <p:blipFill>
          <a:blip r:embed="rId8"/>
          <a:stretch/>
        </p:blipFill>
        <p:spPr>
          <a:xfrm>
            <a:off x="342900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25"/>
          <p:cNvSpPr/>
          <p:nvPr/>
        </p:nvSpPr>
        <p:spPr>
          <a:xfrm>
            <a:off x="2953440" y="233748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picks up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document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ight Arrow 26"/>
          <p:cNvSpPr/>
          <p:nvPr/>
        </p:nvSpPr>
        <p:spPr>
          <a:xfrm>
            <a:off x="2468880" y="197640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27" descr="navigation-epod.png"/>
          <p:cNvPicPr/>
          <p:nvPr/>
        </p:nvPicPr>
        <p:blipFill>
          <a:blip r:embed="rId9"/>
          <a:stretch/>
        </p:blipFill>
        <p:spPr>
          <a:xfrm>
            <a:off x="493776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28"/>
          <p:cNvSpPr/>
          <p:nvPr/>
        </p:nvSpPr>
        <p:spPr>
          <a:xfrm>
            <a:off x="4462200" y="233748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Delivers to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recipient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ight Arrow 29"/>
          <p:cNvSpPr/>
          <p:nvPr/>
        </p:nvSpPr>
        <p:spPr>
          <a:xfrm>
            <a:off x="3977640" y="197640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0" name="Picture 30" descr="verify-clipboard.png"/>
          <p:cNvPicPr/>
          <p:nvPr/>
        </p:nvPicPr>
        <p:blipFill>
          <a:blip r:embed="rId10"/>
          <a:stretch/>
        </p:blipFill>
        <p:spPr>
          <a:xfrm>
            <a:off x="644652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31"/>
          <p:cNvSpPr/>
          <p:nvPr/>
        </p:nvSpPr>
        <p:spPr>
          <a:xfrm>
            <a:off x="5970960" y="233748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Collects signed receipt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from recipient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ight Arrow 32"/>
          <p:cNvSpPr/>
          <p:nvPr/>
        </p:nvSpPr>
        <p:spPr>
          <a:xfrm>
            <a:off x="5486400" y="197640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Picture 33" descr="allocation-engine.png"/>
          <p:cNvPicPr/>
          <p:nvPr/>
        </p:nvPicPr>
        <p:blipFill>
          <a:blip r:embed="rId11"/>
          <a:stretch/>
        </p:blipFill>
        <p:spPr>
          <a:xfrm>
            <a:off x="7955280" y="179784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34"/>
          <p:cNvSpPr/>
          <p:nvPr/>
        </p:nvSpPr>
        <p:spPr>
          <a:xfrm>
            <a:off x="7479720" y="233748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Returns signed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receipt to 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Arrow 35"/>
          <p:cNvSpPr/>
          <p:nvPr/>
        </p:nvSpPr>
        <p:spPr>
          <a:xfrm>
            <a:off x="6995160" y="197640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36"/>
          <p:cNvSpPr/>
          <p:nvPr/>
        </p:nvSpPr>
        <p:spPr>
          <a:xfrm>
            <a:off x="0" y="2836800"/>
            <a:ext cx="1416960" cy="1084320"/>
          </a:xfrm>
          <a:prstGeom prst="rect">
            <a:avLst/>
          </a:prstGeom>
          <a:solidFill>
            <a:srgbClr val="5370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7" name="Connector 37"/>
          <p:cNvCxnSpPr/>
          <p:nvPr/>
        </p:nvCxnSpPr>
        <p:spPr>
          <a:xfrm>
            <a:off x="1463040" y="283680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98" name="TextBox 38"/>
          <p:cNvSpPr/>
          <p:nvPr/>
        </p:nvSpPr>
        <p:spPr>
          <a:xfrm>
            <a:off x="45720" y="286452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Tender-File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Withdrawal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39" descr="business-clients.png"/>
          <p:cNvPicPr/>
          <p:nvPr/>
        </p:nvPicPr>
        <p:blipFill>
          <a:blip r:embed="rId12"/>
          <a:stretch/>
        </p:blipFill>
        <p:spPr>
          <a:xfrm>
            <a:off x="210888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40"/>
          <p:cNvSpPr/>
          <p:nvPr/>
        </p:nvSpPr>
        <p:spPr>
          <a:xfrm>
            <a:off x="1444680" y="3422160"/>
            <a:ext cx="18306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(corporate bidder)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41" descr="loading-truck.png"/>
          <p:cNvPicPr/>
          <p:nvPr/>
        </p:nvPicPr>
        <p:blipFill>
          <a:blip r:embed="rId13"/>
          <a:stretch/>
        </p:blipFill>
        <p:spPr>
          <a:xfrm>
            <a:off x="399492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42"/>
          <p:cNvSpPr/>
          <p:nvPr/>
        </p:nvSpPr>
        <p:spPr>
          <a:xfrm>
            <a:off x="3330720" y="3422160"/>
            <a:ext cx="18306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travels to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tender office (with payment)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ight Arrow 43"/>
          <p:cNvSpPr/>
          <p:nvPr/>
        </p:nvSpPr>
        <p:spPr>
          <a:xfrm>
            <a:off x="2657520" y="3061080"/>
            <a:ext cx="13186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44" descr="verify-clipboard.png"/>
          <p:cNvPicPr/>
          <p:nvPr/>
        </p:nvPicPr>
        <p:blipFill>
          <a:blip r:embed="rId14"/>
          <a:stretch/>
        </p:blipFill>
        <p:spPr>
          <a:xfrm>
            <a:off x="588060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45"/>
          <p:cNvSpPr/>
          <p:nvPr/>
        </p:nvSpPr>
        <p:spPr>
          <a:xfrm>
            <a:off x="5216760" y="3422160"/>
            <a:ext cx="18306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Pays fees +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collects tender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46"/>
          <p:cNvSpPr/>
          <p:nvPr/>
        </p:nvSpPr>
        <p:spPr>
          <a:xfrm>
            <a:off x="4543560" y="3061080"/>
            <a:ext cx="13186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47" descr="navigation-epod.png"/>
          <p:cNvPicPr/>
          <p:nvPr/>
        </p:nvPicPr>
        <p:blipFill>
          <a:blip r:embed="rId15"/>
          <a:stretch/>
        </p:blipFill>
        <p:spPr>
          <a:xfrm>
            <a:off x="7766640" y="288252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48"/>
          <p:cNvSpPr/>
          <p:nvPr/>
        </p:nvSpPr>
        <p:spPr>
          <a:xfrm>
            <a:off x="7102440" y="3422160"/>
            <a:ext cx="183060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Returns tender file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to sender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49"/>
          <p:cNvSpPr/>
          <p:nvPr/>
        </p:nvSpPr>
        <p:spPr>
          <a:xfrm>
            <a:off x="6429240" y="3061080"/>
            <a:ext cx="13186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50"/>
          <p:cNvSpPr/>
          <p:nvPr/>
        </p:nvSpPr>
        <p:spPr>
          <a:xfrm>
            <a:off x="0" y="3921480"/>
            <a:ext cx="1416960" cy="1084320"/>
          </a:xfrm>
          <a:prstGeom prst="rect">
            <a:avLst/>
          </a:prstGeom>
          <a:solidFill>
            <a:srgbClr val="6E8C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1" name="Connector 51"/>
          <p:cNvCxnSpPr/>
          <p:nvPr/>
        </p:nvCxnSpPr>
        <p:spPr>
          <a:xfrm>
            <a:off x="1463040" y="392148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12" name="TextBox 52"/>
          <p:cNvSpPr/>
          <p:nvPr/>
        </p:nvSpPr>
        <p:spPr>
          <a:xfrm>
            <a:off x="45720" y="3949200"/>
            <a:ext cx="1325520" cy="10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Submission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53" descr="business-clients.png"/>
          <p:cNvPicPr/>
          <p:nvPr/>
        </p:nvPicPr>
        <p:blipFill>
          <a:blip r:embed="rId16"/>
          <a:stretch/>
        </p:blipFill>
        <p:spPr>
          <a:xfrm>
            <a:off x="192024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54"/>
          <p:cNvSpPr/>
          <p:nvPr/>
        </p:nvSpPr>
        <p:spPr>
          <a:xfrm>
            <a:off x="1444680" y="450684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Sender (corporate)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with final deadline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55" descr="predicted-window.png"/>
          <p:cNvPicPr/>
          <p:nvPr/>
        </p:nvPicPr>
        <p:blipFill>
          <a:blip r:embed="rId17"/>
          <a:stretch/>
        </p:blipFill>
        <p:spPr>
          <a:xfrm>
            <a:off x="342900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56"/>
          <p:cNvSpPr/>
          <p:nvPr/>
        </p:nvSpPr>
        <p:spPr>
          <a:xfrm>
            <a:off x="2953440" y="450684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Feasibility check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vs transport SLA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ight Arrow 57"/>
          <p:cNvSpPr/>
          <p:nvPr/>
        </p:nvSpPr>
        <p:spPr>
          <a:xfrm>
            <a:off x="2468880" y="414576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58" descr="pickup-check.png"/>
          <p:cNvPicPr/>
          <p:nvPr/>
        </p:nvPicPr>
        <p:blipFill>
          <a:blip r:embed="rId18"/>
          <a:stretch/>
        </p:blipFill>
        <p:spPr>
          <a:xfrm>
            <a:off x="493776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59"/>
          <p:cNvSpPr/>
          <p:nvPr/>
        </p:nvSpPr>
        <p:spPr>
          <a:xfrm>
            <a:off x="4462200" y="450684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picks up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submission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ight Arrow 60"/>
          <p:cNvSpPr/>
          <p:nvPr/>
        </p:nvSpPr>
        <p:spPr>
          <a:xfrm>
            <a:off x="3977640" y="414576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61" descr="loading-truck.png"/>
          <p:cNvPicPr/>
          <p:nvPr/>
        </p:nvPicPr>
        <p:blipFill>
          <a:blip r:embed="rId19"/>
          <a:stretch/>
        </p:blipFill>
        <p:spPr>
          <a:xfrm>
            <a:off x="644652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2"/>
          <p:cNvSpPr/>
          <p:nvPr/>
        </p:nvSpPr>
        <p:spPr>
          <a:xfrm>
            <a:off x="5970960" y="450684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Inter-station /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transit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ight Arrow 63"/>
          <p:cNvSpPr/>
          <p:nvPr/>
        </p:nvSpPr>
        <p:spPr>
          <a:xfrm>
            <a:off x="5486400" y="414576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64" descr="navigation-epod.png"/>
          <p:cNvPicPr/>
          <p:nvPr/>
        </p:nvPicPr>
        <p:blipFill>
          <a:blip r:embed="rId20"/>
          <a:stretch/>
        </p:blipFill>
        <p:spPr>
          <a:xfrm>
            <a:off x="7955280" y="39672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65"/>
          <p:cNvSpPr/>
          <p:nvPr/>
        </p:nvSpPr>
        <p:spPr>
          <a:xfrm>
            <a:off x="7479720" y="4506840"/>
            <a:ext cx="145368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Delivers to recipient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before deadline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Arrow 66"/>
          <p:cNvSpPr/>
          <p:nvPr/>
        </p:nvSpPr>
        <p:spPr>
          <a:xfrm>
            <a:off x="6995160" y="4145760"/>
            <a:ext cx="94140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320040" y="182880"/>
            <a:ext cx="7360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Mapping &amp; Capability Enhancement with Shipsy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ight Arrow 2"/>
          <p:cNvSpPr/>
          <p:nvPr/>
        </p:nvSpPr>
        <p:spPr>
          <a:xfrm>
            <a:off x="7818120" y="255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8138160" y="23760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Shipsy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4"/>
          <p:cNvSpPr/>
          <p:nvPr/>
        </p:nvSpPr>
        <p:spPr>
          <a:xfrm>
            <a:off x="320040" y="640080"/>
            <a:ext cx="8503560" cy="180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5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Process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7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 Is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9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To-Be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1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3"/>
          <p:cNvSpPr/>
          <p:nvPr/>
        </p:nvSpPr>
        <p:spPr>
          <a:xfrm>
            <a:off x="274320" y="1188720"/>
            <a:ext cx="1416960" cy="94248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274320" y="1188720"/>
            <a:ext cx="14169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Standard B2B Delivery — Movement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5"/>
          <p:cNvSpPr/>
          <p:nvPr/>
        </p:nvSpPr>
        <p:spPr>
          <a:xfrm>
            <a:off x="1691640" y="118872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1691640" y="118872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parcels move on the same network as B2C with no strong differentiator (§14.3)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ePOD discipline varies across consignees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7"/>
          <p:cNvSpPr/>
          <p:nvPr/>
        </p:nvSpPr>
        <p:spPr>
          <a:xfrm>
            <a:off x="4084200" y="118872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4084200" y="118872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→ courier pickup → inter-station / CTR transit → recipient delivery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ePOD captured at delivery — signature / photo / OTP (§13)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identifier visible at every scan and on labels / bordereaux (§11)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9"/>
          <p:cNvSpPr/>
          <p:nvPr/>
        </p:nvSpPr>
        <p:spPr>
          <a:xfrm>
            <a:off x="6477120" y="118872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6477120" y="118872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Single tracked movement chain from sender to recipient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B2B parcels distinguishable from B2C across the network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1"/>
          <p:cNvSpPr/>
          <p:nvPr/>
        </p:nvSpPr>
        <p:spPr>
          <a:xfrm>
            <a:off x="274320" y="2131560"/>
            <a:ext cx="1416960" cy="94248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2"/>
          <p:cNvSpPr/>
          <p:nvPr/>
        </p:nvSpPr>
        <p:spPr>
          <a:xfrm>
            <a:off x="274320" y="2131560"/>
            <a:ext cx="14169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Acknowledgment Receipt — Linked-Tracking Movement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3"/>
          <p:cNvSpPr/>
          <p:nvPr/>
        </p:nvSpPr>
        <p:spPr>
          <a:xfrm>
            <a:off x="1691640" y="213156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4"/>
          <p:cNvSpPr/>
          <p:nvPr/>
        </p:nvSpPr>
        <p:spPr>
          <a:xfrm>
            <a:off x="1691640" y="21315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return triggered manually after outbound delivery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Two trackings (outbound + AR) often kept off-system (§9.2)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25"/>
          <p:cNvSpPr/>
          <p:nvPr/>
        </p:nvSpPr>
        <p:spPr>
          <a:xfrm>
            <a:off x="4084200" y="213156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6"/>
          <p:cNvSpPr/>
          <p:nvPr/>
        </p:nvSpPr>
        <p:spPr>
          <a:xfrm>
            <a:off x="4084200" y="21315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→ courier pickup → delivers to recipient → collects signed receipt → returns to sender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Outbound + AR linked at create time (§9.2)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On outbound delivery, AR tracking auto-enters reverse-flow lifecycle (§14.3)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27"/>
          <p:cNvSpPr/>
          <p:nvPr/>
        </p:nvSpPr>
        <p:spPr>
          <a:xfrm>
            <a:off x="6477120" y="213156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8"/>
          <p:cNvSpPr/>
          <p:nvPr/>
        </p:nvSpPr>
        <p:spPr>
          <a:xfrm>
            <a:off x="6477120" y="21315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return lifecycle never lost or unlinked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AR turnaround measurable end-to-end (§15)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sees the signed receipt come back as a tracked movement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9"/>
          <p:cNvSpPr/>
          <p:nvPr/>
        </p:nvSpPr>
        <p:spPr>
          <a:xfrm>
            <a:off x="274320" y="3074760"/>
            <a:ext cx="1416960" cy="94248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30"/>
          <p:cNvSpPr/>
          <p:nvPr/>
        </p:nvSpPr>
        <p:spPr>
          <a:xfrm>
            <a:off x="274320" y="3074760"/>
            <a:ext cx="14169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Tender-File Withdrawal — Money Transport Movement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1"/>
          <p:cNvSpPr/>
          <p:nvPr/>
        </p:nvSpPr>
        <p:spPr>
          <a:xfrm>
            <a:off x="1691640" y="307476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32"/>
          <p:cNvSpPr/>
          <p:nvPr/>
        </p:nvSpPr>
        <p:spPr>
          <a:xfrm>
            <a:off x="1691640" y="30747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Tender-file withdrawal handled outside the parcel system (paper + cash)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Money transport leg has no system trace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3"/>
          <p:cNvSpPr/>
          <p:nvPr/>
        </p:nvSpPr>
        <p:spPr>
          <a:xfrm>
            <a:off x="4084200" y="307476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4"/>
          <p:cNvSpPr/>
          <p:nvPr/>
        </p:nvSpPr>
        <p:spPr>
          <a:xfrm>
            <a:off x="4084200" y="30747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request → courier travels to tender office with payment → pays fees + collects tender file → returns to sender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Linked outbound / inbound handling with business documents + money transport (§14.3)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Trip object holds documents + money transport proof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5"/>
          <p:cNvSpPr/>
          <p:nvPr/>
        </p:nvSpPr>
        <p:spPr>
          <a:xfrm>
            <a:off x="6477120" y="3074760"/>
            <a:ext cx="2392200" cy="942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36"/>
          <p:cNvSpPr/>
          <p:nvPr/>
        </p:nvSpPr>
        <p:spPr>
          <a:xfrm>
            <a:off x="6477120" y="307476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Tender withdrawal fully traceable end-to-end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Money-transport leg visible to operations and finance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Audit-ready evidence for every tender movement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7"/>
          <p:cNvSpPr/>
          <p:nvPr/>
        </p:nvSpPr>
        <p:spPr>
          <a:xfrm>
            <a:off x="274320" y="4017600"/>
            <a:ext cx="1416960" cy="94248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38"/>
          <p:cNvSpPr/>
          <p:nvPr/>
        </p:nvSpPr>
        <p:spPr>
          <a:xfrm>
            <a:off x="274320" y="4017600"/>
            <a:ext cx="14169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Submission — Deadline-Bound Movement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9"/>
          <p:cNvSpPr/>
          <p:nvPr/>
        </p:nvSpPr>
        <p:spPr>
          <a:xfrm>
            <a:off x="1691640" y="401760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40"/>
          <p:cNvSpPr/>
          <p:nvPr/>
        </p:nvSpPr>
        <p:spPr>
          <a:xfrm>
            <a:off x="1691640" y="401760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deadlines captured manually, no feasibility check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Late submissions only known after the fact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1"/>
          <p:cNvSpPr/>
          <p:nvPr/>
        </p:nvSpPr>
        <p:spPr>
          <a:xfrm>
            <a:off x="4084200" y="401760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42"/>
          <p:cNvSpPr/>
          <p:nvPr/>
        </p:nvSpPr>
        <p:spPr>
          <a:xfrm>
            <a:off x="4084200" y="401760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Sender (with final deadline) → feasibility check vs SLA → courier pickup → CTR transit → delivers before deadline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flow forces capture of final deadline (§14.3)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System warns operator if SLA is not feasible at order creation (§14.3)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43"/>
          <p:cNvSpPr/>
          <p:nvPr/>
        </p:nvSpPr>
        <p:spPr>
          <a:xfrm>
            <a:off x="6477120" y="4017600"/>
            <a:ext cx="2392200" cy="94248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4"/>
          <p:cNvSpPr/>
          <p:nvPr/>
        </p:nvSpPr>
        <p:spPr>
          <a:xfrm>
            <a:off x="6477120" y="4017600"/>
            <a:ext cx="2392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Late submissions caught at order creation, not after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Submission compliance measurable as a first-class KPI (§15)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Couriers run the trip with deadline visibility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365760" y="1371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Use Cases · AgentFleet for Anderson Logistics — B2B Movements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365760" y="53028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Shipsy AI capabilities mapped to your specific operational scenarios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4"/>
          <p:cNvSpPr/>
          <p:nvPr/>
        </p:nvSpPr>
        <p:spPr>
          <a:xfrm>
            <a:off x="36576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36576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ounded Rectangle 6"/>
          <p:cNvSpPr/>
          <p:nvPr/>
        </p:nvSpPr>
        <p:spPr>
          <a:xfrm>
            <a:off x="210924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53028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Linked-Tracking Engine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53028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AR + Tender Reverse Flow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9"/>
          <p:cNvSpPr/>
          <p:nvPr/>
        </p:nvSpPr>
        <p:spPr>
          <a:xfrm>
            <a:off x="53028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53028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Outbound and acknowledgment trackings linked at create time. On outbound delivery, the AR tracking automatically enters the reverse-flow lifecycle. Tender-file withdrawal uses the same linked outbound / inbound model for documents + money transport.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1"/>
          <p:cNvSpPr/>
          <p:nvPr/>
        </p:nvSpPr>
        <p:spPr>
          <a:xfrm>
            <a:off x="326124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12"/>
          <p:cNvSpPr/>
          <p:nvPr/>
        </p:nvSpPr>
        <p:spPr>
          <a:xfrm>
            <a:off x="326124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ounded Rectangle 13"/>
          <p:cNvSpPr/>
          <p:nvPr/>
        </p:nvSpPr>
        <p:spPr>
          <a:xfrm>
            <a:off x="500472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342612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Submission Feasibility Check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342612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Deadline vs Transport SLA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6"/>
          <p:cNvSpPr/>
          <p:nvPr/>
        </p:nvSpPr>
        <p:spPr>
          <a:xfrm>
            <a:off x="342612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17"/>
          <p:cNvSpPr/>
          <p:nvPr/>
        </p:nvSpPr>
        <p:spPr>
          <a:xfrm>
            <a:off x="342612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submission creation, system captures the final delivery deadline and runs feasibility check against transport delays. Operator warned at create time if the SLA cannot be met. (§9.2, 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18"/>
          <p:cNvSpPr/>
          <p:nvPr/>
        </p:nvSpPr>
        <p:spPr>
          <a:xfrm>
            <a:off x="615708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9"/>
          <p:cNvSpPr/>
          <p:nvPr/>
        </p:nvSpPr>
        <p:spPr>
          <a:xfrm>
            <a:off x="615708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ounded Rectangle 20"/>
          <p:cNvSpPr/>
          <p:nvPr/>
        </p:nvSpPr>
        <p:spPr>
          <a:xfrm>
            <a:off x="790056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632160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Money-Transport Leg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632160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Tender Withdrawal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3"/>
          <p:cNvSpPr/>
          <p:nvPr/>
        </p:nvSpPr>
        <p:spPr>
          <a:xfrm>
            <a:off x="632160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632160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Tender-file withdrawal trips capture both business documents and money transport on the same trip object — courier carries payment to the tender office, collects the tender file, and returns to the corporate sender. (§14.3)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25"/>
          <p:cNvSpPr/>
          <p:nvPr/>
        </p:nvSpPr>
        <p:spPr>
          <a:xfrm>
            <a:off x="36576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6"/>
          <p:cNvSpPr/>
          <p:nvPr/>
        </p:nvSpPr>
        <p:spPr>
          <a:xfrm>
            <a:off x="36576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ounded Rectangle 27"/>
          <p:cNvSpPr/>
          <p:nvPr/>
        </p:nvSpPr>
        <p:spPr>
          <a:xfrm>
            <a:off x="210924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53028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B2B Movement Tracker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9"/>
          <p:cNvSpPr/>
          <p:nvPr/>
        </p:nvSpPr>
        <p:spPr>
          <a:xfrm>
            <a:off x="53028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Operation-Type Stats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30"/>
          <p:cNvSpPr/>
          <p:nvPr/>
        </p:nvSpPr>
        <p:spPr>
          <a:xfrm>
            <a:off x="53028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31"/>
          <p:cNvSpPr/>
          <p:nvPr/>
        </p:nvSpPr>
        <p:spPr>
          <a:xfrm>
            <a:off x="53028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B2B statistics by operation type (Standard Delivery / AR / Tender Withdrawal / Submission) — volume, on-time rate, AR return turnaround, submission compliance. Filterable by station, CTR, courier, shipper. (§15)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2"/>
          <p:cNvSpPr/>
          <p:nvPr/>
        </p:nvSpPr>
        <p:spPr>
          <a:xfrm>
            <a:off x="0" y="4851000"/>
            <a:ext cx="9143640" cy="292320"/>
          </a:xfrm>
          <a:prstGeom prst="rect">
            <a:avLst/>
          </a:prstGeom>
          <a:solidFill>
            <a:srgbClr val="4FB0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33"/>
          <p:cNvSpPr/>
          <p:nvPr/>
        </p:nvSpPr>
        <p:spPr>
          <a:xfrm>
            <a:off x="365760" y="48693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Anderson Logistics — B2B Movements · Parcel &amp; document logistics — Corporate / B2B operation types (per FRS §14.3) · AI Use Cases · Shipsy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