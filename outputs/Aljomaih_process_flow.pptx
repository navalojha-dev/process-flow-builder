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Process Flow with Shipsy</a:t>
            </a:r>
          </a:p>
        </p:txBody>
      </p:sp>
      <p:pic>
        <p:nvPicPr>
          <p:cNvPr id="3" name="Picture 2" descr="shipsy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64592"/>
            <a:ext cx="69991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7512"/>
            <a:ext cx="1417320" cy="61983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" y="694944"/>
            <a:ext cx="1325880" cy="5649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Order Creation and First Mile planning</a:t>
            </a:r>
          </a:p>
        </p:txBody>
      </p:sp>
      <p:pic>
        <p:nvPicPr>
          <p:cNvPr id="6" name="Picture 5" descr="business-cl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455" y="713232"/>
            <a:ext cx="260329" cy="2603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4752" y="1010137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Business Clients</a:t>
            </a:r>
          </a:p>
        </p:txBody>
      </p:sp>
      <p:pic>
        <p:nvPicPr>
          <p:cNvPr id="8" name="Picture 7" descr="erp-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055" y="713232"/>
            <a:ext cx="260329" cy="2603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59352" y="1010137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Oracle EBS / Sales Channels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50504" y="770244"/>
            <a:ext cx="21902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llocation-eng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3655" y="713232"/>
            <a:ext cx="260329" cy="2603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73952" y="1010137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Auto-Routing: Territory + Next-Day Plan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365104" y="770244"/>
            <a:ext cx="21902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287344"/>
            <a:ext cx="1417320" cy="619832"/>
          </a:xfrm>
          <a:prstGeom prst="rect">
            <a:avLst/>
          </a:prstGeom>
          <a:solidFill>
            <a:srgbClr val="2C4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463040" y="1287344.5714285714"/>
            <a:ext cx="7498080" cy="0.0"/>
          </a:xfrm>
          <a:prstGeom prst="line">
            <a:avLst/>
          </a:prstGeom>
          <a:ln w="6350">
            <a:solidFill>
              <a:srgbClr val="D9DF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" y="1314776"/>
            <a:ext cx="1325880" cy="5649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First Mile Journey and Hub Activities</a:t>
            </a:r>
          </a:p>
        </p:txBody>
      </p:sp>
      <p:pic>
        <p:nvPicPr>
          <p:cNvPr id="17" name="Picture 16" descr="visibility-clip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1535" y="1333064"/>
            <a:ext cx="260329" cy="26032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44752" y="1629970"/>
            <a:ext cx="145389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Visibility of pre-seller territory tasks</a:t>
            </a:r>
          </a:p>
        </p:txBody>
      </p:sp>
      <p:pic>
        <p:nvPicPr>
          <p:cNvPr id="19" name="Picture 18" descr="navigation-epo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0295" y="1333064"/>
            <a:ext cx="260329" cy="26032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53512" y="1629970"/>
            <a:ext cx="145389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Navigation to next customer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347584" y="1390077"/>
            <a:ext cx="118442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ickup-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9055" y="1333064"/>
            <a:ext cx="260329" cy="26032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462272" y="1629970"/>
            <a:ext cx="145389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Order capture in handheld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856344" y="1390077"/>
            <a:ext cx="118442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redicted-windo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7815" y="1333064"/>
            <a:ext cx="260329" cy="26032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971032" y="1629970"/>
            <a:ext cx="145389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Service time tracked per customer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365104" y="1390077"/>
            <a:ext cx="118442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verify-clipbo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6575" y="1333064"/>
            <a:ext cx="260329" cy="26032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79792" y="1629970"/>
            <a:ext cx="145389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Order sync to Oracle EBS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873864" y="1390077"/>
            <a:ext cx="118442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1907177"/>
            <a:ext cx="1417320" cy="619832"/>
          </a:xfrm>
          <a:prstGeom prst="rect">
            <a:avLst/>
          </a:prstGeom>
          <a:solidFill>
            <a:srgbClr val="395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1463040" y="1907177.142857143"/>
            <a:ext cx="7498080" cy="0.0"/>
          </a:xfrm>
          <a:prstGeom prst="line">
            <a:avLst/>
          </a:prstGeom>
          <a:ln w="6350">
            <a:solidFill>
              <a:srgbClr val="D9DF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" y="1934609"/>
            <a:ext cx="1325880" cy="5649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Middle Mile Journey · Plan + Warehouse</a:t>
            </a:r>
          </a:p>
        </p:txBody>
      </p:sp>
      <p:pic>
        <p:nvPicPr>
          <p:cNvPr id="34" name="Picture 33" descr="erp-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1535" y="1952897"/>
            <a:ext cx="260329" cy="26032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444752" y="2249802"/>
            <a:ext cx="145389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Orders ingested from Oracle EBS</a:t>
            </a:r>
          </a:p>
        </p:txBody>
      </p:sp>
      <p:pic>
        <p:nvPicPr>
          <p:cNvPr id="36" name="Picture 35" descr="allocation-eng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0295" y="1952897"/>
            <a:ext cx="260329" cy="26032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953512" y="2249802"/>
            <a:ext cx="145389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Routing engine: 200+ constraints (Ramadan / school / cameras)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2347584" y="2009909"/>
            <a:ext cx="118442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load-balanc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59055" y="1952897"/>
            <a:ext cx="260329" cy="26032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462272" y="2249802"/>
            <a:ext cx="145389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Truck + bay-capacity matching (4 / 6 / 10-bay)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3856344" y="2009909"/>
            <a:ext cx="118442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loading-truc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7815" y="1952897"/>
            <a:ext cx="260329" cy="26032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971032" y="2249802"/>
            <a:ext cx="145389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Warehouse picking + loading per route plan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5365104" y="2009909"/>
            <a:ext cx="118442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verify-clipbo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6575" y="1952897"/>
            <a:ext cx="260329" cy="26032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479792" y="2249802"/>
            <a:ext cx="145389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MoT waybill + wave dispatch (5 AM / 7 AM)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873864" y="2009909"/>
            <a:ext cx="118442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2527009"/>
            <a:ext cx="1417320" cy="619832"/>
          </a:xfrm>
          <a:prstGeom prst="rect">
            <a:avLst/>
          </a:prstGeom>
          <a:solidFill>
            <a:srgbClr val="466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463040" y="2527009.7142857146"/>
            <a:ext cx="7498080" cy="0.0"/>
          </a:xfrm>
          <a:prstGeom prst="line">
            <a:avLst/>
          </a:prstGeom>
          <a:ln w="6350">
            <a:solidFill>
              <a:srgbClr val="D9DF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5720" y="2554441"/>
            <a:ext cx="1325880" cy="5649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Last Mile Operations</a:t>
            </a:r>
          </a:p>
        </p:txBody>
      </p:sp>
      <p:pic>
        <p:nvPicPr>
          <p:cNvPr id="51" name="Picture 50" descr="driver-assignmen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15805" y="2572729"/>
            <a:ext cx="260329" cy="26032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444752" y="2869635"/>
            <a:ext cx="12024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Dynamic Planning of Last Mile Orders</a:t>
            </a:r>
          </a:p>
        </p:txBody>
      </p:sp>
      <p:pic>
        <p:nvPicPr>
          <p:cNvPr id="53" name="Picture 52" descr="cluster-sequenc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73105" y="2572729"/>
            <a:ext cx="260329" cy="26032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702052" y="2869635"/>
            <a:ext cx="12024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Cluster sequence Selection and loading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2221854" y="2629742"/>
            <a:ext cx="9329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mobile-app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0405" y="2572729"/>
            <a:ext cx="260329" cy="26032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3959352" y="2869635"/>
            <a:ext cx="12024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Visibility in mobile app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3479154" y="2629742"/>
            <a:ext cx="9329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navigation-epo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7705" y="2572729"/>
            <a:ext cx="260329" cy="26032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216652" y="2869635"/>
            <a:ext cx="12024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Navigation and ePOD capture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4736454" y="2629742"/>
            <a:ext cx="9329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predicted-windo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5005" y="2572729"/>
            <a:ext cx="260329" cy="26032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473952" y="2869635"/>
            <a:ext cx="12024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Service time at hyper / super (1-3 hr)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5993754" y="2629742"/>
            <a:ext cx="9329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erp-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305" y="2572729"/>
            <a:ext cx="260329" cy="260329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7731252" y="2869635"/>
            <a:ext cx="12024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Tracing details captured in Shipsy sent back to Oracle EBS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7251054" y="2629742"/>
            <a:ext cx="9329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0" y="3146842"/>
            <a:ext cx="1417320" cy="619832"/>
          </a:xfrm>
          <a:prstGeom prst="rect">
            <a:avLst/>
          </a:prstGeom>
          <a:solidFill>
            <a:srgbClr val="537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1463040" y="3146842.285714286"/>
            <a:ext cx="7498080" cy="0.0"/>
          </a:xfrm>
          <a:prstGeom prst="line">
            <a:avLst/>
          </a:prstGeom>
          <a:ln w="6350">
            <a:solidFill>
              <a:srgbClr val="D9DF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5720" y="3174274"/>
            <a:ext cx="1325880" cy="5649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Customer Communication</a:t>
            </a:r>
          </a:p>
        </p:txBody>
      </p:sp>
      <p:pic>
        <p:nvPicPr>
          <p:cNvPr id="71" name="Picture 70" descr="comm-st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30130" y="3192562"/>
            <a:ext cx="260329" cy="260329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444752" y="3489467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Configurable stage wise communication</a:t>
            </a:r>
          </a:p>
        </p:txBody>
      </p:sp>
      <p:pic>
        <p:nvPicPr>
          <p:cNvPr id="73" name="Picture 72" descr="live-tracking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16080" y="3192562"/>
            <a:ext cx="260329" cy="260329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3330702" y="3489467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Live tracking + ETA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2536179" y="3249575"/>
            <a:ext cx="156161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predicted-windo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2030" y="3192562"/>
            <a:ext cx="260329" cy="260329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5216652" y="3489467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Sharp predicted receiving window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4422129" y="3249575"/>
            <a:ext cx="156161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geofence-validation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87980" y="3192562"/>
            <a:ext cx="260329" cy="260329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7102602" y="3489467"/>
            <a:ext cx="183108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geofence based delivery validation</a:t>
            </a:r>
          </a:p>
        </p:txBody>
      </p:sp>
      <p:sp>
        <p:nvSpPr>
          <p:cNvPr id="81" name="Right Arrow 80"/>
          <p:cNvSpPr/>
          <p:nvPr/>
        </p:nvSpPr>
        <p:spPr>
          <a:xfrm>
            <a:off x="6308079" y="3249575"/>
            <a:ext cx="156161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0" y="3766674"/>
            <a:ext cx="1417320" cy="619832"/>
          </a:xfrm>
          <a:prstGeom prst="rect">
            <a:avLst/>
          </a:prstGeom>
          <a:solidFill>
            <a:srgbClr val="607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1463040" y="3766674.8571428573"/>
            <a:ext cx="7498080" cy="0.0"/>
          </a:xfrm>
          <a:prstGeom prst="line">
            <a:avLst/>
          </a:prstGeom>
          <a:ln w="6350">
            <a:solidFill>
              <a:srgbClr val="D9DF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45720" y="3794106"/>
            <a:ext cx="1325880" cy="5649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Finance Operations</a:t>
            </a:r>
          </a:p>
        </p:txBody>
      </p:sp>
      <p:pic>
        <p:nvPicPr>
          <p:cNvPr id="85" name="Picture 84" descr="verify-clipbo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4455" y="3812394"/>
            <a:ext cx="260329" cy="260329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444752" y="4109300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Truck operating cost tracking</a:t>
            </a:r>
          </a:p>
        </p:txBody>
      </p:sp>
      <p:pic>
        <p:nvPicPr>
          <p:cNvPr id="87" name="Picture 86" descr="verify-clipbo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9055" y="3812394"/>
            <a:ext cx="260329" cy="260329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3959352" y="4109300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Sub-contractor rate contracts &amp; payouts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2850504" y="3869407"/>
            <a:ext cx="21902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dashboard-comparison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73655" y="3812394"/>
            <a:ext cx="260329" cy="260329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473952" y="4109300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Plan vs actual cost reconciliation</a:t>
            </a:r>
          </a:p>
        </p:txBody>
      </p:sp>
      <p:sp>
        <p:nvSpPr>
          <p:cNvPr id="92" name="Right Arrow 91"/>
          <p:cNvSpPr/>
          <p:nvPr/>
        </p:nvSpPr>
        <p:spPr>
          <a:xfrm>
            <a:off x="5365104" y="3869407"/>
            <a:ext cx="21902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0" y="4386507"/>
            <a:ext cx="1417320" cy="619832"/>
          </a:xfrm>
          <a:prstGeom prst="rect">
            <a:avLst/>
          </a:prstGeom>
          <a:solidFill>
            <a:srgbClr val="6E8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1463040" y="4386507.428571429"/>
            <a:ext cx="7498080" cy="0.0"/>
          </a:xfrm>
          <a:prstGeom prst="line">
            <a:avLst/>
          </a:prstGeom>
          <a:ln w="6350">
            <a:solidFill>
              <a:srgbClr val="D9DF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45720" y="4413939"/>
            <a:ext cx="1325880" cy="564968"/>
          </a:xfrm>
          <a:prstGeom prst="rect">
            <a:avLst/>
          </a:prstGeom>
          <a:noFill/>
        </p:spPr>
        <p:txBody>
          <a:bodyPr wrap="square" anchor="ctr" lIns="36576" rIns="36576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Analytics &amp; Reporting</a:t>
            </a:r>
          </a:p>
        </p:txBody>
      </p:sp>
      <p:pic>
        <p:nvPicPr>
          <p:cNvPr id="96" name="Picture 95" descr="dashboard-comparison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44455" y="4432227"/>
            <a:ext cx="260329" cy="260329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444752" y="4729133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Truck productivity (cases/truck/day)</a:t>
            </a:r>
          </a:p>
        </p:txBody>
      </p:sp>
      <p:pic>
        <p:nvPicPr>
          <p:cNvPr id="98" name="Picture 97" descr="dashboard-comparison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59055" y="4432227"/>
            <a:ext cx="260329" cy="260329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3959352" y="4729133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Plan vs actual + DC plan-time tracking</a:t>
            </a:r>
          </a:p>
        </p:txBody>
      </p:sp>
      <p:sp>
        <p:nvSpPr>
          <p:cNvPr id="100" name="Right Arrow 99"/>
          <p:cNvSpPr/>
          <p:nvPr/>
        </p:nvSpPr>
        <p:spPr>
          <a:xfrm>
            <a:off x="2850504" y="4489240"/>
            <a:ext cx="21902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Picture 100" descr="alerts-warning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73655" y="4432227"/>
            <a:ext cx="260329" cy="260329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6473952" y="4729133"/>
            <a:ext cx="2459736" cy="258918"/>
          </a:xfrm>
          <a:prstGeom prst="rect">
            <a:avLst/>
          </a:prstGeom>
          <a:noFill/>
        </p:spPr>
        <p:txBody>
          <a:bodyPr wrap="square" anchor="t" tIns="0" lIns="18288" rIns="18288">
            <a:spAutoFit/>
          </a:bodyPr>
          <a:lstStyle/>
          <a:p>
            <a:pPr algn="ctr"/>
            <a:r>
              <a:rPr sz="800">
                <a:solidFill>
                  <a:srgbClr val="222222"/>
                </a:solidFill>
              </a:rPr>
              <a:t>Driver / dispatcher / planner performance</a:t>
            </a:r>
          </a:p>
        </p:txBody>
      </p:sp>
      <p:sp>
        <p:nvSpPr>
          <p:cNvPr id="103" name="Right Arrow 102"/>
          <p:cNvSpPr/>
          <p:nvPr/>
        </p:nvSpPr>
        <p:spPr>
          <a:xfrm>
            <a:off x="5365104" y="4489240"/>
            <a:ext cx="2190262" cy="146304"/>
          </a:xfrm>
          <a:prstGeom prst="rightArrow">
            <a:avLst/>
          </a:prstGeom>
          <a:solidFill>
            <a:srgbClr val="9EA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82880"/>
            <a:ext cx="7360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Process Mapping &amp; Capability Enhancement with Shipsy</a:t>
            </a:r>
          </a:p>
        </p:txBody>
      </p:sp>
      <p:sp>
        <p:nvSpPr>
          <p:cNvPr id="3" name="Right Arrow 2"/>
          <p:cNvSpPr/>
          <p:nvPr/>
        </p:nvSpPr>
        <p:spPr>
          <a:xfrm>
            <a:off x="7818120" y="256032"/>
            <a:ext cx="274320" cy="256032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A5F"/>
                </a:solidFill>
              </a:rPr>
              <a:t>Shipsy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640080"/>
            <a:ext cx="85039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804672"/>
            <a:ext cx="1417320" cy="384048"/>
          </a:xfrm>
          <a:prstGeom prst="rect">
            <a:avLst/>
          </a:prstGeom>
          <a:solidFill>
            <a:srgbClr val="2A2A2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04672"/>
            <a:ext cx="141732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Business Process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804672"/>
            <a:ext cx="2392680" cy="384048"/>
          </a:xfrm>
          <a:prstGeom prst="rect">
            <a:avLst/>
          </a:prstGeom>
          <a:solidFill>
            <a:srgbClr val="A9372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804672"/>
            <a:ext cx="23926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As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84320" y="804672"/>
            <a:ext cx="2392680" cy="384048"/>
          </a:xfrm>
          <a:prstGeom prst="rect">
            <a:avLst/>
          </a:prstGeom>
          <a:solidFill>
            <a:srgbClr val="2C496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4320" y="804672"/>
            <a:ext cx="23926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To-Be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77000" y="804672"/>
            <a:ext cx="2392680" cy="384048"/>
          </a:xfrm>
          <a:prstGeom prst="rect">
            <a:avLst/>
          </a:prstGeom>
          <a:solidFill>
            <a:srgbClr val="599C3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7000" y="804672"/>
            <a:ext cx="239268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188720"/>
            <a:ext cx="1417320" cy="62865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188720"/>
            <a:ext cx="1417320" cy="62865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1F3A5F"/>
                </a:solidFill>
              </a:rPr>
              <a:t>Territory Planning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11887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11887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Monthly + ad-hoc rerouting in Roadnet (remote-desktop dependency)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Customer master / admin regions maintained inside Roadnet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Service time data sits in offline time-motion studies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New customers / changes don't auto-flow into Roadnet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84320" y="11887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84320" y="11887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Cloud-native Shipsy Territory Optimizer with 250 + 120 territories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Customer master synced from Oracle EBS + CRM in real time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Service-time per customer learned from pre-sales + delivery history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One-click territory rebuilds — monthly cycle + ad-hoc on demand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77000" y="11887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0" y="11887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Faster territory rebuilds; ad-hoc changes reflected same day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Service-time accuracy improves planning quality across the fleet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Roadnet remote-desktop dependency removed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817370"/>
            <a:ext cx="1417320" cy="62865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1817370"/>
            <a:ext cx="1417320" cy="62865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1F3A5F"/>
                </a:solidFill>
              </a:rPr>
              <a:t>Order Capture (Pre-Sales)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18173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18173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Pre-sellers visit, capture orders in handhelds, sync to Oracle EBS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No live visibility on pre-seller territory adherence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Service-time data captured manually, not fed back into routing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84320" y="18173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84320" y="18173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Live tracking of pre-sellers across all 370+ territories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Configurable territory tasks + auto-sequencing per pre-seller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Service-time auto-logged per customer and recycled into routing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7000" y="18173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7000" y="18173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Higher pre-seller productivity; weak territories surfaced early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Continuous learning loop between pre-sales and delivery routing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446020"/>
            <a:ext cx="1417320" cy="62865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446020"/>
            <a:ext cx="1417320" cy="62865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1F3A5F"/>
                </a:solidFill>
              </a:rPr>
              <a:t>Delivery Plan Optimization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91640" y="24460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91640" y="24460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12 planners + dispatchers spending 3-4 hrs/day in Roadnet per DC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Excel macro for order selection / holds / returns, then re-imported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Road restrictions (Ramadan / school / cameras) hard to configure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Dynamic routing limits at fleet scale (450 trucks)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84320" y="24460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84320" y="24460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Shipsy Routing Engine: 200+ constraints incl. Ramadan / school / camera time-windows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Native handling of order selection / holds / returns (no Excel macro)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Truck-bay matching (4 / 6 / 10-bay) and capacity rules in-system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Dynamic + AI-assisted re-routing at 19-DC fleet scale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7000" y="24460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7000" y="24460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Planner effort drops sharply (3-4 hrs → ~1 hr per DC)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Trucks/day reduce (target 200 → 180-190) at same SLA window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Roadnet sunset; Excel-macro workaround eliminated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074670"/>
            <a:ext cx="1417320" cy="62865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3074670"/>
            <a:ext cx="1417320" cy="62865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1F3A5F"/>
                </a:solidFill>
              </a:rPr>
              <a:t>Master Data + Integrations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91640" y="30746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91640" y="30746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Customer / driver / truck / pallet-capacity masters in Roadnet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Integrations to Oracle EBS, CRM, ISIL, Salesforce automation are partial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Master changes propagate manually across systems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84320" y="30746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84320" y="30746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Unified master data in Shipsy with native sync to Oracle EBS / CRM / ISIL / Salesforce automation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Trip + plan data flows bi-directionally without manual hops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MoT waybill portal integration auto-generates KSA waybills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77000" y="30746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7000" y="30746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Single source of truth for masters; no duplicate upkeep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Paper waybill steps removed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Integration touchpoints clean and observable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703320"/>
            <a:ext cx="1417320" cy="62865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3703320"/>
            <a:ext cx="1417320" cy="62865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1F3A5F"/>
                </a:solidFill>
              </a:rPr>
              <a:t>Driver Execution + Dispatch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91640" y="37033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91640" y="37033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Trips hop from Roadnet → Oracle EBS → Salesforce handhelds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Wave dispatch (5 AM / 7 AM) coordinated manually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Hyper / super service time (1-3 hr) not visible to dispatch in real time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84320" y="37033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84320" y="37033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Shipsy Driver App OR integration to Salesforce handhelds (TBD per IT)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Wave dispatch automated with truck-on-map and ETA visibility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Service time logged in-app at delivery; feeds future routing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77000" y="3703320"/>
            <a:ext cx="2392680" cy="62865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77000" y="370332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Fewer system hops; cleaner dispatch handoff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Live visibility from depot to store doorstep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Receiving-window adherence (06:30 - 12:30) measurable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331970"/>
            <a:ext cx="1417320" cy="62865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4331970"/>
            <a:ext cx="1417320" cy="62865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1F3A5F"/>
                </a:solidFill>
              </a:rPr>
              <a:t>Dashboards + Performance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691640" y="43319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91640" y="43319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No DC plan-time tracking — managers can't see why a plan was delayed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Truck productivity (cases/truck/day) reported manually, lagged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Planner / dispatcher / driver KPIs scattered across systems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84320" y="43319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84320" y="43319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ShipsyBI dashboards: truck productivity (cases/truck/day), DC plan time, planner performance, dispatcher activity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Live exception view of at-risk trips and slot misses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Drill-down: 'DC X made the plan in N minutes — root cause if delayed'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77000" y="4331970"/>
            <a:ext cx="2392680" cy="62865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77000" y="4331970"/>
            <a:ext cx="2392680" cy="62865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>
                <a:solidFill>
                  <a:srgbClr val="222222"/>
                </a:solidFill>
              </a:rPr>
              <a:t>• Management gets one screen for end-to-end performance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Continuous improvement loop on truck productivity and plan time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222222"/>
                </a:solidFill>
              </a:rPr>
              <a:t>• Trucks/day reduction target trackable in real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AI Use Cases · AgentFleet for Aljomaih · Pepsi KSA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3035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CCDDEE"/>
                </a:solidFill>
              </a:rPr>
              <a:t>Shipsy AI capabilities mapped to your specific operational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78992"/>
            <a:ext cx="2621280" cy="1689354"/>
          </a:xfrm>
          <a:prstGeom prst="roundRect">
            <a:avLst/>
          </a:prstGeom>
          <a:solidFill>
            <a:srgbClr val="F6F8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262128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9216" y="1261872"/>
            <a:ext cx="713232" cy="237744"/>
          </a:xfrm>
          <a:prstGeom prst="roundRect">
            <a:avLst/>
          </a:prstGeom>
          <a:solidFill>
            <a:srgbClr val="59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61872"/>
            <a:ext cx="1487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</a:rPr>
              <a:t>Routing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81912"/>
            <a:ext cx="2292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55555"/>
                </a:solidFill>
              </a:rPr>
              <a:t>200+ Constraint Optimiser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828800"/>
            <a:ext cx="2292096" cy="13716"/>
          </a:xfrm>
          <a:prstGeom prst="rect">
            <a:avLst/>
          </a:prstGeom>
          <a:solidFill>
            <a:srgbClr val="D9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901952"/>
            <a:ext cx="2292096" cy="75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</a:rPr>
              <a:t>Replaces Roadnet at 19-DC / 450-truck scale. Natively handles Ramadan timings, school / university time-windows, camera-fine zones, and bay-capacity matching (4 / 6 / 10-bay).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1360" y="1078992"/>
            <a:ext cx="2621280" cy="1689354"/>
          </a:xfrm>
          <a:prstGeom prst="roundRect">
            <a:avLst/>
          </a:prstGeom>
          <a:solidFill>
            <a:srgbClr val="F6F8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1360" y="1078992"/>
            <a:ext cx="262128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04816" y="1261872"/>
            <a:ext cx="713232" cy="237744"/>
          </a:xfrm>
          <a:prstGeom prst="roundRect">
            <a:avLst/>
          </a:prstGeom>
          <a:solidFill>
            <a:srgbClr val="E09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5952" y="1261872"/>
            <a:ext cx="1487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</a:rPr>
              <a:t>Service Time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5952" y="1581912"/>
            <a:ext cx="2292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55555"/>
                </a:solidFill>
              </a:rPr>
              <a:t>Historical Service-Time Predictor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5952" y="1828800"/>
            <a:ext cx="2292096" cy="13716"/>
          </a:xfrm>
          <a:prstGeom prst="rect">
            <a:avLst/>
          </a:prstGeom>
          <a:solidFill>
            <a:srgbClr val="D9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5952" y="1901952"/>
            <a:ext cx="2292096" cy="75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</a:rPr>
              <a:t>Learns from pre-sales + delivery history to predict per-customer service time (1-3 hr at hyper / super) and feed back into the next routing pass.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6960" y="1078992"/>
            <a:ext cx="2621280" cy="1689354"/>
          </a:xfrm>
          <a:prstGeom prst="roundRect">
            <a:avLst/>
          </a:prstGeom>
          <a:solidFill>
            <a:srgbClr val="F6F8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6960" y="1078992"/>
            <a:ext cx="262128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00416" y="1261872"/>
            <a:ext cx="713232" cy="237744"/>
          </a:xfrm>
          <a:prstGeom prst="roundRect">
            <a:avLst/>
          </a:prstGeom>
          <a:solidFill>
            <a:srgbClr val="59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1552" y="1261872"/>
            <a:ext cx="1487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ATLAS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1552" y="1581912"/>
            <a:ext cx="2292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55555"/>
                </a:solidFill>
              </a:rPr>
              <a:t>Control Tower 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1552" y="1828800"/>
            <a:ext cx="2292096" cy="13716"/>
          </a:xfrm>
          <a:prstGeom prst="rect">
            <a:avLst/>
          </a:prstGeom>
          <a:solidFill>
            <a:srgbClr val="D9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1552" y="1901952"/>
            <a:ext cx="2292096" cy="75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</a:rPr>
              <a:t>Tracks 'DC X plan time' end-to-end. When a plan is delayed, surfaces the why (data delay / constraint violation / planner block) and routes the alert to the right manager.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996946"/>
            <a:ext cx="2621280" cy="1689354"/>
          </a:xfrm>
          <a:prstGeom prst="roundRect">
            <a:avLst/>
          </a:prstGeom>
          <a:solidFill>
            <a:srgbClr val="F6F8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2996946"/>
            <a:ext cx="262128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09216" y="3179826"/>
            <a:ext cx="713232" cy="237744"/>
          </a:xfrm>
          <a:prstGeom prst="roundRect">
            <a:avLst/>
          </a:prstGeom>
          <a:solidFill>
            <a:srgbClr val="59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3179826"/>
            <a:ext cx="1487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</a:rPr>
              <a:t>Address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3499866"/>
            <a:ext cx="2292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55555"/>
                </a:solidFill>
              </a:rPr>
              <a:t>Geocoding + Customer Precision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" y="3746754"/>
            <a:ext cx="2292096" cy="13716"/>
          </a:xfrm>
          <a:prstGeom prst="rect">
            <a:avLst/>
          </a:prstGeom>
          <a:solidFill>
            <a:srgbClr val="D9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3819906"/>
            <a:ext cx="2292096" cy="75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</a:rPr>
              <a:t>Standardises supermarket / hypermarket addresses across 370+ territories so geofences fire reliably and pre-seller territories stay clean as the customer base grows.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61360" y="2996946"/>
            <a:ext cx="2621280" cy="1689354"/>
          </a:xfrm>
          <a:prstGeom prst="roundRect">
            <a:avLst/>
          </a:prstGeom>
          <a:solidFill>
            <a:srgbClr val="F6F8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61360" y="2996946"/>
            <a:ext cx="262128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04816" y="3179826"/>
            <a:ext cx="713232" cy="237744"/>
          </a:xfrm>
          <a:prstGeom prst="roundRect">
            <a:avLst/>
          </a:prstGeom>
          <a:solidFill>
            <a:srgbClr val="E09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5952" y="3179826"/>
            <a:ext cx="1487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ASTRA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5952" y="3499866"/>
            <a:ext cx="2292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55555"/>
                </a:solidFill>
              </a:rPr>
              <a:t>Driver Assist Agent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5952" y="3746754"/>
            <a:ext cx="2292096" cy="13716"/>
          </a:xfrm>
          <a:prstGeom prst="rect">
            <a:avLst/>
          </a:prstGeom>
          <a:solidFill>
            <a:srgbClr val="D9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5952" y="3819906"/>
            <a:ext cx="2292096" cy="75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</a:rPr>
              <a:t>On the last-mile leg, watches for unplanned stoppages, route deviation against the recommended path, and missed receiving windows — nudges driver before the slot slips.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56960" y="2996946"/>
            <a:ext cx="2621280" cy="1689354"/>
          </a:xfrm>
          <a:prstGeom prst="roundRect">
            <a:avLst/>
          </a:prstGeom>
          <a:solidFill>
            <a:srgbClr val="F6F8FB"/>
          </a:solidFill>
          <a:ln>
            <a:solidFill>
              <a:srgbClr val="D0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56960" y="2996946"/>
            <a:ext cx="2621280" cy="91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900416" y="3179826"/>
            <a:ext cx="713232" cy="237744"/>
          </a:xfrm>
          <a:prstGeom prst="round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Future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1552" y="3179826"/>
            <a:ext cx="14874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</a:rPr>
              <a:t>NEXA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1552" y="3499866"/>
            <a:ext cx="2292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55555"/>
                </a:solidFill>
              </a:rPr>
              <a:t>Settlement Agent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21552" y="3746754"/>
            <a:ext cx="2292096" cy="13716"/>
          </a:xfrm>
          <a:prstGeom prst="rect">
            <a:avLst/>
          </a:prstGeom>
          <a:solidFill>
            <a:srgbClr val="D9D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1552" y="3819906"/>
            <a:ext cx="2292096" cy="756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</a:rPr>
              <a:t>Reconciles sub-contractor rate contracts and trip-level operating cost vs plan; flags deviations and shrinks settlement cycles.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4F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86918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Aljomaih · Pepsi KSA · FMCG · Beverage Distribution (Pre-Sales + Day Delivery) · AI Use Cases · Shipsy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