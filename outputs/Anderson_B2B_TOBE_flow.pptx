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17F63DF-539A-4676-B220-439E9125295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CE308E7-B2CE-4A93-B938-5540A95B62D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0AC96D7-56D9-4128-9FFC-14129C393C6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B3EC703-7DEC-4AAA-8F9F-48D5F4AE283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3AAFA26-6BC9-4049-B2D0-34AADE69545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DE0EA73-8BE0-431D-93AE-C45ADE7A9F1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579166B-523E-4D34-A256-BF6B1E90F57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2AC61C0-2953-4575-8C2F-AEB53CC8852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4DAC8BF-2639-4636-97CA-75E3AB39277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920BF9F-81C0-4670-AB14-B8BA2E50C45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1BC332A-AC69-462C-BF9C-B5D874654EC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2.png"/><Relationship Id="rId9" Type="http://schemas.openxmlformats.org/officeDocument/2006/relationships/image" Target="../media/image8.png"/><Relationship Id="rId10" Type="http://schemas.openxmlformats.org/officeDocument/2006/relationships/image" Target="../media/image6.png"/><Relationship Id="rId11" Type="http://schemas.openxmlformats.org/officeDocument/2006/relationships/image" Target="../media/image8.png"/><Relationship Id="rId12" Type="http://schemas.openxmlformats.org/officeDocument/2006/relationships/image" Target="../media/image9.png"/><Relationship Id="rId13" Type="http://schemas.openxmlformats.org/officeDocument/2006/relationships/image" Target="../media/image10.png"/><Relationship Id="rId14" Type="http://schemas.openxmlformats.org/officeDocument/2006/relationships/image" Target="../media/image2.png"/><Relationship Id="rId15" Type="http://schemas.openxmlformats.org/officeDocument/2006/relationships/image" Target="../media/image3.png"/><Relationship Id="rId16" Type="http://schemas.openxmlformats.org/officeDocument/2006/relationships/image" Target="../media/image4.png"/><Relationship Id="rId17" Type="http://schemas.openxmlformats.org/officeDocument/2006/relationships/image" Target="../media/image9.png"/><Relationship Id="rId18" Type="http://schemas.openxmlformats.org/officeDocument/2006/relationships/image" Target="../media/image6.png"/><Relationship Id="rId19" Type="http://schemas.openxmlformats.org/officeDocument/2006/relationships/image" Target="../media/image7.png"/><Relationship Id="rId20" Type="http://schemas.openxmlformats.org/officeDocument/2006/relationships/image" Target="../media/image2.png"/><Relationship Id="rId21" Type="http://schemas.openxmlformats.org/officeDocument/2006/relationships/image" Target="../media/image11.png"/><Relationship Id="rId22" Type="http://schemas.openxmlformats.org/officeDocument/2006/relationships/image" Target="../media/image3.png"/><Relationship Id="rId23" Type="http://schemas.openxmlformats.org/officeDocument/2006/relationships/image" Target="../media/image4.png"/><Relationship Id="rId24" Type="http://schemas.openxmlformats.org/officeDocument/2006/relationships/image" Target="../media/image5.png"/><Relationship Id="rId25" Type="http://schemas.openxmlformats.org/officeDocument/2006/relationships/image" Target="../media/image6.png"/><Relationship Id="rId26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274320" y="91440"/>
            <a:ext cx="6857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Anderson B2B — TO-BE in Shipsy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" name="Picture 2" descr="shipsy-logo-mark.png"/>
          <p:cNvPicPr/>
          <p:nvPr/>
        </p:nvPicPr>
        <p:blipFill>
          <a:blip r:embed="rId1"/>
          <a:stretch/>
        </p:blipFill>
        <p:spPr>
          <a:xfrm>
            <a:off x="8092440" y="164520"/>
            <a:ext cx="69948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Rectangle 3"/>
          <p:cNvSpPr/>
          <p:nvPr/>
        </p:nvSpPr>
        <p:spPr>
          <a:xfrm>
            <a:off x="0" y="667440"/>
            <a:ext cx="1416960" cy="108432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45720" y="694800"/>
            <a:ext cx="1325520" cy="102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ctr">
            <a:spAutoFit/>
          </a:bodyPr>
          <a:p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Standard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B2B Delivery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" name="Picture 5" descr="erp-sync.png"/>
          <p:cNvPicPr/>
          <p:nvPr/>
        </p:nvPicPr>
        <p:blipFill>
          <a:blip r:embed="rId2"/>
          <a:stretch/>
        </p:blipFill>
        <p:spPr>
          <a:xfrm>
            <a:off x="1794600" y="71316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TextBox 6"/>
          <p:cNvSpPr/>
          <p:nvPr/>
        </p:nvSpPr>
        <p:spPr>
          <a:xfrm>
            <a:off x="1444680" y="1252800"/>
            <a:ext cx="120204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Create B2B Delivery order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+ B2B identifier auto-applied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" name="Picture 7" descr="driver-assignment.png"/>
          <p:cNvPicPr/>
          <p:nvPr/>
        </p:nvPicPr>
        <p:blipFill>
          <a:blip r:embed="rId3"/>
          <a:stretch/>
        </p:blipFill>
        <p:spPr>
          <a:xfrm>
            <a:off x="3051720" y="71316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TextBox 8"/>
          <p:cNvSpPr/>
          <p:nvPr/>
        </p:nvSpPr>
        <p:spPr>
          <a:xfrm>
            <a:off x="2702160" y="1252800"/>
            <a:ext cx="120204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Auto-allocation: courier +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per-courier B2B tariff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Right Arrow 9"/>
          <p:cNvSpPr/>
          <p:nvPr/>
        </p:nvSpPr>
        <p:spPr>
          <a:xfrm>
            <a:off x="2343240" y="891720"/>
            <a:ext cx="69012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0" name="Picture 10" descr="mobile-app.png"/>
          <p:cNvPicPr/>
          <p:nvPr/>
        </p:nvPicPr>
        <p:blipFill>
          <a:blip r:embed="rId4"/>
          <a:stretch/>
        </p:blipFill>
        <p:spPr>
          <a:xfrm>
            <a:off x="4309200" y="71316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TextBox 11"/>
          <p:cNvSpPr/>
          <p:nvPr/>
        </p:nvSpPr>
        <p:spPr>
          <a:xfrm>
            <a:off x="3959280" y="1252800"/>
            <a:ext cx="120204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Ramasseur app: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pickup with B2B badge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Right Arrow 12"/>
          <p:cNvSpPr/>
          <p:nvPr/>
        </p:nvSpPr>
        <p:spPr>
          <a:xfrm>
            <a:off x="3600360" y="891720"/>
            <a:ext cx="69012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3" name="Picture 13" descr="sorting.png"/>
          <p:cNvPicPr/>
          <p:nvPr/>
        </p:nvPicPr>
        <p:blipFill>
          <a:blip r:embed="rId5"/>
          <a:stretch/>
        </p:blipFill>
        <p:spPr>
          <a:xfrm>
            <a:off x="5566320" y="71316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TextBox 14"/>
          <p:cNvSpPr/>
          <p:nvPr/>
        </p:nvSpPr>
        <p:spPr>
          <a:xfrm>
            <a:off x="5216760" y="1252800"/>
            <a:ext cx="120204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CTR sortation —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B2B tag preserved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Right Arrow 15"/>
          <p:cNvSpPr/>
          <p:nvPr/>
        </p:nvSpPr>
        <p:spPr>
          <a:xfrm>
            <a:off x="4857840" y="891720"/>
            <a:ext cx="69012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6" name="Picture 16" descr="navigation-epod.png"/>
          <p:cNvPicPr/>
          <p:nvPr/>
        </p:nvPicPr>
        <p:blipFill>
          <a:blip r:embed="rId6"/>
          <a:stretch/>
        </p:blipFill>
        <p:spPr>
          <a:xfrm>
            <a:off x="6823800" y="71316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TextBox 17"/>
          <p:cNvSpPr/>
          <p:nvPr/>
        </p:nvSpPr>
        <p:spPr>
          <a:xfrm>
            <a:off x="6473880" y="1252800"/>
            <a:ext cx="120204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Courier app: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delivery + ePOD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Right Arrow 18"/>
          <p:cNvSpPr/>
          <p:nvPr/>
        </p:nvSpPr>
        <p:spPr>
          <a:xfrm>
            <a:off x="6114960" y="891720"/>
            <a:ext cx="69012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9" name="Picture 19" descr="dashboard-comparison.png"/>
          <p:cNvPicPr/>
          <p:nvPr/>
        </p:nvPicPr>
        <p:blipFill>
          <a:blip r:embed="rId7"/>
          <a:stretch/>
        </p:blipFill>
        <p:spPr>
          <a:xfrm>
            <a:off x="8080920" y="71316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TextBox 20"/>
          <p:cNvSpPr/>
          <p:nvPr/>
        </p:nvSpPr>
        <p:spPr>
          <a:xfrm>
            <a:off x="7731360" y="1252800"/>
            <a:ext cx="120204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Settlement: B2B tariff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+ courier remuneration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Right Arrow 21"/>
          <p:cNvSpPr/>
          <p:nvPr/>
        </p:nvSpPr>
        <p:spPr>
          <a:xfrm>
            <a:off x="7372440" y="891720"/>
            <a:ext cx="69012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Rectangle 22"/>
          <p:cNvSpPr/>
          <p:nvPr/>
        </p:nvSpPr>
        <p:spPr>
          <a:xfrm>
            <a:off x="0" y="1752120"/>
            <a:ext cx="1416960" cy="1084320"/>
          </a:xfrm>
          <a:prstGeom prst="rect">
            <a:avLst/>
          </a:prstGeom>
          <a:solidFill>
            <a:srgbClr val="39557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83" name="Connector 23"/>
          <p:cNvCxnSpPr/>
          <p:nvPr/>
        </p:nvCxnSpPr>
        <p:spPr>
          <a:xfrm>
            <a:off x="1463040" y="1752120"/>
            <a:ext cx="7498440" cy="360"/>
          </a:xfrm>
          <a:prstGeom prst="straightConnector1">
            <a:avLst/>
          </a:prstGeom>
          <a:ln w="6350">
            <a:solidFill>
              <a:srgbClr val="D9DFE6"/>
            </a:solidFill>
            <a:prstDash val="dash"/>
            <a:round/>
          </a:ln>
        </p:spPr>
      </p:cxnSp>
      <p:sp>
        <p:nvSpPr>
          <p:cNvPr id="84" name="TextBox 24"/>
          <p:cNvSpPr/>
          <p:nvPr/>
        </p:nvSpPr>
        <p:spPr>
          <a:xfrm>
            <a:off x="45720" y="1779480"/>
            <a:ext cx="1325520" cy="102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ctr">
            <a:spAutoFit/>
          </a:bodyPr>
          <a:p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Acknowledgment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Receipt (AR)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5" name="Picture 25" descr="erp-sync.png"/>
          <p:cNvPicPr/>
          <p:nvPr/>
        </p:nvPicPr>
        <p:blipFill>
          <a:blip r:embed="rId8"/>
          <a:stretch/>
        </p:blipFill>
        <p:spPr>
          <a:xfrm>
            <a:off x="1794600" y="179784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TextBox 26"/>
          <p:cNvSpPr/>
          <p:nvPr/>
        </p:nvSpPr>
        <p:spPr>
          <a:xfrm>
            <a:off x="1444680" y="2337480"/>
            <a:ext cx="120204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Create AR order — outbound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+ AR return linked at create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" name="Picture 27" descr="allocation-engine.png"/>
          <p:cNvPicPr/>
          <p:nvPr/>
        </p:nvPicPr>
        <p:blipFill>
          <a:blip r:embed="rId9"/>
          <a:stretch/>
        </p:blipFill>
        <p:spPr>
          <a:xfrm>
            <a:off x="3051720" y="179784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TextBox 28"/>
          <p:cNvSpPr/>
          <p:nvPr/>
        </p:nvSpPr>
        <p:spPr>
          <a:xfrm>
            <a:off x="2702160" y="2337480"/>
            <a:ext cx="120204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Routing engine plans outbound;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AR parked awaiting trigger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Right Arrow 29"/>
          <p:cNvSpPr/>
          <p:nvPr/>
        </p:nvSpPr>
        <p:spPr>
          <a:xfrm>
            <a:off x="2343240" y="1976400"/>
            <a:ext cx="69012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90" name="Picture 30" descr="navigation-epod.png"/>
          <p:cNvPicPr/>
          <p:nvPr/>
        </p:nvPicPr>
        <p:blipFill>
          <a:blip r:embed="rId10"/>
          <a:stretch/>
        </p:blipFill>
        <p:spPr>
          <a:xfrm>
            <a:off x="4309200" y="179784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TextBox 31"/>
          <p:cNvSpPr/>
          <p:nvPr/>
        </p:nvSpPr>
        <p:spPr>
          <a:xfrm>
            <a:off x="3959280" y="2337480"/>
            <a:ext cx="120204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Courier delivers outbound +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captures signed receipt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Right Arrow 32"/>
          <p:cNvSpPr/>
          <p:nvPr/>
        </p:nvSpPr>
        <p:spPr>
          <a:xfrm>
            <a:off x="3600360" y="1976400"/>
            <a:ext cx="69012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93" name="Picture 33" descr="allocation-engine.png"/>
          <p:cNvPicPr/>
          <p:nvPr/>
        </p:nvPicPr>
        <p:blipFill>
          <a:blip r:embed="rId11"/>
          <a:stretch/>
        </p:blipFill>
        <p:spPr>
          <a:xfrm>
            <a:off x="5566320" y="179784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TextBox 34"/>
          <p:cNvSpPr/>
          <p:nvPr/>
        </p:nvSpPr>
        <p:spPr>
          <a:xfrm>
            <a:off x="5216760" y="2337480"/>
            <a:ext cx="120204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Shipsy auto-triggers AR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reverse-flow lifecycle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Right Arrow 35"/>
          <p:cNvSpPr/>
          <p:nvPr/>
        </p:nvSpPr>
        <p:spPr>
          <a:xfrm>
            <a:off x="4857840" y="1976400"/>
            <a:ext cx="69012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96" name="Picture 36" descr="loading-truck.png"/>
          <p:cNvPicPr/>
          <p:nvPr/>
        </p:nvPicPr>
        <p:blipFill>
          <a:blip r:embed="rId12"/>
          <a:stretch/>
        </p:blipFill>
        <p:spPr>
          <a:xfrm>
            <a:off x="6823800" y="179784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TextBox 37"/>
          <p:cNvSpPr/>
          <p:nvPr/>
        </p:nvSpPr>
        <p:spPr>
          <a:xfrm>
            <a:off x="6473880" y="2337480"/>
            <a:ext cx="120204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AR routed back via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station / CTR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Right Arrow 38"/>
          <p:cNvSpPr/>
          <p:nvPr/>
        </p:nvSpPr>
        <p:spPr>
          <a:xfrm>
            <a:off x="6114960" y="1976400"/>
            <a:ext cx="69012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99" name="Picture 39" descr="verify-clipboard.png"/>
          <p:cNvPicPr/>
          <p:nvPr/>
        </p:nvPicPr>
        <p:blipFill>
          <a:blip r:embed="rId13"/>
          <a:stretch/>
        </p:blipFill>
        <p:spPr>
          <a:xfrm>
            <a:off x="8080920" y="179784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TextBox 40"/>
          <p:cNvSpPr/>
          <p:nvPr/>
        </p:nvSpPr>
        <p:spPr>
          <a:xfrm>
            <a:off x="7731360" y="2337480"/>
            <a:ext cx="120204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AR delivered to sender;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status auto-synced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Right Arrow 41"/>
          <p:cNvSpPr/>
          <p:nvPr/>
        </p:nvSpPr>
        <p:spPr>
          <a:xfrm>
            <a:off x="7372440" y="1976400"/>
            <a:ext cx="69012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Rectangle 42"/>
          <p:cNvSpPr/>
          <p:nvPr/>
        </p:nvSpPr>
        <p:spPr>
          <a:xfrm>
            <a:off x="0" y="2836800"/>
            <a:ext cx="1416960" cy="1084320"/>
          </a:xfrm>
          <a:prstGeom prst="rect">
            <a:avLst/>
          </a:prstGeom>
          <a:solidFill>
            <a:srgbClr val="5370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03" name="Connector 43"/>
          <p:cNvCxnSpPr/>
          <p:nvPr/>
        </p:nvCxnSpPr>
        <p:spPr>
          <a:xfrm>
            <a:off x="1463040" y="2836800"/>
            <a:ext cx="7498440" cy="360"/>
          </a:xfrm>
          <a:prstGeom prst="straightConnector1">
            <a:avLst/>
          </a:prstGeom>
          <a:ln w="6350">
            <a:solidFill>
              <a:srgbClr val="D9DFE6"/>
            </a:solidFill>
            <a:prstDash val="dash"/>
            <a:round/>
          </a:ln>
        </p:spPr>
      </p:cxnSp>
      <p:sp>
        <p:nvSpPr>
          <p:cNvPr id="104" name="TextBox 44"/>
          <p:cNvSpPr/>
          <p:nvPr/>
        </p:nvSpPr>
        <p:spPr>
          <a:xfrm>
            <a:off x="45720" y="2864520"/>
            <a:ext cx="1325520" cy="102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ctr">
            <a:spAutoFit/>
          </a:bodyPr>
          <a:p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Tender-File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Withdrawal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5" name="Picture 45" descr="erp-sync.png"/>
          <p:cNvPicPr/>
          <p:nvPr/>
        </p:nvPicPr>
        <p:blipFill>
          <a:blip r:embed="rId14"/>
          <a:stretch/>
        </p:blipFill>
        <p:spPr>
          <a:xfrm>
            <a:off x="1794600" y="288252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TextBox 46"/>
          <p:cNvSpPr/>
          <p:nvPr/>
        </p:nvSpPr>
        <p:spPr>
          <a:xfrm>
            <a:off x="1444680" y="3422160"/>
            <a:ext cx="120204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Create Tender Withdrawal: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tender office + payment amount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Picture 47" descr="driver-assignment.png"/>
          <p:cNvPicPr/>
          <p:nvPr/>
        </p:nvPicPr>
        <p:blipFill>
          <a:blip r:embed="rId15"/>
          <a:stretch/>
        </p:blipFill>
        <p:spPr>
          <a:xfrm>
            <a:off x="3051720" y="288252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TextBox 48"/>
          <p:cNvSpPr/>
          <p:nvPr/>
        </p:nvSpPr>
        <p:spPr>
          <a:xfrm>
            <a:off x="2702160" y="3422160"/>
            <a:ext cx="120204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Auto-allocation with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money-transport flag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Right Arrow 49"/>
          <p:cNvSpPr/>
          <p:nvPr/>
        </p:nvSpPr>
        <p:spPr>
          <a:xfrm>
            <a:off x="2343240" y="3061080"/>
            <a:ext cx="69012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0" name="Picture 50" descr="mobile-app.png"/>
          <p:cNvPicPr/>
          <p:nvPr/>
        </p:nvPicPr>
        <p:blipFill>
          <a:blip r:embed="rId16"/>
          <a:stretch/>
        </p:blipFill>
        <p:spPr>
          <a:xfrm>
            <a:off x="4309200" y="288252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TextBox 51"/>
          <p:cNvSpPr/>
          <p:nvPr/>
        </p:nvSpPr>
        <p:spPr>
          <a:xfrm>
            <a:off x="3959280" y="3422160"/>
            <a:ext cx="120204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Courier app: collect tender file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+ payment proof at office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Right Arrow 52"/>
          <p:cNvSpPr/>
          <p:nvPr/>
        </p:nvSpPr>
        <p:spPr>
          <a:xfrm>
            <a:off x="3600360" y="3061080"/>
            <a:ext cx="69012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3" name="Picture 53" descr="loading-truck.png"/>
          <p:cNvPicPr/>
          <p:nvPr/>
        </p:nvPicPr>
        <p:blipFill>
          <a:blip r:embed="rId17"/>
          <a:stretch/>
        </p:blipFill>
        <p:spPr>
          <a:xfrm>
            <a:off x="5566320" y="288252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TextBox 54"/>
          <p:cNvSpPr/>
          <p:nvPr/>
        </p:nvSpPr>
        <p:spPr>
          <a:xfrm>
            <a:off x="5216760" y="3422160"/>
            <a:ext cx="120204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Inter-station transit back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to corporate sender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Right Arrow 55"/>
          <p:cNvSpPr/>
          <p:nvPr/>
        </p:nvSpPr>
        <p:spPr>
          <a:xfrm>
            <a:off x="4857840" y="3061080"/>
            <a:ext cx="69012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6" name="Picture 56" descr="navigation-epod.png"/>
          <p:cNvPicPr/>
          <p:nvPr/>
        </p:nvPicPr>
        <p:blipFill>
          <a:blip r:embed="rId18"/>
          <a:stretch/>
        </p:blipFill>
        <p:spPr>
          <a:xfrm>
            <a:off x="6823800" y="288252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TextBox 57"/>
          <p:cNvSpPr/>
          <p:nvPr/>
        </p:nvSpPr>
        <p:spPr>
          <a:xfrm>
            <a:off x="6473880" y="3422160"/>
            <a:ext cx="120204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Delivery to sender + ePOD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on tender file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Right Arrow 58"/>
          <p:cNvSpPr/>
          <p:nvPr/>
        </p:nvSpPr>
        <p:spPr>
          <a:xfrm>
            <a:off x="6114960" y="3061080"/>
            <a:ext cx="69012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9" name="Picture 59" descr="dashboard-comparison.png"/>
          <p:cNvPicPr/>
          <p:nvPr/>
        </p:nvPicPr>
        <p:blipFill>
          <a:blip r:embed="rId19"/>
          <a:stretch/>
        </p:blipFill>
        <p:spPr>
          <a:xfrm>
            <a:off x="8080920" y="288252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TextBox 60"/>
          <p:cNvSpPr/>
          <p:nvPr/>
        </p:nvSpPr>
        <p:spPr>
          <a:xfrm>
            <a:off x="7731360" y="3422160"/>
            <a:ext cx="120204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Settlement reconciles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payment + tender doc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Right Arrow 61"/>
          <p:cNvSpPr/>
          <p:nvPr/>
        </p:nvSpPr>
        <p:spPr>
          <a:xfrm>
            <a:off x="7372440" y="3061080"/>
            <a:ext cx="69012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Rectangle 62"/>
          <p:cNvSpPr/>
          <p:nvPr/>
        </p:nvSpPr>
        <p:spPr>
          <a:xfrm>
            <a:off x="0" y="3921480"/>
            <a:ext cx="1416960" cy="1084320"/>
          </a:xfrm>
          <a:prstGeom prst="rect">
            <a:avLst/>
          </a:prstGeom>
          <a:solidFill>
            <a:srgbClr val="6E8C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23" name="Connector 63"/>
          <p:cNvCxnSpPr/>
          <p:nvPr/>
        </p:nvCxnSpPr>
        <p:spPr>
          <a:xfrm>
            <a:off x="1463040" y="3921480"/>
            <a:ext cx="7498440" cy="360"/>
          </a:xfrm>
          <a:prstGeom prst="straightConnector1">
            <a:avLst/>
          </a:prstGeom>
          <a:ln w="6350">
            <a:solidFill>
              <a:srgbClr val="D9DFE6"/>
            </a:solidFill>
            <a:prstDash val="dash"/>
            <a:round/>
          </a:ln>
        </p:spPr>
      </p:cxnSp>
      <p:sp>
        <p:nvSpPr>
          <p:cNvPr id="124" name="TextBox 64"/>
          <p:cNvSpPr/>
          <p:nvPr/>
        </p:nvSpPr>
        <p:spPr>
          <a:xfrm>
            <a:off x="45720" y="3949200"/>
            <a:ext cx="1325520" cy="102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Submission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5" name="Picture 65" descr="erp-sync.png"/>
          <p:cNvPicPr/>
          <p:nvPr/>
        </p:nvPicPr>
        <p:blipFill>
          <a:blip r:embed="rId20"/>
          <a:stretch/>
        </p:blipFill>
        <p:spPr>
          <a:xfrm>
            <a:off x="1794600" y="396720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TextBox 66"/>
          <p:cNvSpPr/>
          <p:nvPr/>
        </p:nvSpPr>
        <p:spPr>
          <a:xfrm>
            <a:off x="1444680" y="4506840"/>
            <a:ext cx="120204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Create Submission order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with final deadline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Picture 67" descr="predicted-window.png"/>
          <p:cNvPicPr/>
          <p:nvPr/>
        </p:nvPicPr>
        <p:blipFill>
          <a:blip r:embed="rId21"/>
          <a:stretch/>
        </p:blipFill>
        <p:spPr>
          <a:xfrm>
            <a:off x="3051720" y="396720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TextBox 68"/>
          <p:cNvSpPr/>
          <p:nvPr/>
        </p:nvSpPr>
        <p:spPr>
          <a:xfrm>
            <a:off x="2702160" y="4506840"/>
            <a:ext cx="120204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Feasibility check vs SLA —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warn if not feasible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Right Arrow 69"/>
          <p:cNvSpPr/>
          <p:nvPr/>
        </p:nvSpPr>
        <p:spPr>
          <a:xfrm>
            <a:off x="2343240" y="4145760"/>
            <a:ext cx="69012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30" name="Picture 70" descr="driver-assignment.png"/>
          <p:cNvPicPr/>
          <p:nvPr/>
        </p:nvPicPr>
        <p:blipFill>
          <a:blip r:embed="rId22"/>
          <a:stretch/>
        </p:blipFill>
        <p:spPr>
          <a:xfrm>
            <a:off x="4309200" y="396720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" name="TextBox 71"/>
          <p:cNvSpPr/>
          <p:nvPr/>
        </p:nvSpPr>
        <p:spPr>
          <a:xfrm>
            <a:off x="3959280" y="4506840"/>
            <a:ext cx="120204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Auto-allocation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prioritizing deadline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Right Arrow 72"/>
          <p:cNvSpPr/>
          <p:nvPr/>
        </p:nvSpPr>
        <p:spPr>
          <a:xfrm>
            <a:off x="3600360" y="4145760"/>
            <a:ext cx="69012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33" name="Picture 73" descr="mobile-app.png"/>
          <p:cNvPicPr/>
          <p:nvPr/>
        </p:nvPicPr>
        <p:blipFill>
          <a:blip r:embed="rId23"/>
          <a:stretch/>
        </p:blipFill>
        <p:spPr>
          <a:xfrm>
            <a:off x="5566320" y="396720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TextBox 74"/>
          <p:cNvSpPr/>
          <p:nvPr/>
        </p:nvSpPr>
        <p:spPr>
          <a:xfrm>
            <a:off x="5216760" y="4506840"/>
            <a:ext cx="120204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Courier app: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deadline countdown visible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Right Arrow 75"/>
          <p:cNvSpPr/>
          <p:nvPr/>
        </p:nvSpPr>
        <p:spPr>
          <a:xfrm>
            <a:off x="4857840" y="4145760"/>
            <a:ext cx="69012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36" name="Picture 76" descr="sorting.png"/>
          <p:cNvPicPr/>
          <p:nvPr/>
        </p:nvPicPr>
        <p:blipFill>
          <a:blip r:embed="rId24"/>
          <a:stretch/>
        </p:blipFill>
        <p:spPr>
          <a:xfrm>
            <a:off x="6823800" y="396720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TextBox 77"/>
          <p:cNvSpPr/>
          <p:nvPr/>
        </p:nvSpPr>
        <p:spPr>
          <a:xfrm>
            <a:off x="6473880" y="4506840"/>
            <a:ext cx="120204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CTR sortation —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submission priority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Right Arrow 78"/>
          <p:cNvSpPr/>
          <p:nvPr/>
        </p:nvSpPr>
        <p:spPr>
          <a:xfrm>
            <a:off x="6114960" y="4145760"/>
            <a:ext cx="69012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39" name="Picture 79" descr="navigation-epod.png"/>
          <p:cNvPicPr/>
          <p:nvPr/>
        </p:nvPicPr>
        <p:blipFill>
          <a:blip r:embed="rId25"/>
          <a:stretch/>
        </p:blipFill>
        <p:spPr>
          <a:xfrm>
            <a:off x="8080920" y="396720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" name="TextBox 80"/>
          <p:cNvSpPr/>
          <p:nvPr/>
        </p:nvSpPr>
        <p:spPr>
          <a:xfrm>
            <a:off x="7731360" y="4506840"/>
            <a:ext cx="120204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Delivery before deadline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+ SLA event stamped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Right Arrow 81"/>
          <p:cNvSpPr/>
          <p:nvPr/>
        </p:nvSpPr>
        <p:spPr>
          <a:xfrm>
            <a:off x="7372440" y="4145760"/>
            <a:ext cx="69012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Box 1"/>
          <p:cNvSpPr/>
          <p:nvPr/>
        </p:nvSpPr>
        <p:spPr>
          <a:xfrm>
            <a:off x="320040" y="182880"/>
            <a:ext cx="73605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Process Mapping &amp; Capability Enhancement with Shipsy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Right Arrow 2"/>
          <p:cNvSpPr/>
          <p:nvPr/>
        </p:nvSpPr>
        <p:spPr>
          <a:xfrm>
            <a:off x="7818120" y="255960"/>
            <a:ext cx="273960" cy="255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F4E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TextBox 3"/>
          <p:cNvSpPr/>
          <p:nvPr/>
        </p:nvSpPr>
        <p:spPr>
          <a:xfrm>
            <a:off x="8138160" y="237600"/>
            <a:ext cx="959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Shipsy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Rectangle 4"/>
          <p:cNvSpPr/>
          <p:nvPr/>
        </p:nvSpPr>
        <p:spPr>
          <a:xfrm>
            <a:off x="320040" y="640080"/>
            <a:ext cx="8503560" cy="1800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Rectangle 5"/>
          <p:cNvSpPr/>
          <p:nvPr/>
        </p:nvSpPr>
        <p:spPr>
          <a:xfrm>
            <a:off x="274320" y="804600"/>
            <a:ext cx="1416960" cy="383760"/>
          </a:xfrm>
          <a:prstGeom prst="rect">
            <a:avLst/>
          </a:prstGeom>
          <a:solidFill>
            <a:srgbClr val="2A2A2A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TextBox 6"/>
          <p:cNvSpPr/>
          <p:nvPr/>
        </p:nvSpPr>
        <p:spPr>
          <a:xfrm>
            <a:off x="274320" y="804600"/>
            <a:ext cx="1416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Business Process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Rectangle 7"/>
          <p:cNvSpPr/>
          <p:nvPr/>
        </p:nvSpPr>
        <p:spPr>
          <a:xfrm>
            <a:off x="1691640" y="804600"/>
            <a:ext cx="2392200" cy="383760"/>
          </a:xfrm>
          <a:prstGeom prst="rect">
            <a:avLst/>
          </a:prstGeom>
          <a:solidFill>
            <a:srgbClr val="A93729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" name="TextBox 8"/>
          <p:cNvSpPr/>
          <p:nvPr/>
        </p:nvSpPr>
        <p:spPr>
          <a:xfrm>
            <a:off x="1691640" y="804600"/>
            <a:ext cx="2392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As Is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Rectangle 9"/>
          <p:cNvSpPr/>
          <p:nvPr/>
        </p:nvSpPr>
        <p:spPr>
          <a:xfrm>
            <a:off x="4084200" y="804600"/>
            <a:ext cx="2392200" cy="383760"/>
          </a:xfrm>
          <a:prstGeom prst="rect">
            <a:avLst/>
          </a:prstGeom>
          <a:solidFill>
            <a:srgbClr val="2C496A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TextBox 10"/>
          <p:cNvSpPr/>
          <p:nvPr/>
        </p:nvSpPr>
        <p:spPr>
          <a:xfrm>
            <a:off x="4084200" y="804600"/>
            <a:ext cx="2392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To-Be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Rectangle 11"/>
          <p:cNvSpPr/>
          <p:nvPr/>
        </p:nvSpPr>
        <p:spPr>
          <a:xfrm>
            <a:off x="6477120" y="804600"/>
            <a:ext cx="2392200" cy="383760"/>
          </a:xfrm>
          <a:prstGeom prst="rect">
            <a:avLst/>
          </a:prstGeom>
          <a:solidFill>
            <a:srgbClr val="599C38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" name="TextBox 12"/>
          <p:cNvSpPr/>
          <p:nvPr/>
        </p:nvSpPr>
        <p:spPr>
          <a:xfrm>
            <a:off x="6477120" y="804600"/>
            <a:ext cx="2392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Impact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Rectangle 13"/>
          <p:cNvSpPr/>
          <p:nvPr/>
        </p:nvSpPr>
        <p:spPr>
          <a:xfrm>
            <a:off x="274320" y="1188720"/>
            <a:ext cx="1416960" cy="754200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" name="TextBox 14"/>
          <p:cNvSpPr/>
          <p:nvPr/>
        </p:nvSpPr>
        <p:spPr>
          <a:xfrm>
            <a:off x="274320" y="1188720"/>
            <a:ext cx="1416960" cy="7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B2B Order Creation in Shipsy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Rectangle 15"/>
          <p:cNvSpPr/>
          <p:nvPr/>
        </p:nvSpPr>
        <p:spPr>
          <a:xfrm>
            <a:off x="1691640" y="1188720"/>
            <a:ext cx="2392200" cy="754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" name="TextBox 16"/>
          <p:cNvSpPr/>
          <p:nvPr/>
        </p:nvSpPr>
        <p:spPr>
          <a:xfrm>
            <a:off x="1691640" y="1188720"/>
            <a:ext cx="2392200" cy="7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B2B operation types handled informally; AR / tender / submission off-system (§14.3)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Linked-tracking pairs created out-of-band (§9.2)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Submission deadlines captured manually, no feasibility check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Rectangle 17"/>
          <p:cNvSpPr/>
          <p:nvPr/>
        </p:nvSpPr>
        <p:spPr>
          <a:xfrm>
            <a:off x="4084200" y="1188720"/>
            <a:ext cx="2392200" cy="754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" name="TextBox 18"/>
          <p:cNvSpPr/>
          <p:nvPr/>
        </p:nvSpPr>
        <p:spPr>
          <a:xfrm>
            <a:off x="4084200" y="1188720"/>
            <a:ext cx="2392200" cy="7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Operation-type taxonomy enforced at create time: Delivery / AR / Tender / Submission (§14.3)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Linked-tracking pair (outbound + AR / tender reverse) auto-created (§9.2)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Tariff preview B2B-aware (station × geography) before confirmation (§9.2, §10)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Submission forces deadline + feasibility check; warns if SLA not feasible (§14.3)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Rectangle 19"/>
          <p:cNvSpPr/>
          <p:nvPr/>
        </p:nvSpPr>
        <p:spPr>
          <a:xfrm>
            <a:off x="6477120" y="1188720"/>
            <a:ext cx="2392200" cy="754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TextBox 20"/>
          <p:cNvSpPr/>
          <p:nvPr/>
        </p:nvSpPr>
        <p:spPr>
          <a:xfrm>
            <a:off x="6477120" y="1188720"/>
            <a:ext cx="2392200" cy="7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Single source of truth for every B2B order from creation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Late submissions caught at order entry, not after the fact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B2B-aware tariff visible to operator at creation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Rectangle 21"/>
          <p:cNvSpPr/>
          <p:nvPr/>
        </p:nvSpPr>
        <p:spPr>
          <a:xfrm>
            <a:off x="274320" y="1943280"/>
            <a:ext cx="1416960" cy="754200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TextBox 22"/>
          <p:cNvSpPr/>
          <p:nvPr/>
        </p:nvSpPr>
        <p:spPr>
          <a:xfrm>
            <a:off x="274320" y="1943280"/>
            <a:ext cx="1416960" cy="7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B2B Auto-Allocation in Shipsy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Rectangle 23"/>
          <p:cNvSpPr/>
          <p:nvPr/>
        </p:nvSpPr>
        <p:spPr>
          <a:xfrm>
            <a:off x="1691640" y="1943280"/>
            <a:ext cx="2392200" cy="754200"/>
          </a:xfrm>
          <a:prstGeom prst="rect">
            <a:avLst/>
          </a:prstGeom>
          <a:solidFill>
            <a:srgbClr val="F6F6F6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TextBox 24"/>
          <p:cNvSpPr/>
          <p:nvPr/>
        </p:nvSpPr>
        <p:spPr>
          <a:xfrm>
            <a:off x="1691640" y="1943280"/>
            <a:ext cx="2392200" cy="7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Courier assignment manual; per-courier B2B tariff applied at month-end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Money-transport leg of tender withdrawal not modelled in dispatch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Rectangle 25"/>
          <p:cNvSpPr/>
          <p:nvPr/>
        </p:nvSpPr>
        <p:spPr>
          <a:xfrm>
            <a:off x="4084200" y="1943280"/>
            <a:ext cx="2392200" cy="754200"/>
          </a:xfrm>
          <a:prstGeom prst="rect">
            <a:avLst/>
          </a:prstGeom>
          <a:solidFill>
            <a:srgbClr val="F6F6F6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" name="TextBox 26"/>
          <p:cNvSpPr/>
          <p:nvPr/>
        </p:nvSpPr>
        <p:spPr>
          <a:xfrm>
            <a:off x="4084200" y="1943280"/>
            <a:ext cx="2392200" cy="7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Auto-allocation applies per-courier B2B tariff with default fallback (§10)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Money-transport flag on tender-withdrawal trips (§14.3)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Deadline-prioritised allocation for submissions (§14.3)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Rectangle 27"/>
          <p:cNvSpPr/>
          <p:nvPr/>
        </p:nvSpPr>
        <p:spPr>
          <a:xfrm>
            <a:off x="6477120" y="1943280"/>
            <a:ext cx="2392200" cy="754200"/>
          </a:xfrm>
          <a:prstGeom prst="rect">
            <a:avLst/>
          </a:prstGeom>
          <a:solidFill>
            <a:srgbClr val="F6F6F6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TextBox 28"/>
          <p:cNvSpPr/>
          <p:nvPr/>
        </p:nvSpPr>
        <p:spPr>
          <a:xfrm>
            <a:off x="6477120" y="1943280"/>
            <a:ext cx="2392200" cy="7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Allocation collapses from minutes-per-job to seconds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Courier remuneration computed from the trip object, not month-end Excel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Money-transport leg visible to operations and finance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Rectangle 29"/>
          <p:cNvSpPr/>
          <p:nvPr/>
        </p:nvSpPr>
        <p:spPr>
          <a:xfrm>
            <a:off x="274320" y="2697480"/>
            <a:ext cx="1416960" cy="754200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1" name="TextBox 30"/>
          <p:cNvSpPr/>
          <p:nvPr/>
        </p:nvSpPr>
        <p:spPr>
          <a:xfrm>
            <a:off x="274320" y="2697480"/>
            <a:ext cx="1416960" cy="7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B2B Field Execution (Ramasseur + Courier app)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Rectangle 31"/>
          <p:cNvSpPr/>
          <p:nvPr/>
        </p:nvSpPr>
        <p:spPr>
          <a:xfrm>
            <a:off x="1691640" y="2697480"/>
            <a:ext cx="2392200" cy="754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3" name="TextBox 32"/>
          <p:cNvSpPr/>
          <p:nvPr/>
        </p:nvSpPr>
        <p:spPr>
          <a:xfrm>
            <a:off x="1691640" y="2697480"/>
            <a:ext cx="2392200" cy="7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Mobile apps don't differentiate B2B from B2C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ePOD discipline varies — signature / stamp / OTP mix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Submission deadline not visible to courier in real time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Rectangle 33"/>
          <p:cNvSpPr/>
          <p:nvPr/>
        </p:nvSpPr>
        <p:spPr>
          <a:xfrm>
            <a:off x="4084200" y="2697480"/>
            <a:ext cx="2392200" cy="754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TextBox 34"/>
          <p:cNvSpPr/>
          <p:nvPr/>
        </p:nvSpPr>
        <p:spPr>
          <a:xfrm>
            <a:off x="4084200" y="2697480"/>
            <a:ext cx="2392200" cy="7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Ramasseur app shows B2B pickups in dedicated section / strong identifier (§13)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Courier app shows B2B deliveries with B2B badge (§13)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ePOD with signature / company stamp / OTP captured in-app (§13)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Submission trips show deadline countdown to the courier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Rectangle 35"/>
          <p:cNvSpPr/>
          <p:nvPr/>
        </p:nvSpPr>
        <p:spPr>
          <a:xfrm>
            <a:off x="6477120" y="2697480"/>
            <a:ext cx="2392200" cy="754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TextBox 36"/>
          <p:cNvSpPr/>
          <p:nvPr/>
        </p:nvSpPr>
        <p:spPr>
          <a:xfrm>
            <a:off x="6477120" y="2697480"/>
            <a:ext cx="2392200" cy="7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Field staff handle B2B with the right priority + ePOD discipline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Submission misses surface in real time, not at month-end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Mobile actions create server-side audit log after sync (§13)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Rectangle 37"/>
          <p:cNvSpPr/>
          <p:nvPr/>
        </p:nvSpPr>
        <p:spPr>
          <a:xfrm>
            <a:off x="274320" y="3452040"/>
            <a:ext cx="1416960" cy="754200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9" name="TextBox 38"/>
          <p:cNvSpPr/>
          <p:nvPr/>
        </p:nvSpPr>
        <p:spPr>
          <a:xfrm>
            <a:off x="274320" y="3452040"/>
            <a:ext cx="1416960" cy="7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AR Auto-Trigger &amp; Linked Reverse Flow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Rectangle 39"/>
          <p:cNvSpPr/>
          <p:nvPr/>
        </p:nvSpPr>
        <p:spPr>
          <a:xfrm>
            <a:off x="1691640" y="3452040"/>
            <a:ext cx="2392200" cy="754200"/>
          </a:xfrm>
          <a:prstGeom prst="rect">
            <a:avLst/>
          </a:prstGeom>
          <a:solidFill>
            <a:srgbClr val="F6F6F6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1" name="TextBox 40"/>
          <p:cNvSpPr/>
          <p:nvPr/>
        </p:nvSpPr>
        <p:spPr>
          <a:xfrm>
            <a:off x="1691640" y="3452040"/>
            <a:ext cx="2392200" cy="7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AR return triggered manually after outbound delivery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AR / tender reverse flow risks getting unlinked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Rectangle 41"/>
          <p:cNvSpPr/>
          <p:nvPr/>
        </p:nvSpPr>
        <p:spPr>
          <a:xfrm>
            <a:off x="4084200" y="3452040"/>
            <a:ext cx="2392200" cy="754200"/>
          </a:xfrm>
          <a:prstGeom prst="rect">
            <a:avLst/>
          </a:prstGeom>
          <a:solidFill>
            <a:srgbClr val="F6F6F6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3" name="TextBox 42"/>
          <p:cNvSpPr/>
          <p:nvPr/>
        </p:nvSpPr>
        <p:spPr>
          <a:xfrm>
            <a:off x="4084200" y="3452040"/>
            <a:ext cx="2392200" cy="7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On outbound delivery, AR tracking auto-enters reverse-flow lifecycle (§14.3)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AR routed back through station / CTR with B2B priority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AR delivered to sender; status auto-synced + signed-receipt evidence attached (§14.3)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Rectangle 43"/>
          <p:cNvSpPr/>
          <p:nvPr/>
        </p:nvSpPr>
        <p:spPr>
          <a:xfrm>
            <a:off x="6477120" y="3452040"/>
            <a:ext cx="2392200" cy="754200"/>
          </a:xfrm>
          <a:prstGeom prst="rect">
            <a:avLst/>
          </a:prstGeom>
          <a:solidFill>
            <a:srgbClr val="F6F6F6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5" name="TextBox 44"/>
          <p:cNvSpPr/>
          <p:nvPr/>
        </p:nvSpPr>
        <p:spPr>
          <a:xfrm>
            <a:off x="6477120" y="3452040"/>
            <a:ext cx="2392200" cy="7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AR turnaround drops sharply — no manual reverse-flow creation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AR turnaround measurable as a first-class KPI (§15)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Sender sees the signed receipt come back as a tracked movement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Rectangle 45"/>
          <p:cNvSpPr/>
          <p:nvPr/>
        </p:nvSpPr>
        <p:spPr>
          <a:xfrm>
            <a:off x="274320" y="4206240"/>
            <a:ext cx="1416960" cy="754200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TextBox 46"/>
          <p:cNvSpPr/>
          <p:nvPr/>
        </p:nvSpPr>
        <p:spPr>
          <a:xfrm>
            <a:off x="274320" y="4206240"/>
            <a:ext cx="1416960" cy="7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B2B Settlement &amp; Reimbursement in Shipsy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Rectangle 47"/>
          <p:cNvSpPr/>
          <p:nvPr/>
        </p:nvSpPr>
        <p:spPr>
          <a:xfrm>
            <a:off x="1691640" y="4206240"/>
            <a:ext cx="2392200" cy="754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9" name="TextBox 48"/>
          <p:cNvSpPr/>
          <p:nvPr/>
        </p:nvSpPr>
        <p:spPr>
          <a:xfrm>
            <a:off x="1691640" y="4206240"/>
            <a:ext cx="2392200" cy="7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B2B tariffs in spreadsheets; per-courier remuneration computed manually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Reimbursements raised off-system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High-value surcharge applied inconsistently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Rectangle 49"/>
          <p:cNvSpPr/>
          <p:nvPr/>
        </p:nvSpPr>
        <p:spPr>
          <a:xfrm>
            <a:off x="4084200" y="4206240"/>
            <a:ext cx="2392200" cy="754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1" name="TextBox 50"/>
          <p:cNvSpPr/>
          <p:nvPr/>
        </p:nvSpPr>
        <p:spPr>
          <a:xfrm>
            <a:off x="4084200" y="4206240"/>
            <a:ext cx="2392200" cy="7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B2B tariff engine — station × geography, account-type-aware (§10)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Per-courier B2B remuneration with default fallback (§10)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High-value surcharge auto-applied when HV access enabled and value &gt; limit (§10)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Reimbursement workflow integrated — request → approval → payment + attachments (§14.5)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Rectangle 51"/>
          <p:cNvSpPr/>
          <p:nvPr/>
        </p:nvSpPr>
        <p:spPr>
          <a:xfrm>
            <a:off x="6477120" y="4206240"/>
            <a:ext cx="2392200" cy="754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3" name="TextBox 52"/>
          <p:cNvSpPr/>
          <p:nvPr/>
        </p:nvSpPr>
        <p:spPr>
          <a:xfrm>
            <a:off x="6477120" y="4206240"/>
            <a:ext cx="2392200" cy="7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Invoicing matches contract — fewer disputes with corporate shippers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Courier payouts settle in days, not weeks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Reimbursement aging and exposure visible to finance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Rectangle 1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5" name="TextBox 2"/>
          <p:cNvSpPr/>
          <p:nvPr/>
        </p:nvSpPr>
        <p:spPr>
          <a:xfrm>
            <a:off x="365760" y="137160"/>
            <a:ext cx="8412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AI Use Cases · AgentFleet for Anderson Logistics — B2B TO-BE in Shipsy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3"/>
          <p:cNvSpPr/>
          <p:nvPr/>
        </p:nvSpPr>
        <p:spPr>
          <a:xfrm>
            <a:off x="365760" y="530280"/>
            <a:ext cx="8412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Shipsy AI capabilities mapped to your specific operational scenarios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Rounded Rectangle 4"/>
          <p:cNvSpPr/>
          <p:nvPr/>
        </p:nvSpPr>
        <p:spPr>
          <a:xfrm>
            <a:off x="365760" y="1078920"/>
            <a:ext cx="2620800" cy="1689120"/>
          </a:xfrm>
          <a:prstGeom prst="roundRect">
            <a:avLst>
              <a:gd name="adj" fmla="val 16667"/>
            </a:avLst>
          </a:prstGeom>
          <a:solidFill>
            <a:srgbClr val="F6F8FB"/>
          </a:solidFill>
          <a:ln>
            <a:solidFill>
              <a:srgbClr val="D0DAE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" name="Rectangle 5"/>
          <p:cNvSpPr/>
          <p:nvPr/>
        </p:nvSpPr>
        <p:spPr>
          <a:xfrm>
            <a:off x="365760" y="1078920"/>
            <a:ext cx="2620800" cy="91080"/>
          </a:xfrm>
          <a:prstGeom prst="rect">
            <a:avLst/>
          </a:prstGeom>
          <a:solidFill>
            <a:srgbClr val="1F4E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" name="Rounded Rectangle 6"/>
          <p:cNvSpPr/>
          <p:nvPr/>
        </p:nvSpPr>
        <p:spPr>
          <a:xfrm>
            <a:off x="2109240" y="1261800"/>
            <a:ext cx="712800" cy="237240"/>
          </a:xfrm>
          <a:prstGeom prst="roundRect">
            <a:avLst>
              <a:gd name="adj" fmla="val 16667"/>
            </a:avLst>
          </a:prstGeom>
          <a:solidFill>
            <a:srgbClr val="599C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18360" rIns="36720" bIns="18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Now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7"/>
          <p:cNvSpPr/>
          <p:nvPr/>
        </p:nvSpPr>
        <p:spPr>
          <a:xfrm>
            <a:off x="530280" y="1261800"/>
            <a:ext cx="1487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Linked-Tracking Engine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Box 8"/>
          <p:cNvSpPr/>
          <p:nvPr/>
        </p:nvSpPr>
        <p:spPr>
          <a:xfrm>
            <a:off x="530280" y="1581840"/>
            <a:ext cx="2291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AR + Tender Reverse Flow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Rectangle 9"/>
          <p:cNvSpPr/>
          <p:nvPr/>
        </p:nvSpPr>
        <p:spPr>
          <a:xfrm>
            <a:off x="530280" y="1828800"/>
            <a:ext cx="2291760" cy="13320"/>
          </a:xfrm>
          <a:prstGeom prst="rect">
            <a:avLst/>
          </a:prstGeom>
          <a:solidFill>
            <a:srgbClr val="D9D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3" name="TextBox 10"/>
          <p:cNvSpPr/>
          <p:nvPr/>
        </p:nvSpPr>
        <p:spPr>
          <a:xfrm>
            <a:off x="530280" y="1901880"/>
            <a:ext cx="2291760" cy="75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Outbound and AR / tender-reverse trackings linked at create time. On outbound delivery, the linked tracking auto-enters the reverse-flow lifecycle and follows return-like routing logic. (§9.2, §14.3)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Rounded Rectangle 11"/>
          <p:cNvSpPr/>
          <p:nvPr/>
        </p:nvSpPr>
        <p:spPr>
          <a:xfrm>
            <a:off x="3261240" y="1078920"/>
            <a:ext cx="2620800" cy="1689120"/>
          </a:xfrm>
          <a:prstGeom prst="roundRect">
            <a:avLst>
              <a:gd name="adj" fmla="val 16667"/>
            </a:avLst>
          </a:prstGeom>
          <a:solidFill>
            <a:srgbClr val="F6F8FB"/>
          </a:solidFill>
          <a:ln>
            <a:solidFill>
              <a:srgbClr val="D0DAE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5" name="Rectangle 12"/>
          <p:cNvSpPr/>
          <p:nvPr/>
        </p:nvSpPr>
        <p:spPr>
          <a:xfrm>
            <a:off x="3261240" y="1078920"/>
            <a:ext cx="2620800" cy="91080"/>
          </a:xfrm>
          <a:prstGeom prst="rect">
            <a:avLst/>
          </a:prstGeom>
          <a:solidFill>
            <a:srgbClr val="1F4E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6" name="Rounded Rectangle 13"/>
          <p:cNvSpPr/>
          <p:nvPr/>
        </p:nvSpPr>
        <p:spPr>
          <a:xfrm>
            <a:off x="5004720" y="1261800"/>
            <a:ext cx="712800" cy="237240"/>
          </a:xfrm>
          <a:prstGeom prst="roundRect">
            <a:avLst>
              <a:gd name="adj" fmla="val 16667"/>
            </a:avLst>
          </a:prstGeom>
          <a:solidFill>
            <a:srgbClr val="599C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18360" rIns="36720" bIns="18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Now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Box 14"/>
          <p:cNvSpPr/>
          <p:nvPr/>
        </p:nvSpPr>
        <p:spPr>
          <a:xfrm>
            <a:off x="3426120" y="1261800"/>
            <a:ext cx="1487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Submission Feasibility Check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15"/>
          <p:cNvSpPr/>
          <p:nvPr/>
        </p:nvSpPr>
        <p:spPr>
          <a:xfrm>
            <a:off x="3426120" y="1581840"/>
            <a:ext cx="2291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Deadline vs Transport SLA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Rectangle 16"/>
          <p:cNvSpPr/>
          <p:nvPr/>
        </p:nvSpPr>
        <p:spPr>
          <a:xfrm>
            <a:off x="3426120" y="1828800"/>
            <a:ext cx="2291760" cy="13320"/>
          </a:xfrm>
          <a:prstGeom prst="rect">
            <a:avLst/>
          </a:prstGeom>
          <a:solidFill>
            <a:srgbClr val="D9D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0" name="TextBox 17"/>
          <p:cNvSpPr/>
          <p:nvPr/>
        </p:nvSpPr>
        <p:spPr>
          <a:xfrm>
            <a:off x="3426120" y="1901880"/>
            <a:ext cx="2291760" cy="75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On submission creation, system captures the final delivery deadline and runs feasibility check against transport delays. Operator warned if SLA cannot be met. (§9.2, §14.3)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Rounded Rectangle 18"/>
          <p:cNvSpPr/>
          <p:nvPr/>
        </p:nvSpPr>
        <p:spPr>
          <a:xfrm>
            <a:off x="6157080" y="1078920"/>
            <a:ext cx="2620800" cy="1689120"/>
          </a:xfrm>
          <a:prstGeom prst="roundRect">
            <a:avLst>
              <a:gd name="adj" fmla="val 16667"/>
            </a:avLst>
          </a:prstGeom>
          <a:solidFill>
            <a:srgbClr val="F6F8FB"/>
          </a:solidFill>
          <a:ln>
            <a:solidFill>
              <a:srgbClr val="D0DAE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2" name="Rectangle 19"/>
          <p:cNvSpPr/>
          <p:nvPr/>
        </p:nvSpPr>
        <p:spPr>
          <a:xfrm>
            <a:off x="6157080" y="1078920"/>
            <a:ext cx="2620800" cy="91080"/>
          </a:xfrm>
          <a:prstGeom prst="rect">
            <a:avLst/>
          </a:prstGeom>
          <a:solidFill>
            <a:srgbClr val="1F4E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3" name="Rounded Rectangle 20"/>
          <p:cNvSpPr/>
          <p:nvPr/>
        </p:nvSpPr>
        <p:spPr>
          <a:xfrm>
            <a:off x="7900560" y="1261800"/>
            <a:ext cx="712800" cy="237240"/>
          </a:xfrm>
          <a:prstGeom prst="roundRect">
            <a:avLst>
              <a:gd name="adj" fmla="val 16667"/>
            </a:avLst>
          </a:prstGeom>
          <a:solidFill>
            <a:srgbClr val="599C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18360" rIns="36720" bIns="18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Now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Box 21"/>
          <p:cNvSpPr/>
          <p:nvPr/>
        </p:nvSpPr>
        <p:spPr>
          <a:xfrm>
            <a:off x="6321600" y="1261800"/>
            <a:ext cx="1487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B2B Auto-Allocation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Box 22"/>
          <p:cNvSpPr/>
          <p:nvPr/>
        </p:nvSpPr>
        <p:spPr>
          <a:xfrm>
            <a:off x="6321600" y="1581840"/>
            <a:ext cx="2291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Per-Courier Tariff + Money-Transport Flag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Rectangle 23"/>
          <p:cNvSpPr/>
          <p:nvPr/>
        </p:nvSpPr>
        <p:spPr>
          <a:xfrm>
            <a:off x="6321600" y="1828800"/>
            <a:ext cx="2291760" cy="13320"/>
          </a:xfrm>
          <a:prstGeom prst="rect">
            <a:avLst/>
          </a:prstGeom>
          <a:solidFill>
            <a:srgbClr val="D9D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7" name="TextBox 24"/>
          <p:cNvSpPr/>
          <p:nvPr/>
        </p:nvSpPr>
        <p:spPr>
          <a:xfrm>
            <a:off x="6321600" y="1901880"/>
            <a:ext cx="2291760" cy="75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Allocation applies per-courier B2B tariff with default fallback; tender-withdrawal trips carry a money-transport flag; submission trips are deadline-prioritised. (§10, §14.3)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Rounded Rectangle 25"/>
          <p:cNvSpPr/>
          <p:nvPr/>
        </p:nvSpPr>
        <p:spPr>
          <a:xfrm>
            <a:off x="365760" y="2997000"/>
            <a:ext cx="2620800" cy="1689120"/>
          </a:xfrm>
          <a:prstGeom prst="roundRect">
            <a:avLst>
              <a:gd name="adj" fmla="val 16667"/>
            </a:avLst>
          </a:prstGeom>
          <a:solidFill>
            <a:srgbClr val="F6F8FB"/>
          </a:solidFill>
          <a:ln>
            <a:solidFill>
              <a:srgbClr val="D0DAE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9" name="Rectangle 26"/>
          <p:cNvSpPr/>
          <p:nvPr/>
        </p:nvSpPr>
        <p:spPr>
          <a:xfrm>
            <a:off x="365760" y="2997000"/>
            <a:ext cx="2620800" cy="91080"/>
          </a:xfrm>
          <a:prstGeom prst="rect">
            <a:avLst/>
          </a:prstGeom>
          <a:solidFill>
            <a:srgbClr val="1F4E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0" name="Rounded Rectangle 27"/>
          <p:cNvSpPr/>
          <p:nvPr/>
        </p:nvSpPr>
        <p:spPr>
          <a:xfrm>
            <a:off x="2109240" y="3179880"/>
            <a:ext cx="712800" cy="237240"/>
          </a:xfrm>
          <a:prstGeom prst="roundRect">
            <a:avLst>
              <a:gd name="adj" fmla="val 16667"/>
            </a:avLst>
          </a:prstGeom>
          <a:solidFill>
            <a:srgbClr val="599C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18360" rIns="36720" bIns="18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Now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Box 28"/>
          <p:cNvSpPr/>
          <p:nvPr/>
        </p:nvSpPr>
        <p:spPr>
          <a:xfrm>
            <a:off x="530280" y="3179880"/>
            <a:ext cx="1487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AR Auto-Trigger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Box 29"/>
          <p:cNvSpPr/>
          <p:nvPr/>
        </p:nvSpPr>
        <p:spPr>
          <a:xfrm>
            <a:off x="530280" y="3499920"/>
            <a:ext cx="2291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Outbound Delivered → Reverse Flow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Rectangle 30"/>
          <p:cNvSpPr/>
          <p:nvPr/>
        </p:nvSpPr>
        <p:spPr>
          <a:xfrm>
            <a:off x="530280" y="3746880"/>
            <a:ext cx="2291760" cy="13320"/>
          </a:xfrm>
          <a:prstGeom prst="rect">
            <a:avLst/>
          </a:prstGeom>
          <a:solidFill>
            <a:srgbClr val="D9D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4" name="TextBox 31"/>
          <p:cNvSpPr/>
          <p:nvPr/>
        </p:nvSpPr>
        <p:spPr>
          <a:xfrm>
            <a:off x="530280" y="3819960"/>
            <a:ext cx="2291760" cy="75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On delivery of the outbound parcel, Shipsy auto-enters the AR tracking into the reverse-flow lifecycle and routes it back to the corporate sender via station / CTR. (§14.3)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Rounded Rectangle 32"/>
          <p:cNvSpPr/>
          <p:nvPr/>
        </p:nvSpPr>
        <p:spPr>
          <a:xfrm>
            <a:off x="3261240" y="2997000"/>
            <a:ext cx="2620800" cy="1689120"/>
          </a:xfrm>
          <a:prstGeom prst="roundRect">
            <a:avLst>
              <a:gd name="adj" fmla="val 16667"/>
            </a:avLst>
          </a:prstGeom>
          <a:solidFill>
            <a:srgbClr val="F6F8FB"/>
          </a:solidFill>
          <a:ln>
            <a:solidFill>
              <a:srgbClr val="D0DAE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6" name="Rectangle 33"/>
          <p:cNvSpPr/>
          <p:nvPr/>
        </p:nvSpPr>
        <p:spPr>
          <a:xfrm>
            <a:off x="3261240" y="2997000"/>
            <a:ext cx="2620800" cy="91080"/>
          </a:xfrm>
          <a:prstGeom prst="rect">
            <a:avLst/>
          </a:prstGeom>
          <a:solidFill>
            <a:srgbClr val="1F4E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7" name="Rounded Rectangle 34"/>
          <p:cNvSpPr/>
          <p:nvPr/>
        </p:nvSpPr>
        <p:spPr>
          <a:xfrm>
            <a:off x="5004720" y="3179880"/>
            <a:ext cx="712800" cy="237240"/>
          </a:xfrm>
          <a:prstGeom prst="roundRect">
            <a:avLst>
              <a:gd name="adj" fmla="val 16667"/>
            </a:avLst>
          </a:prstGeom>
          <a:solidFill>
            <a:srgbClr val="599C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18360" rIns="36720" bIns="18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Now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35"/>
          <p:cNvSpPr/>
          <p:nvPr/>
        </p:nvSpPr>
        <p:spPr>
          <a:xfrm>
            <a:off x="3426120" y="3179880"/>
            <a:ext cx="1487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B2B Settlement Reconciliation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36"/>
          <p:cNvSpPr/>
          <p:nvPr/>
        </p:nvSpPr>
        <p:spPr>
          <a:xfrm>
            <a:off x="3426120" y="3499920"/>
            <a:ext cx="2291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Tariff + Remuneration + Reimbursement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Rectangle 37"/>
          <p:cNvSpPr/>
          <p:nvPr/>
        </p:nvSpPr>
        <p:spPr>
          <a:xfrm>
            <a:off x="3426120" y="3746880"/>
            <a:ext cx="2291760" cy="13320"/>
          </a:xfrm>
          <a:prstGeom prst="rect">
            <a:avLst/>
          </a:prstGeom>
          <a:solidFill>
            <a:srgbClr val="D9D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1" name="TextBox 38"/>
          <p:cNvSpPr/>
          <p:nvPr/>
        </p:nvSpPr>
        <p:spPr>
          <a:xfrm>
            <a:off x="3426120" y="3819960"/>
            <a:ext cx="2291760" cy="75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B2B tariff engine (station × geography), per-courier B2B remuneration with default fallback, high-value surcharge, reimbursement workflow — all reconciled against the trip object. (§10, §14.5)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Rounded Rectangle 39"/>
          <p:cNvSpPr/>
          <p:nvPr/>
        </p:nvSpPr>
        <p:spPr>
          <a:xfrm>
            <a:off x="6157080" y="2997000"/>
            <a:ext cx="2620800" cy="1689120"/>
          </a:xfrm>
          <a:prstGeom prst="roundRect">
            <a:avLst>
              <a:gd name="adj" fmla="val 16667"/>
            </a:avLst>
          </a:prstGeom>
          <a:solidFill>
            <a:srgbClr val="F6F8FB"/>
          </a:solidFill>
          <a:ln>
            <a:solidFill>
              <a:srgbClr val="D0DAE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3" name="Rectangle 40"/>
          <p:cNvSpPr/>
          <p:nvPr/>
        </p:nvSpPr>
        <p:spPr>
          <a:xfrm>
            <a:off x="6157080" y="2997000"/>
            <a:ext cx="2620800" cy="91080"/>
          </a:xfrm>
          <a:prstGeom prst="rect">
            <a:avLst/>
          </a:prstGeom>
          <a:solidFill>
            <a:srgbClr val="1F4E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4" name="Rounded Rectangle 41"/>
          <p:cNvSpPr/>
          <p:nvPr/>
        </p:nvSpPr>
        <p:spPr>
          <a:xfrm>
            <a:off x="7900560" y="3179880"/>
            <a:ext cx="712800" cy="237240"/>
          </a:xfrm>
          <a:prstGeom prst="roundRect">
            <a:avLst>
              <a:gd name="adj" fmla="val 16667"/>
            </a:avLst>
          </a:prstGeom>
          <a:solidFill>
            <a:srgbClr val="599C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18360" rIns="36720" bIns="18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Now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Box 42"/>
          <p:cNvSpPr/>
          <p:nvPr/>
        </p:nvSpPr>
        <p:spPr>
          <a:xfrm>
            <a:off x="6321600" y="3179880"/>
            <a:ext cx="1487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B2B SLA &amp; Statistics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Box 43"/>
          <p:cNvSpPr/>
          <p:nvPr/>
        </p:nvSpPr>
        <p:spPr>
          <a:xfrm>
            <a:off x="6321600" y="3499920"/>
            <a:ext cx="2291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By Operation Type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Rectangle 44"/>
          <p:cNvSpPr/>
          <p:nvPr/>
        </p:nvSpPr>
        <p:spPr>
          <a:xfrm>
            <a:off x="6321600" y="3746880"/>
            <a:ext cx="2291760" cy="13320"/>
          </a:xfrm>
          <a:prstGeom prst="rect">
            <a:avLst/>
          </a:prstGeom>
          <a:solidFill>
            <a:srgbClr val="D9D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8" name="TextBox 45"/>
          <p:cNvSpPr/>
          <p:nvPr/>
        </p:nvSpPr>
        <p:spPr>
          <a:xfrm>
            <a:off x="6321600" y="3819960"/>
            <a:ext cx="2291760" cy="75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Volume by operation type, on-time rate, AR return turnaround, submission compliance — filterable by station, CTR, courier, shipper. SLA breaches surfaced at parcel and aggregate level. (§15)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Rectangle 46"/>
          <p:cNvSpPr/>
          <p:nvPr/>
        </p:nvSpPr>
        <p:spPr>
          <a:xfrm>
            <a:off x="0" y="4851000"/>
            <a:ext cx="9143640" cy="292320"/>
          </a:xfrm>
          <a:prstGeom prst="rect">
            <a:avLst/>
          </a:prstGeom>
          <a:solidFill>
            <a:srgbClr val="4FB0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0" name="TextBox 47"/>
          <p:cNvSpPr/>
          <p:nvPr/>
        </p:nvSpPr>
        <p:spPr>
          <a:xfrm>
            <a:off x="365760" y="4869360"/>
            <a:ext cx="8412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Anderson Logistics — B2B TO-BE in Shipsy · Parcel &amp; document logistics — Corporate / B2B segment · AI Use Cases · Shipsy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LibreOffice/26.2.2.2$MacOSX_AARCH64 LibreOffice_project/1f77d10d6938fd34972958f64b2bcfa54f8b1ba5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