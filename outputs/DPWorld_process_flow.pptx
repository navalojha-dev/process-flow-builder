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Process Flow with Shipsy</a:t>
            </a:r>
          </a:p>
        </p:txBody>
      </p:sp>
      <p:pic>
        <p:nvPicPr>
          <p:cNvPr id="3" name="Picture 2" descr="shipsy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4592"/>
            <a:ext cx="69991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7512"/>
            <a:ext cx="1417320" cy="6198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694944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Order Creation and First Mile planning</a:t>
            </a:r>
          </a:p>
        </p:txBody>
      </p:sp>
      <p:pic>
        <p:nvPicPr>
          <p:cNvPr id="6" name="Picture 5" descr="business-cl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455" y="713232"/>
            <a:ext cx="260329" cy="260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47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Business Clients</a:t>
            </a:r>
          </a:p>
        </p:txBody>
      </p:sp>
      <p:pic>
        <p:nvPicPr>
          <p:cNvPr id="8" name="Picture 7" descr="shipsy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055" y="713232"/>
            <a:ext cx="260329" cy="2603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93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DP World OMS / BU Channels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50504" y="770244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river-assign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655" y="713232"/>
            <a:ext cx="260329" cy="2603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39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Auto-Allocation: Driver + Truck-Head + Trailer Combo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65104" y="770244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287344"/>
            <a:ext cx="1417320" cy="619832"/>
          </a:xfrm>
          <a:prstGeom prst="rect">
            <a:avLst/>
          </a:prstGeom>
          <a:solidFill>
            <a:srgbClr val="2C4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463040" y="1287344.5714285714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" y="1314776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First Mile Journey and Hub Activities</a:t>
            </a:r>
          </a:p>
        </p:txBody>
      </p:sp>
      <p:pic>
        <p:nvPicPr>
          <p:cNvPr id="17" name="Picture 16" descr="visibility-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535" y="1333064"/>
            <a:ext cx="260329" cy="2603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475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Visibility of pickup tasks</a:t>
            </a:r>
          </a:p>
        </p:txBody>
      </p:sp>
      <p:pic>
        <p:nvPicPr>
          <p:cNvPr id="19" name="Picture 18" descr="navigation-ep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295" y="1333064"/>
            <a:ext cx="260329" cy="2603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5351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Navigation to origin port / yard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4758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ickup-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055" y="1333064"/>
            <a:ext cx="260329" cy="2603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6227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Container pickup at port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5634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erify-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7815" y="1333064"/>
            <a:ext cx="260329" cy="2603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7103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CRO token + EIR check at gate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36510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ading-tru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6575" y="1333064"/>
            <a:ext cx="260329" cy="2603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7979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Container loaded onto trailer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7386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1907177"/>
            <a:ext cx="1417320" cy="619832"/>
          </a:xfrm>
          <a:prstGeom prst="rect">
            <a:avLst/>
          </a:prstGeom>
          <a:solidFill>
            <a:srgbClr val="395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463040" y="1907177.142857143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" y="1934609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Middle Mile Journey · Hub-to-Hub Movement</a:t>
            </a:r>
          </a:p>
        </p:txBody>
      </p:sp>
      <p:pic>
        <p:nvPicPr>
          <p:cNvPr id="34" name="Picture 33" descr="live-track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130" y="1952897"/>
            <a:ext cx="260329" cy="2603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4475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Recommended route adherence</a:t>
            </a:r>
          </a:p>
        </p:txBody>
      </p:sp>
      <p:pic>
        <p:nvPicPr>
          <p:cNvPr id="36" name="Picture 35" descr="vehicle-track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6080" y="1952897"/>
            <a:ext cx="260329" cy="2603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3070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Real-time GPS milestone tracking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536179" y="2009909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geofence-valid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2030" y="1952897"/>
            <a:ext cx="260329" cy="26032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21665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Cross-border checkpoint (UAE / OM / KSA)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422129" y="2009909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lerts-warn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7980" y="1952897"/>
            <a:ext cx="260329" cy="26032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102602" y="2249802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Idle / stalled driver detection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308079" y="2009909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2527009"/>
            <a:ext cx="1417320" cy="619832"/>
          </a:xfrm>
          <a:prstGeom prst="rect">
            <a:avLst/>
          </a:prstGeom>
          <a:solidFill>
            <a:srgbClr val="466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463040" y="2527009.7142857146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" y="2554441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Last Mile Operations</a:t>
            </a:r>
          </a:p>
        </p:txBody>
      </p:sp>
      <p:pic>
        <p:nvPicPr>
          <p:cNvPr id="48" name="Picture 47" descr="driver-assign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805" y="2572729"/>
            <a:ext cx="260329" cy="2603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447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Dynamic Planning of Last Mile Orders</a:t>
            </a:r>
          </a:p>
        </p:txBody>
      </p:sp>
      <p:pic>
        <p:nvPicPr>
          <p:cNvPr id="50" name="Picture 49" descr="mobile-ap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3105" y="2572729"/>
            <a:ext cx="260329" cy="26032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7020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Visibility in mobile app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22218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predicted-windo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0405" y="2572729"/>
            <a:ext cx="260329" cy="26032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9593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Break Time Inputs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34791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navigation-ep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705" y="2572729"/>
            <a:ext cx="260329" cy="26032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2166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Navigation and ePOD capture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7364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erp-syn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5005" y="2572729"/>
            <a:ext cx="260329" cy="26032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4739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Tracing details captured in Shipsy sent back to DP World ERP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59937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allocation-engin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02305" y="2572729"/>
            <a:ext cx="260329" cy="26032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7312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3rd Party Allocation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72510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3146842"/>
            <a:ext cx="1417320" cy="619832"/>
          </a:xfrm>
          <a:prstGeom prst="rect">
            <a:avLst/>
          </a:prstGeom>
          <a:solidFill>
            <a:srgbClr val="537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463040" y="3146842.285714286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5720" y="3174274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Customer Communication</a:t>
            </a:r>
          </a:p>
        </p:txBody>
      </p:sp>
      <p:pic>
        <p:nvPicPr>
          <p:cNvPr id="68" name="Picture 67" descr="comm-st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30130" y="3192562"/>
            <a:ext cx="260329" cy="26032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44475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Configurable stage wise communication</a:t>
            </a:r>
          </a:p>
        </p:txBody>
      </p:sp>
      <p:pic>
        <p:nvPicPr>
          <p:cNvPr id="70" name="Picture 69" descr="live-track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6080" y="3192562"/>
            <a:ext cx="260329" cy="260329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33070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Live tracking + ETA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253617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predicted-windo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2030" y="3192562"/>
            <a:ext cx="260329" cy="26032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21665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Sharp predicted window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42212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geofence-valid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7980" y="3192562"/>
            <a:ext cx="260329" cy="260329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10260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geofence based delivery validation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630807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3766674"/>
            <a:ext cx="1417320" cy="619832"/>
          </a:xfrm>
          <a:prstGeom prst="rect">
            <a:avLst/>
          </a:prstGeom>
          <a:solidFill>
            <a:srgbClr val="607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463040" y="3766674.8571428573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5720" y="3794106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Finance Operations</a:t>
            </a:r>
          </a:p>
        </p:txBody>
      </p:sp>
      <p:pic>
        <p:nvPicPr>
          <p:cNvPr id="82" name="Picture 81" descr="verify-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4455" y="3812394"/>
            <a:ext cx="260329" cy="26032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4447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Client Rate contracts and Invoice Generation</a:t>
            </a:r>
          </a:p>
        </p:txBody>
      </p:sp>
      <p:pic>
        <p:nvPicPr>
          <p:cNvPr id="84" name="Picture 83" descr="verify-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055" y="3812394"/>
            <a:ext cx="260329" cy="260329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9593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Sub Contractor Rate contracts and Invoice generation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2850504" y="3869407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dashboard-comparis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73655" y="3812394"/>
            <a:ext cx="260329" cy="26032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4739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Trip-level cost vs revenue reconciliation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5365104" y="3869407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0" y="4386507"/>
            <a:ext cx="1417320" cy="619832"/>
          </a:xfrm>
          <a:prstGeom prst="rect">
            <a:avLst/>
          </a:prstGeom>
          <a:solidFill>
            <a:srgbClr val="6E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1463040" y="4386507.428571429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720" y="4413939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 &amp; Reporting</a:t>
            </a:r>
          </a:p>
        </p:txBody>
      </p:sp>
      <p:pic>
        <p:nvPicPr>
          <p:cNvPr id="93" name="Picture 92" descr="vehicle-track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455" y="4432227"/>
            <a:ext cx="260329" cy="260329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4447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Dispatch view · live trip + truck-on-map</a:t>
            </a:r>
          </a:p>
        </p:txBody>
      </p:sp>
      <p:pic>
        <p:nvPicPr>
          <p:cNvPr id="95" name="Picture 94" descr="dashboard-comparis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9055" y="4432227"/>
            <a:ext cx="260329" cy="260329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39593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At-risk SLA + exception dashboard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2850504" y="4489240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alerts-warn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73655" y="4432227"/>
            <a:ext cx="260329" cy="26032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4739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Driver / asset utilization &amp; roster compliance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5365104" y="4489240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7360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Process Mapping &amp; Capability Enhancement with Shipsy</a:t>
            </a:r>
          </a:p>
        </p:txBody>
      </p:sp>
      <p:sp>
        <p:nvSpPr>
          <p:cNvPr id="3" name="Right Arrow 2"/>
          <p:cNvSpPr/>
          <p:nvPr/>
        </p:nvSpPr>
        <p:spPr>
          <a:xfrm>
            <a:off x="7818120" y="256032"/>
            <a:ext cx="274320" cy="256032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5F"/>
                </a:solidFill>
              </a:rPr>
              <a:t>Shipsy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40080"/>
            <a:ext cx="85039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1417320" cy="384048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4173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Business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804672"/>
            <a:ext cx="2392680" cy="384048"/>
          </a:xfrm>
          <a:prstGeom prst="rect">
            <a:avLst/>
          </a:prstGeom>
          <a:solidFill>
            <a:srgbClr val="A9372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As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4320" y="804672"/>
            <a:ext cx="2392680" cy="384048"/>
          </a:xfrm>
          <a:prstGeom prst="rect">
            <a:avLst/>
          </a:prstGeom>
          <a:solidFill>
            <a:srgbClr val="2C496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432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To-Be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0" y="804672"/>
            <a:ext cx="2392680" cy="384048"/>
          </a:xfrm>
          <a:prstGeom prst="rect">
            <a:avLst/>
          </a:prstGeom>
          <a:solidFill>
            <a:srgbClr val="599C3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1887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1887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Booking &amp; Order Mgmt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Bookings via email / phone from BUs and external customers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O-D, container type, slot windows captured manually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No system enforcement of port-token / customer-window constraints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Cross-border vs local jobs handled in spreadsheets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432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432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Booking ingest via UI + API for port↔port, port↔WH, local UAE, GCC cross-border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Single Trip object with O-D-container-window-slot model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Movement-type taxonomy enforced at create time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Internal BUs + external customers as customer accounts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Single source of truth for every trip from booking onwards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Slot constraints captured at source — no late-stage surprises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Faster turnaround on new BU / customer onboarding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173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8173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Resource Modelling (Assets + Drivers)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Truck-head + trailer + genset + dolly tracked in disparate sheets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Driver visa / cross-border permits known only by dispatcher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No system view of which combos can run which lanes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Roster maintained manually for 24×7 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432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432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Asset master with unique IDs per head / trailer / genset / dolly + valid combinations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Driver master with skills, visas, permits, shift roster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Compatibility rules: container type → required asset combo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Roster import + on-duty / off-duty live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700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Allocation engine sees the full asset+driver world in one place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Cross-border eligibility is an attribute, not tribal knowledge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New drivers / trailers onboard in hours, not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460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4460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Auto-Allocation &amp;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Manual matching of job → head + trailer + genset combo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Manual driver pick based on dispatcher recall of permits / hours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Job pushed to driver via WhatsApp / phone calls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Replanning is high-touch and slow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8432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8432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AI-Powered No-Touch Dispatch: cargo + movement → asset combo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Constraint engine: shift hours, visas, permits, capacity, slot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Job pushed natively to Shipsy Driver App, accept-in-app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Auto-replan on cancellations / breakdowns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700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Allocation collapses from minutes-per-job to seconds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Zero invalid driver-asset-lane combinations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Dispatcher workload shifts from matching to exception-handling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746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0746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Documentation Workflow (CS)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CRO tokens, EIRs, port tokens, empty-acceptance prepared off-system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Driver collects paper packets at depot before pickup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No link between document state and trip state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Lost / wrong docs cause gate rejections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8432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8432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Trip auto-spawns CS tasks for each required doc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CS uploads docs against the same trip in TMS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Driver app shows attached docs at gate / checkpoint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Trip blocked from start if mandatory docs missing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7700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Doc-related gate rejections drop sharply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CS and dispatch operate on the same trip object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Audit trail of who uploaded what, when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033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7033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Execution &amp; Trip Tracking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164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No in-truck telematics; visibility comes from phone calls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No geofence-driven milestones; status entered ad-hoc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Idle drivers and route deviation invisible until late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POD / EIR returns as paper at end of shift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432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432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Phone-GPS via Shipsy Driver App drives milestones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Geofence-based arrival / loading / drop events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Live route-adherence + idle-stalled detection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ePOD / EIR captured in-app with image + timestamp + geo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7700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700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Real-time trip state visible in dispatch without devices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Exceptions surfaced in minutes, not at shift-end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POD/EIR closes the trip cleanly the moment it happens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3319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3319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Dispatch Visibility &amp; Reporting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9164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164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No live map view of trips and trucks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At-risk slot misses caught only when customer escalates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SLA + utilization computed in Excel after the fact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No unified roster / attendance / availability view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8432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8432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Control-tower dispatch view: live trips + truck-on-map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At-risk SLA + idle / deviation exception queue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Driver / asset utilization + roster compliance dashboard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Attendance tracked via app login / logout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7700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700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Operations move from reactive to proactive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Single screen for every dispatcher across 24×7 ops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Utilization gains compound across BUs and lanes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AI Use Cases · AgentFleet for DP World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DDEE"/>
                </a:solidFill>
              </a:rPr>
              <a:t>Shipsy AI capabilities mapped to your specific operational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9216" y="1261872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Control Tower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Continuously watches for missed slot tokens, route deviations, and idle drivers — auto-creates incidents and routes them to the right dispatcher with the corrective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13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13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04816" y="1261872"/>
            <a:ext cx="713232" cy="237744"/>
          </a:xfrm>
          <a:prstGeom prst="roundRect">
            <a:avLst/>
          </a:prstGeom>
          <a:solidFill>
            <a:srgbClr val="E0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59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ASTRA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59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Driver Assist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59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59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Nudges drivers on unplanned stoppages, deviation from the recommended route, and missed pre-departure scans — surfaces issues before SLA slips.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9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9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0416" y="1261872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15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</a:rPr>
              <a:t>Address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15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Geocoding + Yard 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15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15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Standardises and validates port / yard / warehouse addresses so geofences fire reliably across UAE and GCC cross-border lanes.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09216" y="3179826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</a:rPr>
              <a:t>Routing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200+ Constraint Optimiser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Plans cross-border lanes against driver visas, vehicle eligibility, slot windows, and Ramadan / weekend road rules — replaces postcode-based manual planning.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613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613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04816" y="3179826"/>
            <a:ext cx="713232" cy="237744"/>
          </a:xfrm>
          <a:prstGeom prst="roundRect">
            <a:avLst/>
          </a:prstGeom>
          <a:solidFill>
            <a:srgbClr val="E0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59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NEXA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59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Settlement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59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59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Reconciles trip-level computed charges vs sub-contractor and customer invoices, flags deviations, and shrinks settlement cycle time.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69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569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00416" y="3179826"/>
            <a:ext cx="713232" cy="237744"/>
          </a:xfrm>
          <a:prstGeom prst="round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15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VERA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15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Dispute Resolution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15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15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Automates claims for damage / detention / demurrage with image + ePOD evidence pulled directly from the trip object.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8691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DP World Logistics · Container Drayage · Port + Cross-border Trucking · AI Use Cases · Shipsy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