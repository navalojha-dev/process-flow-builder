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6DBC7B-596B-4676-975D-3B72431B06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297886-979F-4EBC-B809-D21FD368E09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4374770-00FF-45C7-9B0A-1C19A3CABCB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2B9C79-64F6-4905-B2E4-4B180476C82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7E7FC2-D04C-4E01-B29A-A140CDD926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331F40D-CF84-451C-AE73-7E9E6FEDD0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8CBE3A5-5509-4E34-9880-5E6A0E4D4A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559C94-6C1E-4BBF-A405-03C93C6184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1852CF-052D-4F75-97E9-27836B8681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DD83C54-FFA4-4AAB-B3C8-114D97FB4B3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280D03-7DDF-43E7-B966-D3DD243E1D1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0.png"/><Relationship Id="rId15" Type="http://schemas.openxmlformats.org/officeDocument/2006/relationships/image" Target="../media/image5.png"/><Relationship Id="rId16" Type="http://schemas.openxmlformats.org/officeDocument/2006/relationships/image" Target="../media/image13.png"/><Relationship Id="rId17" Type="http://schemas.openxmlformats.org/officeDocument/2006/relationships/image" Target="../media/image14.png"/><Relationship Id="rId18" Type="http://schemas.openxmlformats.org/officeDocument/2006/relationships/image" Target="../media/image15.png"/><Relationship Id="rId19" Type="http://schemas.openxmlformats.org/officeDocument/2006/relationships/image" Target="../media/image16.png"/><Relationship Id="rId20" Type="http://schemas.openxmlformats.org/officeDocument/2006/relationships/image" Target="../media/image6.png"/><Relationship Id="rId21" Type="http://schemas.openxmlformats.org/officeDocument/2006/relationships/image" Target="../media/image17.png"/><Relationship Id="rId22" Type="http://schemas.openxmlformats.org/officeDocument/2006/relationships/image" Target="../media/image18.png"/><Relationship Id="rId23" Type="http://schemas.openxmlformats.org/officeDocument/2006/relationships/image" Target="../media/image19.png"/><Relationship Id="rId24" Type="http://schemas.openxmlformats.org/officeDocument/2006/relationships/image" Target="../media/image20.png"/><Relationship Id="rId25" Type="http://schemas.openxmlformats.org/officeDocument/2006/relationships/image" Target="../media/image8.png"/><Relationship Id="rId26" Type="http://schemas.openxmlformats.org/officeDocument/2006/relationships/image" Target="../media/image8.png"/><Relationship Id="rId27" Type="http://schemas.openxmlformats.org/officeDocument/2006/relationships/image" Target="../media/image21.png"/><Relationship Id="rId28" Type="http://schemas.openxmlformats.org/officeDocument/2006/relationships/image" Target="../media/image22.png"/><Relationship Id="rId29" Type="http://schemas.openxmlformats.org/officeDocument/2006/relationships/image" Target="../media/image21.png"/><Relationship Id="rId30" Type="http://schemas.openxmlformats.org/officeDocument/2006/relationships/image" Target="../media/image23.png"/><Relationship Id="rId3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274320" y="91440"/>
            <a:ext cx="6857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Process Flow with Shipsy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Picture 2" descr="shipsy-logo-mark.png"/>
          <p:cNvPicPr/>
          <p:nvPr/>
        </p:nvPicPr>
        <p:blipFill>
          <a:blip r:embed="rId1"/>
          <a:stretch/>
        </p:blipFill>
        <p:spPr>
          <a:xfrm>
            <a:off x="8092440" y="164520"/>
            <a:ext cx="69948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Rectangle 3"/>
          <p:cNvSpPr/>
          <p:nvPr/>
        </p:nvSpPr>
        <p:spPr>
          <a:xfrm>
            <a:off x="0" y="667440"/>
            <a:ext cx="1416960" cy="61956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45720" y="694800"/>
            <a:ext cx="132552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ctr">
            <a:spAutoFit/>
          </a:bodyPr>
          <a:p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Order Creation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&amp; First Mile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Planning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Picture 5" descr="business-clients.png"/>
          <p:cNvPicPr/>
          <p:nvPr/>
        </p:nvPicPr>
        <p:blipFill>
          <a:blip r:embed="rId2"/>
          <a:stretch/>
        </p:blipFill>
        <p:spPr>
          <a:xfrm>
            <a:off x="2544480" y="71316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Box 6"/>
          <p:cNvSpPr/>
          <p:nvPr/>
        </p:nvSpPr>
        <p:spPr>
          <a:xfrm>
            <a:off x="1444680" y="1010160"/>
            <a:ext cx="245952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Business Clients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Picture 7" descr="erp-sync.png"/>
          <p:cNvPicPr/>
          <p:nvPr/>
        </p:nvPicPr>
        <p:blipFill>
          <a:blip r:embed="rId3"/>
          <a:stretch/>
        </p:blipFill>
        <p:spPr>
          <a:xfrm>
            <a:off x="5059080" y="71316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Box 8"/>
          <p:cNvSpPr/>
          <p:nvPr/>
        </p:nvSpPr>
        <p:spPr>
          <a:xfrm>
            <a:off x="3959280" y="1010160"/>
            <a:ext cx="245952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Anderson Upstream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(admin / station capture)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ight Arrow 9"/>
          <p:cNvSpPr/>
          <p:nvPr/>
        </p:nvSpPr>
        <p:spPr>
          <a:xfrm>
            <a:off x="2850480" y="770400"/>
            <a:ext cx="218988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0" name="Picture 10" descr="allocation-engine.png"/>
          <p:cNvPicPr/>
          <p:nvPr/>
        </p:nvPicPr>
        <p:blipFill>
          <a:blip r:embed="rId4"/>
          <a:stretch/>
        </p:blipFill>
        <p:spPr>
          <a:xfrm>
            <a:off x="7573680" y="71316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Box 11"/>
          <p:cNvSpPr/>
          <p:nvPr/>
        </p:nvSpPr>
        <p:spPr>
          <a:xfrm>
            <a:off x="6473880" y="1010160"/>
            <a:ext cx="245952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Automated Pickup Planning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&amp; Ramasseur Assignment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ight Arrow 12"/>
          <p:cNvSpPr/>
          <p:nvPr/>
        </p:nvSpPr>
        <p:spPr>
          <a:xfrm>
            <a:off x="5365080" y="770400"/>
            <a:ext cx="218988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ectangle 13"/>
          <p:cNvSpPr/>
          <p:nvPr/>
        </p:nvSpPr>
        <p:spPr>
          <a:xfrm>
            <a:off x="0" y="1287360"/>
            <a:ext cx="1416960" cy="619560"/>
          </a:xfrm>
          <a:prstGeom prst="rect">
            <a:avLst/>
          </a:prstGeom>
          <a:solidFill>
            <a:srgbClr val="2C476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74" name="Connector 14"/>
          <p:cNvCxnSpPr/>
          <p:nvPr/>
        </p:nvCxnSpPr>
        <p:spPr>
          <a:xfrm>
            <a:off x="1463040" y="1287000"/>
            <a:ext cx="7498440" cy="360"/>
          </a:xfrm>
          <a:prstGeom prst="straightConnector1">
            <a:avLst/>
          </a:prstGeom>
          <a:ln w="6350">
            <a:solidFill>
              <a:srgbClr val="D9DFE6"/>
            </a:solidFill>
            <a:prstDash val="dash"/>
            <a:round/>
          </a:ln>
        </p:spPr>
      </p:cxnSp>
      <p:sp>
        <p:nvSpPr>
          <p:cNvPr id="75" name="TextBox 15"/>
          <p:cNvSpPr/>
          <p:nvPr/>
        </p:nvSpPr>
        <p:spPr>
          <a:xfrm>
            <a:off x="45720" y="1314720"/>
            <a:ext cx="132552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ctr">
            <a:spAutoFit/>
          </a:bodyPr>
          <a:p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First Mile Journey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&amp; Hub Activities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Picture 16" descr="visibility-clipboard.png"/>
          <p:cNvPicPr/>
          <p:nvPr/>
        </p:nvPicPr>
        <p:blipFill>
          <a:blip r:embed="rId5"/>
          <a:stretch/>
        </p:blipFill>
        <p:spPr>
          <a:xfrm>
            <a:off x="2041560" y="133308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Box 17"/>
          <p:cNvSpPr/>
          <p:nvPr/>
        </p:nvSpPr>
        <p:spPr>
          <a:xfrm>
            <a:off x="1444680" y="163008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Visibility of Pickup Tasks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Picture 18" descr="navigation-epod.png"/>
          <p:cNvPicPr/>
          <p:nvPr/>
        </p:nvPicPr>
        <p:blipFill>
          <a:blip r:embed="rId6"/>
          <a:stretch/>
        </p:blipFill>
        <p:spPr>
          <a:xfrm>
            <a:off x="3550320" y="133308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Box 19"/>
          <p:cNvSpPr/>
          <p:nvPr/>
        </p:nvSpPr>
        <p:spPr>
          <a:xfrm>
            <a:off x="2953440" y="163008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Navigation &amp; eProof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of Pickup capture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ight Arrow 20"/>
          <p:cNvSpPr/>
          <p:nvPr/>
        </p:nvSpPr>
        <p:spPr>
          <a:xfrm>
            <a:off x="2347560" y="1389960"/>
            <a:ext cx="11840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1" name="Picture 21" descr="pickup-check.png"/>
          <p:cNvPicPr/>
          <p:nvPr/>
        </p:nvPicPr>
        <p:blipFill>
          <a:blip r:embed="rId7"/>
          <a:stretch/>
        </p:blipFill>
        <p:spPr>
          <a:xfrm>
            <a:off x="5059080" y="133308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Box 22"/>
          <p:cNvSpPr/>
          <p:nvPr/>
        </p:nvSpPr>
        <p:spPr>
          <a:xfrm>
            <a:off x="4462200" y="163008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Pickup Completion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ight Arrow 23"/>
          <p:cNvSpPr/>
          <p:nvPr/>
        </p:nvSpPr>
        <p:spPr>
          <a:xfrm>
            <a:off x="3856320" y="1389960"/>
            <a:ext cx="11840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4" name="Picture 24" descr="verify-clipboard.png"/>
          <p:cNvPicPr/>
          <p:nvPr/>
        </p:nvPicPr>
        <p:blipFill>
          <a:blip r:embed="rId8"/>
          <a:stretch/>
        </p:blipFill>
        <p:spPr>
          <a:xfrm>
            <a:off x="6567840" y="133308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Box 25"/>
          <p:cNvSpPr/>
          <p:nvPr/>
        </p:nvSpPr>
        <p:spPr>
          <a:xfrm>
            <a:off x="5970960" y="163008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Inscan of Pickup Order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ight Arrow 26"/>
          <p:cNvSpPr/>
          <p:nvPr/>
        </p:nvSpPr>
        <p:spPr>
          <a:xfrm>
            <a:off x="5365080" y="1389960"/>
            <a:ext cx="11840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7" name="Picture 27" descr="verify-clipboard.png"/>
          <p:cNvPicPr/>
          <p:nvPr/>
        </p:nvPicPr>
        <p:blipFill>
          <a:blip r:embed="rId9"/>
          <a:stretch/>
        </p:blipFill>
        <p:spPr>
          <a:xfrm>
            <a:off x="8076600" y="133308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Box 28"/>
          <p:cNvSpPr/>
          <p:nvPr/>
        </p:nvSpPr>
        <p:spPr>
          <a:xfrm>
            <a:off x="7479720" y="163008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Order Verification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at Origin Station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ight Arrow 29"/>
          <p:cNvSpPr/>
          <p:nvPr/>
        </p:nvSpPr>
        <p:spPr>
          <a:xfrm>
            <a:off x="6873840" y="1389960"/>
            <a:ext cx="11840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Rectangle 30"/>
          <p:cNvSpPr/>
          <p:nvPr/>
        </p:nvSpPr>
        <p:spPr>
          <a:xfrm>
            <a:off x="0" y="1907280"/>
            <a:ext cx="1416960" cy="619560"/>
          </a:xfrm>
          <a:prstGeom prst="rect">
            <a:avLst/>
          </a:prstGeom>
          <a:solidFill>
            <a:srgbClr val="39557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91" name="Connector 31"/>
          <p:cNvCxnSpPr/>
          <p:nvPr/>
        </p:nvCxnSpPr>
        <p:spPr>
          <a:xfrm>
            <a:off x="1463040" y="1906920"/>
            <a:ext cx="7498440" cy="360"/>
          </a:xfrm>
          <a:prstGeom prst="straightConnector1">
            <a:avLst/>
          </a:prstGeom>
          <a:ln w="6350">
            <a:solidFill>
              <a:srgbClr val="D9DFE6"/>
            </a:solidFill>
            <a:prstDash val="dash"/>
            <a:round/>
          </a:ln>
        </p:spPr>
      </p:cxnSp>
      <p:sp>
        <p:nvSpPr>
          <p:cNvPr id="92" name="TextBox 32"/>
          <p:cNvSpPr/>
          <p:nvPr/>
        </p:nvSpPr>
        <p:spPr>
          <a:xfrm>
            <a:off x="45720" y="1934640"/>
            <a:ext cx="132552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ctr">
            <a:spAutoFit/>
          </a:bodyPr>
          <a:p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Middle Mile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Journey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Hub-to-Hub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Picture 33" descr="bagging-box.png"/>
          <p:cNvPicPr/>
          <p:nvPr/>
        </p:nvPicPr>
        <p:blipFill>
          <a:blip r:embed="rId10"/>
          <a:stretch/>
        </p:blipFill>
        <p:spPr>
          <a:xfrm>
            <a:off x="2041560" y="195300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Box 34"/>
          <p:cNvSpPr/>
          <p:nvPr/>
        </p:nvSpPr>
        <p:spPr>
          <a:xfrm>
            <a:off x="1444680" y="224964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Bag Creation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Picture 35" descr="loading-truck.png"/>
          <p:cNvPicPr/>
          <p:nvPr/>
        </p:nvPicPr>
        <p:blipFill>
          <a:blip r:embed="rId11"/>
          <a:stretch/>
        </p:blipFill>
        <p:spPr>
          <a:xfrm>
            <a:off x="3550320" y="195300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Box 36"/>
          <p:cNvSpPr/>
          <p:nvPr/>
        </p:nvSpPr>
        <p:spPr>
          <a:xfrm>
            <a:off x="2953440" y="224964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Loading Bags in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Vehicles (Navette)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ight Arrow 37"/>
          <p:cNvSpPr/>
          <p:nvPr/>
        </p:nvSpPr>
        <p:spPr>
          <a:xfrm>
            <a:off x="2347560" y="2009880"/>
            <a:ext cx="11840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8" name="Picture 38" descr="unloading-truck.png"/>
          <p:cNvPicPr/>
          <p:nvPr/>
        </p:nvPicPr>
        <p:blipFill>
          <a:blip r:embed="rId12"/>
          <a:stretch/>
        </p:blipFill>
        <p:spPr>
          <a:xfrm>
            <a:off x="5059080" y="195300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Box 39"/>
          <p:cNvSpPr/>
          <p:nvPr/>
        </p:nvSpPr>
        <p:spPr>
          <a:xfrm>
            <a:off x="4462200" y="224964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Unloading at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CTR Hub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ight Arrow 40"/>
          <p:cNvSpPr/>
          <p:nvPr/>
        </p:nvSpPr>
        <p:spPr>
          <a:xfrm>
            <a:off x="3856320" y="2009880"/>
            <a:ext cx="11840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1" name="Picture 41" descr="sorting.png"/>
          <p:cNvPicPr/>
          <p:nvPr/>
        </p:nvPicPr>
        <p:blipFill>
          <a:blip r:embed="rId13"/>
          <a:stretch/>
        </p:blipFill>
        <p:spPr>
          <a:xfrm>
            <a:off x="6567840" y="195300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Box 42"/>
          <p:cNvSpPr/>
          <p:nvPr/>
        </p:nvSpPr>
        <p:spPr>
          <a:xfrm>
            <a:off x="5970960" y="224964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Sortation by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Wilaya / Destination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ight Arrow 43"/>
          <p:cNvSpPr/>
          <p:nvPr/>
        </p:nvSpPr>
        <p:spPr>
          <a:xfrm>
            <a:off x="5365080" y="2009880"/>
            <a:ext cx="11840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4" name="Picture 44" descr="loading-truck.png"/>
          <p:cNvPicPr/>
          <p:nvPr/>
        </p:nvPicPr>
        <p:blipFill>
          <a:blip r:embed="rId14"/>
          <a:stretch/>
        </p:blipFill>
        <p:spPr>
          <a:xfrm>
            <a:off x="8076600" y="195300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Box 45"/>
          <p:cNvSpPr/>
          <p:nvPr/>
        </p:nvSpPr>
        <p:spPr>
          <a:xfrm>
            <a:off x="7479720" y="2249640"/>
            <a:ext cx="145368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Loading Bags in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Vehicles (Navette)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ight Arrow 46"/>
          <p:cNvSpPr/>
          <p:nvPr/>
        </p:nvSpPr>
        <p:spPr>
          <a:xfrm>
            <a:off x="6873840" y="2009880"/>
            <a:ext cx="118404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Rectangle 47"/>
          <p:cNvSpPr/>
          <p:nvPr/>
        </p:nvSpPr>
        <p:spPr>
          <a:xfrm>
            <a:off x="0" y="2526840"/>
            <a:ext cx="1416960" cy="619560"/>
          </a:xfrm>
          <a:prstGeom prst="rect">
            <a:avLst/>
          </a:prstGeom>
          <a:solidFill>
            <a:srgbClr val="46638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08" name="Connector 48"/>
          <p:cNvCxnSpPr/>
          <p:nvPr/>
        </p:nvCxnSpPr>
        <p:spPr>
          <a:xfrm>
            <a:off x="1463040" y="2526840"/>
            <a:ext cx="7498440" cy="360"/>
          </a:xfrm>
          <a:prstGeom prst="straightConnector1">
            <a:avLst/>
          </a:prstGeom>
          <a:ln w="6350">
            <a:solidFill>
              <a:srgbClr val="D9DFE6"/>
            </a:solidFill>
            <a:prstDash val="dash"/>
            <a:round/>
          </a:ln>
        </p:spPr>
      </p:cxnSp>
      <p:sp>
        <p:nvSpPr>
          <p:cNvPr id="109" name="TextBox 49"/>
          <p:cNvSpPr/>
          <p:nvPr/>
        </p:nvSpPr>
        <p:spPr>
          <a:xfrm>
            <a:off x="45720" y="2554560"/>
            <a:ext cx="132552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ctr">
            <a:spAutoFit/>
          </a:bodyPr>
          <a:p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Last Mile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Operations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Picture 50" descr="visibility-clipboard.png"/>
          <p:cNvPicPr/>
          <p:nvPr/>
        </p:nvPicPr>
        <p:blipFill>
          <a:blip r:embed="rId15"/>
          <a:stretch/>
        </p:blipFill>
        <p:spPr>
          <a:xfrm>
            <a:off x="1915920" y="257256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Box 51"/>
          <p:cNvSpPr/>
          <p:nvPr/>
        </p:nvSpPr>
        <p:spPr>
          <a:xfrm>
            <a:off x="1444680" y="2869560"/>
            <a:ext cx="12020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Order Arrives at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Destination Station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Picture 52" descr="load-balancing.png"/>
          <p:cNvPicPr/>
          <p:nvPr/>
        </p:nvPicPr>
        <p:blipFill>
          <a:blip r:embed="rId16"/>
          <a:stretch/>
        </p:blipFill>
        <p:spPr>
          <a:xfrm>
            <a:off x="3173040" y="257256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Box 53"/>
          <p:cNvSpPr/>
          <p:nvPr/>
        </p:nvSpPr>
        <p:spPr>
          <a:xfrm>
            <a:off x="2702160" y="2869560"/>
            <a:ext cx="12020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TO and Load Balancing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ight Arrow 54"/>
          <p:cNvSpPr/>
          <p:nvPr/>
        </p:nvSpPr>
        <p:spPr>
          <a:xfrm>
            <a:off x="2221920" y="2629800"/>
            <a:ext cx="93276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5" name="Picture 55" descr="driver-assignment.png"/>
          <p:cNvPicPr/>
          <p:nvPr/>
        </p:nvPicPr>
        <p:blipFill>
          <a:blip r:embed="rId17"/>
          <a:stretch/>
        </p:blipFill>
        <p:spPr>
          <a:xfrm>
            <a:off x="4430520" y="257256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Box 56"/>
          <p:cNvSpPr/>
          <p:nvPr/>
        </p:nvSpPr>
        <p:spPr>
          <a:xfrm>
            <a:off x="3959280" y="2869560"/>
            <a:ext cx="12020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Dynamic Planning of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Last Mile Orders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ight Arrow 57"/>
          <p:cNvSpPr/>
          <p:nvPr/>
        </p:nvSpPr>
        <p:spPr>
          <a:xfrm>
            <a:off x="3479040" y="2629800"/>
            <a:ext cx="93276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8" name="Picture 58" descr="mobile-app.png"/>
          <p:cNvPicPr/>
          <p:nvPr/>
        </p:nvPicPr>
        <p:blipFill>
          <a:blip r:embed="rId18"/>
          <a:stretch/>
        </p:blipFill>
        <p:spPr>
          <a:xfrm>
            <a:off x="5687640" y="257256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Box 59"/>
          <p:cNvSpPr/>
          <p:nvPr/>
        </p:nvSpPr>
        <p:spPr>
          <a:xfrm>
            <a:off x="5216760" y="2869560"/>
            <a:ext cx="12020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Visibility in Mobile App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ight Arrow 60"/>
          <p:cNvSpPr/>
          <p:nvPr/>
        </p:nvSpPr>
        <p:spPr>
          <a:xfrm>
            <a:off x="4736520" y="2629800"/>
            <a:ext cx="93276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1" name="Picture 61" descr="cluster-sequence.png"/>
          <p:cNvPicPr/>
          <p:nvPr/>
        </p:nvPicPr>
        <p:blipFill>
          <a:blip r:embed="rId19"/>
          <a:stretch/>
        </p:blipFill>
        <p:spPr>
          <a:xfrm>
            <a:off x="6945120" y="257256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Box 62"/>
          <p:cNvSpPr/>
          <p:nvPr/>
        </p:nvSpPr>
        <p:spPr>
          <a:xfrm>
            <a:off x="6473880" y="2869560"/>
            <a:ext cx="12020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Cluster Sequence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Selection &amp; Loading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ight Arrow 63"/>
          <p:cNvSpPr/>
          <p:nvPr/>
        </p:nvSpPr>
        <p:spPr>
          <a:xfrm>
            <a:off x="5993640" y="2629800"/>
            <a:ext cx="93276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4" name="Picture 64" descr="navigation-epod.png"/>
          <p:cNvPicPr/>
          <p:nvPr/>
        </p:nvPicPr>
        <p:blipFill>
          <a:blip r:embed="rId20"/>
          <a:stretch/>
        </p:blipFill>
        <p:spPr>
          <a:xfrm>
            <a:off x="8202240" y="257256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TextBox 65"/>
          <p:cNvSpPr/>
          <p:nvPr/>
        </p:nvSpPr>
        <p:spPr>
          <a:xfrm>
            <a:off x="7731360" y="2869560"/>
            <a:ext cx="120204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Navigation, ePOD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&amp; COD capture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ight Arrow 66"/>
          <p:cNvSpPr/>
          <p:nvPr/>
        </p:nvSpPr>
        <p:spPr>
          <a:xfrm>
            <a:off x="7251120" y="2629800"/>
            <a:ext cx="93276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ectangle 67"/>
          <p:cNvSpPr/>
          <p:nvPr/>
        </p:nvSpPr>
        <p:spPr>
          <a:xfrm>
            <a:off x="0" y="3146760"/>
            <a:ext cx="1416960" cy="619560"/>
          </a:xfrm>
          <a:prstGeom prst="rect">
            <a:avLst/>
          </a:prstGeom>
          <a:solidFill>
            <a:srgbClr val="53709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28" name="Connector 68"/>
          <p:cNvCxnSpPr/>
          <p:nvPr/>
        </p:nvCxnSpPr>
        <p:spPr>
          <a:xfrm>
            <a:off x="1463040" y="3146760"/>
            <a:ext cx="7498440" cy="360"/>
          </a:xfrm>
          <a:prstGeom prst="straightConnector1">
            <a:avLst/>
          </a:prstGeom>
          <a:ln w="6350">
            <a:solidFill>
              <a:srgbClr val="D9DFE6"/>
            </a:solidFill>
            <a:prstDash val="dash"/>
            <a:round/>
          </a:ln>
        </p:spPr>
      </p:cxnSp>
      <p:sp>
        <p:nvSpPr>
          <p:cNvPr id="129" name="TextBox 69"/>
          <p:cNvSpPr/>
          <p:nvPr/>
        </p:nvSpPr>
        <p:spPr>
          <a:xfrm>
            <a:off x="45720" y="3174120"/>
            <a:ext cx="132552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ctr">
            <a:spAutoFit/>
          </a:bodyPr>
          <a:p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Customer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Communication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Picture 70" descr="comm-stage.png"/>
          <p:cNvPicPr/>
          <p:nvPr/>
        </p:nvPicPr>
        <p:blipFill>
          <a:blip r:embed="rId21"/>
          <a:stretch/>
        </p:blipFill>
        <p:spPr>
          <a:xfrm>
            <a:off x="2230200" y="319248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Box 71"/>
          <p:cNvSpPr/>
          <p:nvPr/>
        </p:nvSpPr>
        <p:spPr>
          <a:xfrm>
            <a:off x="1444680" y="3489480"/>
            <a:ext cx="183060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Configurable stage-wise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communication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Picture 72" descr="live-tracking.png"/>
          <p:cNvPicPr/>
          <p:nvPr/>
        </p:nvPicPr>
        <p:blipFill>
          <a:blip r:embed="rId22"/>
          <a:stretch/>
        </p:blipFill>
        <p:spPr>
          <a:xfrm>
            <a:off x="4116240" y="319248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Box 73"/>
          <p:cNvSpPr/>
          <p:nvPr/>
        </p:nvSpPr>
        <p:spPr>
          <a:xfrm>
            <a:off x="3330720" y="3489480"/>
            <a:ext cx="183060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Live tracking + ETA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ight Arrow 74"/>
          <p:cNvSpPr/>
          <p:nvPr/>
        </p:nvSpPr>
        <p:spPr>
          <a:xfrm>
            <a:off x="2536200" y="3249720"/>
            <a:ext cx="156132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5" name="Picture 75" descr="predicted-window.png"/>
          <p:cNvPicPr/>
          <p:nvPr/>
        </p:nvPicPr>
        <p:blipFill>
          <a:blip r:embed="rId23"/>
          <a:stretch/>
        </p:blipFill>
        <p:spPr>
          <a:xfrm>
            <a:off x="6001920" y="319248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TextBox 76"/>
          <p:cNvSpPr/>
          <p:nvPr/>
        </p:nvSpPr>
        <p:spPr>
          <a:xfrm>
            <a:off x="5216760" y="3489480"/>
            <a:ext cx="183060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Sharp predicted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delivery window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ight Arrow 77"/>
          <p:cNvSpPr/>
          <p:nvPr/>
        </p:nvSpPr>
        <p:spPr>
          <a:xfrm>
            <a:off x="4422240" y="3249720"/>
            <a:ext cx="156132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8" name="Picture 78" descr="geofence-validation.png"/>
          <p:cNvPicPr/>
          <p:nvPr/>
        </p:nvPicPr>
        <p:blipFill>
          <a:blip r:embed="rId24"/>
          <a:stretch/>
        </p:blipFill>
        <p:spPr>
          <a:xfrm>
            <a:off x="7887960" y="319248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Box 79"/>
          <p:cNvSpPr/>
          <p:nvPr/>
        </p:nvSpPr>
        <p:spPr>
          <a:xfrm>
            <a:off x="7102440" y="3489480"/>
            <a:ext cx="183060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Geofence-based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delivery validation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ight Arrow 80"/>
          <p:cNvSpPr/>
          <p:nvPr/>
        </p:nvSpPr>
        <p:spPr>
          <a:xfrm>
            <a:off x="6307920" y="3249720"/>
            <a:ext cx="156132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Rectangle 81"/>
          <p:cNvSpPr/>
          <p:nvPr/>
        </p:nvSpPr>
        <p:spPr>
          <a:xfrm>
            <a:off x="0" y="3766680"/>
            <a:ext cx="1416960" cy="619560"/>
          </a:xfrm>
          <a:prstGeom prst="rect">
            <a:avLst/>
          </a:prstGeom>
          <a:solidFill>
            <a:srgbClr val="607EA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42" name="Connector 82"/>
          <p:cNvCxnSpPr/>
          <p:nvPr/>
        </p:nvCxnSpPr>
        <p:spPr>
          <a:xfrm>
            <a:off x="1463040" y="3766320"/>
            <a:ext cx="7498440" cy="360"/>
          </a:xfrm>
          <a:prstGeom prst="straightConnector1">
            <a:avLst/>
          </a:prstGeom>
          <a:ln w="6350">
            <a:solidFill>
              <a:srgbClr val="D9DFE6"/>
            </a:solidFill>
            <a:prstDash val="dash"/>
            <a:round/>
          </a:ln>
        </p:spPr>
      </p:cxnSp>
      <p:sp>
        <p:nvSpPr>
          <p:cNvPr id="143" name="TextBox 83"/>
          <p:cNvSpPr/>
          <p:nvPr/>
        </p:nvSpPr>
        <p:spPr>
          <a:xfrm>
            <a:off x="45720" y="3794040"/>
            <a:ext cx="132552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ctr">
            <a:spAutoFit/>
          </a:bodyPr>
          <a:p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Finance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Operations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Picture 84" descr="verify-clipboard.png"/>
          <p:cNvPicPr/>
          <p:nvPr/>
        </p:nvPicPr>
        <p:blipFill>
          <a:blip r:embed="rId25"/>
          <a:stretch/>
        </p:blipFill>
        <p:spPr>
          <a:xfrm>
            <a:off x="2544480" y="381240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Box 85"/>
          <p:cNvSpPr/>
          <p:nvPr/>
        </p:nvSpPr>
        <p:spPr>
          <a:xfrm>
            <a:off x="1444680" y="4109400"/>
            <a:ext cx="245952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Invoicing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Picture 86" descr="verify-clipboard.png"/>
          <p:cNvPicPr/>
          <p:nvPr/>
        </p:nvPicPr>
        <p:blipFill>
          <a:blip r:embed="rId26"/>
          <a:stretch/>
        </p:blipFill>
        <p:spPr>
          <a:xfrm>
            <a:off x="5059080" y="381240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TextBox 87"/>
          <p:cNvSpPr/>
          <p:nvPr/>
        </p:nvSpPr>
        <p:spPr>
          <a:xfrm>
            <a:off x="3959280" y="4109400"/>
            <a:ext cx="245952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Courier remuneration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&amp; B2B per-courier tariff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ight Arrow 88"/>
          <p:cNvSpPr/>
          <p:nvPr/>
        </p:nvSpPr>
        <p:spPr>
          <a:xfrm>
            <a:off x="2850480" y="3869280"/>
            <a:ext cx="218988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9" name="Picture 89" descr="dashboard-comparison.png"/>
          <p:cNvPicPr/>
          <p:nvPr/>
        </p:nvPicPr>
        <p:blipFill>
          <a:blip r:embed="rId27"/>
          <a:stretch/>
        </p:blipFill>
        <p:spPr>
          <a:xfrm>
            <a:off x="7573680" y="381240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Box 90"/>
          <p:cNvSpPr/>
          <p:nvPr/>
        </p:nvSpPr>
        <p:spPr>
          <a:xfrm>
            <a:off x="6473880" y="4109400"/>
            <a:ext cx="245952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COD reconciliation,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payments &amp; reimbursements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ight Arrow 91"/>
          <p:cNvSpPr/>
          <p:nvPr/>
        </p:nvSpPr>
        <p:spPr>
          <a:xfrm>
            <a:off x="5365080" y="3869280"/>
            <a:ext cx="218988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Rectangle 92"/>
          <p:cNvSpPr/>
          <p:nvPr/>
        </p:nvSpPr>
        <p:spPr>
          <a:xfrm>
            <a:off x="0" y="4386600"/>
            <a:ext cx="1416960" cy="619560"/>
          </a:xfrm>
          <a:prstGeom prst="rect">
            <a:avLst/>
          </a:prstGeom>
          <a:solidFill>
            <a:srgbClr val="6E8C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53" name="Connector 93"/>
          <p:cNvCxnSpPr/>
          <p:nvPr/>
        </p:nvCxnSpPr>
        <p:spPr>
          <a:xfrm>
            <a:off x="1463040" y="4386240"/>
            <a:ext cx="7498440" cy="360"/>
          </a:xfrm>
          <a:prstGeom prst="straightConnector1">
            <a:avLst/>
          </a:prstGeom>
          <a:ln w="6350">
            <a:solidFill>
              <a:srgbClr val="D9DFE6"/>
            </a:solidFill>
            <a:prstDash val="dash"/>
            <a:round/>
          </a:ln>
        </p:spPr>
      </p:cxnSp>
      <p:sp>
        <p:nvSpPr>
          <p:cNvPr id="154" name="TextBox 94"/>
          <p:cNvSpPr/>
          <p:nvPr/>
        </p:nvSpPr>
        <p:spPr>
          <a:xfrm>
            <a:off x="45720" y="4413960"/>
            <a:ext cx="1325520" cy="5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45000" rIns="36720" bIns="45000" anchor="ctr">
            <a:spAutoFit/>
          </a:bodyPr>
          <a:p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Analytics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&amp; Reporting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Picture 95" descr="vehicle-tracking.png"/>
          <p:cNvPicPr/>
          <p:nvPr/>
        </p:nvPicPr>
        <p:blipFill>
          <a:blip r:embed="rId28"/>
          <a:stretch/>
        </p:blipFill>
        <p:spPr>
          <a:xfrm>
            <a:off x="2544480" y="443232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TextBox 96"/>
          <p:cNvSpPr/>
          <p:nvPr/>
        </p:nvSpPr>
        <p:spPr>
          <a:xfrm>
            <a:off x="1444680" y="4728960"/>
            <a:ext cx="245952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Live ops cockpit + Dynamic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vehicle &amp; ETA visibility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Picture 97" descr="dashboard-comparison.png"/>
          <p:cNvPicPr/>
          <p:nvPr/>
        </p:nvPicPr>
        <p:blipFill>
          <a:blip r:embed="rId29"/>
          <a:stretch/>
        </p:blipFill>
        <p:spPr>
          <a:xfrm>
            <a:off x="5059080" y="443232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TextBox 98"/>
          <p:cNvSpPr/>
          <p:nvPr/>
        </p:nvSpPr>
        <p:spPr>
          <a:xfrm>
            <a:off x="3959280" y="4728960"/>
            <a:ext cx="245952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Branch / CTR Analytics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ight Arrow 99"/>
          <p:cNvSpPr/>
          <p:nvPr/>
        </p:nvSpPr>
        <p:spPr>
          <a:xfrm>
            <a:off x="2850480" y="4489200"/>
            <a:ext cx="218988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0" name="Picture 100" descr="alerts-warning.png"/>
          <p:cNvPicPr/>
          <p:nvPr/>
        </p:nvPicPr>
        <p:blipFill>
          <a:blip r:embed="rId30"/>
          <a:stretch/>
        </p:blipFill>
        <p:spPr>
          <a:xfrm>
            <a:off x="7573680" y="4432320"/>
            <a:ext cx="259920" cy="259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Box 101"/>
          <p:cNvSpPr/>
          <p:nvPr/>
        </p:nvSpPr>
        <p:spPr>
          <a:xfrm>
            <a:off x="6473880" y="4728960"/>
            <a:ext cx="2459520" cy="25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45000" anchor="t">
            <a:spAutoFit/>
          </a:bodyPr>
          <a:p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Performance metrics, alerts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&amp; AI anomaly detection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ight Arrow 102"/>
          <p:cNvSpPr/>
          <p:nvPr/>
        </p:nvSpPr>
        <p:spPr>
          <a:xfrm>
            <a:off x="5365080" y="4489200"/>
            <a:ext cx="2189880" cy="145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EAEC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Box 1"/>
          <p:cNvSpPr/>
          <p:nvPr/>
        </p:nvSpPr>
        <p:spPr>
          <a:xfrm>
            <a:off x="320040" y="182880"/>
            <a:ext cx="73605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Process Mapping &amp; Capability Enhancement with Shipsy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ight Arrow 2"/>
          <p:cNvSpPr/>
          <p:nvPr/>
        </p:nvSpPr>
        <p:spPr>
          <a:xfrm>
            <a:off x="7818120" y="255960"/>
            <a:ext cx="273960" cy="2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3"/>
          <p:cNvSpPr/>
          <p:nvPr/>
        </p:nvSpPr>
        <p:spPr>
          <a:xfrm>
            <a:off x="8138160" y="237600"/>
            <a:ext cx="959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Shipsy</a:t>
            </a:r>
            <a:endParaRPr lang="en-IN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4"/>
          <p:cNvSpPr/>
          <p:nvPr/>
        </p:nvSpPr>
        <p:spPr>
          <a:xfrm>
            <a:off x="320040" y="640080"/>
            <a:ext cx="8503560" cy="18000"/>
          </a:xfrm>
          <a:prstGeom prst="rect">
            <a:avLst/>
          </a:prstGeom>
          <a:solidFill>
            <a:srgbClr val="CCCCC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Rectangle 5"/>
          <p:cNvSpPr/>
          <p:nvPr/>
        </p:nvSpPr>
        <p:spPr>
          <a:xfrm>
            <a:off x="274320" y="804600"/>
            <a:ext cx="1416960" cy="383760"/>
          </a:xfrm>
          <a:prstGeom prst="rect">
            <a:avLst/>
          </a:prstGeom>
          <a:solidFill>
            <a:srgbClr val="2A2A2A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6"/>
          <p:cNvSpPr/>
          <p:nvPr/>
        </p:nvSpPr>
        <p:spPr>
          <a:xfrm>
            <a:off x="274320" y="804600"/>
            <a:ext cx="14169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Business Process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Rectangle 7"/>
          <p:cNvSpPr/>
          <p:nvPr/>
        </p:nvSpPr>
        <p:spPr>
          <a:xfrm>
            <a:off x="1691640" y="804600"/>
            <a:ext cx="2392200" cy="383760"/>
          </a:xfrm>
          <a:prstGeom prst="rect">
            <a:avLst/>
          </a:prstGeom>
          <a:solidFill>
            <a:srgbClr val="A93729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8"/>
          <p:cNvSpPr/>
          <p:nvPr/>
        </p:nvSpPr>
        <p:spPr>
          <a:xfrm>
            <a:off x="1691640" y="804600"/>
            <a:ext cx="2392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As Is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9"/>
          <p:cNvSpPr/>
          <p:nvPr/>
        </p:nvSpPr>
        <p:spPr>
          <a:xfrm>
            <a:off x="4084200" y="804600"/>
            <a:ext cx="2392200" cy="383760"/>
          </a:xfrm>
          <a:prstGeom prst="rect">
            <a:avLst/>
          </a:prstGeom>
          <a:solidFill>
            <a:srgbClr val="2C496A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10"/>
          <p:cNvSpPr/>
          <p:nvPr/>
        </p:nvSpPr>
        <p:spPr>
          <a:xfrm>
            <a:off x="4084200" y="804600"/>
            <a:ext cx="2392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To-Be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ectangle 11"/>
          <p:cNvSpPr/>
          <p:nvPr/>
        </p:nvSpPr>
        <p:spPr>
          <a:xfrm>
            <a:off x="6477120" y="804600"/>
            <a:ext cx="2392200" cy="383760"/>
          </a:xfrm>
          <a:prstGeom prst="rect">
            <a:avLst/>
          </a:prstGeom>
          <a:solidFill>
            <a:srgbClr val="599C38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12"/>
          <p:cNvSpPr/>
          <p:nvPr/>
        </p:nvSpPr>
        <p:spPr>
          <a:xfrm>
            <a:off x="6477120" y="804600"/>
            <a:ext cx="2392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Impact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ectangle 13"/>
          <p:cNvSpPr/>
          <p:nvPr/>
        </p:nvSpPr>
        <p:spPr>
          <a:xfrm>
            <a:off x="274320" y="1188720"/>
            <a:ext cx="1416960" cy="53856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14"/>
          <p:cNvSpPr/>
          <p:nvPr/>
        </p:nvSpPr>
        <p:spPr>
          <a:xfrm>
            <a:off x="274320" y="1188720"/>
            <a:ext cx="141696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Order Capture &amp; Upstream Sync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15"/>
          <p:cNvSpPr/>
          <p:nvPr/>
        </p:nvSpPr>
        <p:spPr>
          <a:xfrm>
            <a:off x="1691640" y="1188720"/>
            <a:ext cx="2392200" cy="538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16"/>
          <p:cNvSpPr/>
          <p:nvPr/>
        </p:nvSpPr>
        <p:spPr>
          <a:xfrm>
            <a:off x="1691640" y="118872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Orders captured by Admin / Station via current Ecotrack-based SaaS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Business Client + Anderson upstream entries flow into the parcel system manually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Pickup planning and Ramasseur assignment done by station dispatchers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17"/>
          <p:cNvSpPr/>
          <p:nvPr/>
        </p:nvSpPr>
        <p:spPr>
          <a:xfrm>
            <a:off x="4084200" y="1188720"/>
            <a:ext cx="2392200" cy="538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18"/>
          <p:cNvSpPr/>
          <p:nvPr/>
        </p:nvSpPr>
        <p:spPr>
          <a:xfrm>
            <a:off x="4084200" y="118872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Business Clients + Anderson Upstream (admin / station capture) feed Shipsy in real time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Automated Pickup Planning + Ramasseur Assignment in-system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Granular permissions per role (admin / station / CTR / stock)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ectangle 19"/>
          <p:cNvSpPr/>
          <p:nvPr/>
        </p:nvSpPr>
        <p:spPr>
          <a:xfrm>
            <a:off x="6477120" y="1188720"/>
            <a:ext cx="2392200" cy="538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20"/>
          <p:cNvSpPr/>
          <p:nvPr/>
        </p:nvSpPr>
        <p:spPr>
          <a:xfrm>
            <a:off x="6477120" y="118872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Faster pickup planning across stations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Less manual dispatcher effort on Ramasseur assignment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Audit trail of every parcel from upstream to delivery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21"/>
          <p:cNvSpPr/>
          <p:nvPr/>
        </p:nvSpPr>
        <p:spPr>
          <a:xfrm>
            <a:off x="274320" y="1727640"/>
            <a:ext cx="1416960" cy="53856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22"/>
          <p:cNvSpPr/>
          <p:nvPr/>
        </p:nvSpPr>
        <p:spPr>
          <a:xfrm>
            <a:off x="274320" y="1727640"/>
            <a:ext cx="141696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First Mile — Pickup &amp; Origin Station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Rectangle 23"/>
          <p:cNvSpPr/>
          <p:nvPr/>
        </p:nvSpPr>
        <p:spPr>
          <a:xfrm>
            <a:off x="1691640" y="1727640"/>
            <a:ext cx="2392200" cy="53856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24"/>
          <p:cNvSpPr/>
          <p:nvPr/>
        </p:nvSpPr>
        <p:spPr>
          <a:xfrm>
            <a:off x="1691640" y="172764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Ramasseur pickup tasks visible only via station handover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Pickup proof captured on paper / inconsistent ePOD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Inscan + verification at origin station done manually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Rectangle 25"/>
          <p:cNvSpPr/>
          <p:nvPr/>
        </p:nvSpPr>
        <p:spPr>
          <a:xfrm>
            <a:off x="4084200" y="1727640"/>
            <a:ext cx="2392200" cy="53856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26"/>
          <p:cNvSpPr/>
          <p:nvPr/>
        </p:nvSpPr>
        <p:spPr>
          <a:xfrm>
            <a:off x="4084200" y="172764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Visibility of pickup tasks in Ramasseur mobile app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Navigation + eProof of pickup capture in-app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Inscan of pickup order at hand-off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Rectangle 27"/>
          <p:cNvSpPr/>
          <p:nvPr/>
        </p:nvSpPr>
        <p:spPr>
          <a:xfrm>
            <a:off x="6477120" y="1727640"/>
            <a:ext cx="2392200" cy="53856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28"/>
          <p:cNvSpPr/>
          <p:nvPr/>
        </p:nvSpPr>
        <p:spPr>
          <a:xfrm>
            <a:off x="6477120" y="172764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Field staff on a single mobile experience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Pickup proof reproducible from history screens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Origin-station validation surfaces discrepancies at scan-in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Rectangle 29"/>
          <p:cNvSpPr/>
          <p:nvPr/>
        </p:nvSpPr>
        <p:spPr>
          <a:xfrm>
            <a:off x="274320" y="2266560"/>
            <a:ext cx="1416960" cy="53856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30"/>
          <p:cNvSpPr/>
          <p:nvPr/>
        </p:nvSpPr>
        <p:spPr>
          <a:xfrm>
            <a:off x="274320" y="2266560"/>
            <a:ext cx="141696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Middle Mile — CTR Transit &amp; Sortation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31"/>
          <p:cNvSpPr/>
          <p:nvPr/>
        </p:nvSpPr>
        <p:spPr>
          <a:xfrm>
            <a:off x="1691640" y="2266560"/>
            <a:ext cx="2392200" cy="538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32"/>
          <p:cNvSpPr/>
          <p:nvPr/>
        </p:nvSpPr>
        <p:spPr>
          <a:xfrm>
            <a:off x="1691640" y="226656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Bag creation + sack handling are core mechanics in current SaaS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Sortation at CTR done manually based on staff judgment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Sack discrepancies often caught post-hoc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33"/>
          <p:cNvSpPr/>
          <p:nvPr/>
        </p:nvSpPr>
        <p:spPr>
          <a:xfrm>
            <a:off x="4084200" y="2266560"/>
            <a:ext cx="2392200" cy="538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34"/>
          <p:cNvSpPr/>
          <p:nvPr/>
        </p:nvSpPr>
        <p:spPr>
          <a:xfrm>
            <a:off x="4084200" y="226656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Bag creation in-system with unique sack ID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Loading bags in vehicles (Navette) with decharge manifest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Unloading at CTR hub + scan-and-sort by Wilaya / destination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Rectangle 35"/>
          <p:cNvSpPr/>
          <p:nvPr/>
        </p:nvSpPr>
        <p:spPr>
          <a:xfrm>
            <a:off x="6477120" y="2266560"/>
            <a:ext cx="2392200" cy="538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36"/>
          <p:cNvSpPr/>
          <p:nvPr/>
        </p:nvSpPr>
        <p:spPr>
          <a:xfrm>
            <a:off x="6477120" y="226656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Sortation throughput up; CTR depot time drops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Sack discrepancies detected at scan-in, not end-of-day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End-to-end scan history maintained per sack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ectangle 37"/>
          <p:cNvSpPr/>
          <p:nvPr/>
        </p:nvSpPr>
        <p:spPr>
          <a:xfrm>
            <a:off x="274320" y="2805120"/>
            <a:ext cx="1416960" cy="53856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38"/>
          <p:cNvSpPr/>
          <p:nvPr/>
        </p:nvSpPr>
        <p:spPr>
          <a:xfrm>
            <a:off x="274320" y="2805120"/>
            <a:ext cx="141696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Last Mile — Planning &amp; Delivery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39"/>
          <p:cNvSpPr/>
          <p:nvPr/>
        </p:nvSpPr>
        <p:spPr>
          <a:xfrm>
            <a:off x="1691640" y="2805120"/>
            <a:ext cx="2392200" cy="53856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40"/>
          <p:cNvSpPr/>
          <p:nvPr/>
        </p:nvSpPr>
        <p:spPr>
          <a:xfrm>
            <a:off x="1691640" y="280512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Static trip sheets; mid-trip changes done by phone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Manual / paper POD; standardisation varies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Stop-desk and home delivery handled in same generic UI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ectangle 41"/>
          <p:cNvSpPr/>
          <p:nvPr/>
        </p:nvSpPr>
        <p:spPr>
          <a:xfrm>
            <a:off x="4084200" y="2805120"/>
            <a:ext cx="2392200" cy="53856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42"/>
          <p:cNvSpPr/>
          <p:nvPr/>
        </p:nvSpPr>
        <p:spPr>
          <a:xfrm>
            <a:off x="4084200" y="280512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Order arrival at destination station → TO + load balancing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Dynamic planning of last-mile orders + cluster sequence selection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Mobile app visibility for couriers + turn-by-turn navigation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Rectangle 43"/>
          <p:cNvSpPr/>
          <p:nvPr/>
        </p:nvSpPr>
        <p:spPr>
          <a:xfrm>
            <a:off x="6477120" y="2805120"/>
            <a:ext cx="2392200" cy="53856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Box 44"/>
          <p:cNvSpPr/>
          <p:nvPr/>
        </p:nvSpPr>
        <p:spPr>
          <a:xfrm>
            <a:off x="6477120" y="280512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Couriers self-sufficient end-to-end on mobile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Higher first-attempt delivery success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POD / COD events close trips cleanly in real time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ectangle 45"/>
          <p:cNvSpPr/>
          <p:nvPr/>
        </p:nvSpPr>
        <p:spPr>
          <a:xfrm>
            <a:off x="274320" y="3344040"/>
            <a:ext cx="1416960" cy="53856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46"/>
          <p:cNvSpPr/>
          <p:nvPr/>
        </p:nvSpPr>
        <p:spPr>
          <a:xfrm>
            <a:off x="274320" y="3344040"/>
            <a:ext cx="141696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Customer Communication &amp; Tracking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ectangle 47"/>
          <p:cNvSpPr/>
          <p:nvPr/>
        </p:nvSpPr>
        <p:spPr>
          <a:xfrm>
            <a:off x="1691640" y="3344040"/>
            <a:ext cx="2392200" cy="538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Box 48"/>
          <p:cNvSpPr/>
          <p:nvPr/>
        </p:nvSpPr>
        <p:spPr>
          <a:xfrm>
            <a:off x="1691640" y="334404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No standardised stage-wise communication to consignees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ETA shared informally; predicted delivery window not provided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Geofence-based delivery validation not enforced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ectangle 49"/>
          <p:cNvSpPr/>
          <p:nvPr/>
        </p:nvSpPr>
        <p:spPr>
          <a:xfrm>
            <a:off x="4084200" y="3344040"/>
            <a:ext cx="2392200" cy="538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Box 50"/>
          <p:cNvSpPr/>
          <p:nvPr/>
        </p:nvSpPr>
        <p:spPr>
          <a:xfrm>
            <a:off x="4084200" y="334404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Configurable stage-wise communication (creation → out-for-delivery → delivered)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Live tracking + ETA shared with consignees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Sharp predicted delivery window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ectangle 51"/>
          <p:cNvSpPr/>
          <p:nvPr/>
        </p:nvSpPr>
        <p:spPr>
          <a:xfrm>
            <a:off x="6477120" y="3344040"/>
            <a:ext cx="2392200" cy="538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52"/>
          <p:cNvSpPr/>
          <p:nvPr/>
        </p:nvSpPr>
        <p:spPr>
          <a:xfrm>
            <a:off x="6477120" y="334404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Reduced 'where is my parcel' calls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Higher delivery-window adherence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Geofence validation tightens proof-of-delivery quality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ectangle 53"/>
          <p:cNvSpPr/>
          <p:nvPr/>
        </p:nvSpPr>
        <p:spPr>
          <a:xfrm>
            <a:off x="274320" y="3882960"/>
            <a:ext cx="1416960" cy="53856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54"/>
          <p:cNvSpPr/>
          <p:nvPr/>
        </p:nvSpPr>
        <p:spPr>
          <a:xfrm>
            <a:off x="274320" y="3882960"/>
            <a:ext cx="141696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Finance Operations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55"/>
          <p:cNvSpPr/>
          <p:nvPr/>
        </p:nvSpPr>
        <p:spPr>
          <a:xfrm>
            <a:off x="1691640" y="3882960"/>
            <a:ext cx="2392200" cy="53856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56"/>
          <p:cNvSpPr/>
          <p:nvPr/>
        </p:nvSpPr>
        <p:spPr>
          <a:xfrm>
            <a:off x="1691640" y="388296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Invoicing and courier remuneration computed manually at month-end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COD reconciliation across station cash desk + finance done off-system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Reimbursements raised in spreadsheets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ectangle 57"/>
          <p:cNvSpPr/>
          <p:nvPr/>
        </p:nvSpPr>
        <p:spPr>
          <a:xfrm>
            <a:off x="4084200" y="3882960"/>
            <a:ext cx="2392200" cy="53856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TextBox 58"/>
          <p:cNvSpPr/>
          <p:nvPr/>
        </p:nvSpPr>
        <p:spPr>
          <a:xfrm>
            <a:off x="4084200" y="388296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Invoicing engine with rate cards per shipper / segment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Courier remuneration with B2B per-courier tariff + default fallback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COD reconciliation, payments and reimbursements in one finance module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ectangle 59"/>
          <p:cNvSpPr/>
          <p:nvPr/>
        </p:nvSpPr>
        <p:spPr>
          <a:xfrm>
            <a:off x="6477120" y="3882960"/>
            <a:ext cx="2392200" cy="538560"/>
          </a:xfrm>
          <a:prstGeom prst="rect">
            <a:avLst/>
          </a:prstGeom>
          <a:solidFill>
            <a:srgbClr val="F6F6F6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60"/>
          <p:cNvSpPr/>
          <p:nvPr/>
        </p:nvSpPr>
        <p:spPr>
          <a:xfrm>
            <a:off x="6477120" y="388296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Finance close cycle shorter, audit trail complete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Courier payouts settle in days, not weeks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COD traceable from parcel → courier → station → finance → shipper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ectangle 61"/>
          <p:cNvSpPr/>
          <p:nvPr/>
        </p:nvSpPr>
        <p:spPr>
          <a:xfrm>
            <a:off x="274320" y="4421880"/>
            <a:ext cx="1416960" cy="538560"/>
          </a:xfrm>
          <a:prstGeom prst="rect">
            <a:avLst/>
          </a:prstGeom>
          <a:solidFill>
            <a:srgbClr val="EEEEEE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62"/>
          <p:cNvSpPr/>
          <p:nvPr/>
        </p:nvSpPr>
        <p:spPr>
          <a:xfrm>
            <a:off x="274320" y="4421880"/>
            <a:ext cx="141696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Analytics &amp; Reporting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ectangle 63"/>
          <p:cNvSpPr/>
          <p:nvPr/>
        </p:nvSpPr>
        <p:spPr>
          <a:xfrm>
            <a:off x="1691640" y="4421880"/>
            <a:ext cx="2392200" cy="538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Box 64"/>
          <p:cNvSpPr/>
          <p:nvPr/>
        </p:nvSpPr>
        <p:spPr>
          <a:xfrm>
            <a:off x="1691640" y="442188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Operational counts and timeline events visible in current SaaS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Branch / CTR analytics scattered across screens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Performance metrics computed in Excel after the fact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Rectangle 65"/>
          <p:cNvSpPr/>
          <p:nvPr/>
        </p:nvSpPr>
        <p:spPr>
          <a:xfrm>
            <a:off x="4084200" y="4421880"/>
            <a:ext cx="2392200" cy="538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66"/>
          <p:cNvSpPr/>
          <p:nvPr/>
        </p:nvSpPr>
        <p:spPr>
          <a:xfrm>
            <a:off x="4084200" y="442188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Live ops cockpit + dynamic vehicle &amp; ETA visibility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Branch / CTR analytics in one drilldown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Performance metrics, alerts and AI anomaly detection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ectangle 67"/>
          <p:cNvSpPr/>
          <p:nvPr/>
        </p:nvSpPr>
        <p:spPr>
          <a:xfrm>
            <a:off x="6477120" y="4421880"/>
            <a:ext cx="2392200" cy="5385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68"/>
          <p:cNvSpPr/>
          <p:nvPr/>
        </p:nvSpPr>
        <p:spPr>
          <a:xfrm>
            <a:off x="6477120" y="4421880"/>
            <a:ext cx="2392200" cy="5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tIns="45000" r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Operations move from reactive to proactive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Single screen for management visibility across the network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8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• Anomalies surfaced before customers escalate</a:t>
            </a:r>
            <a:endParaRPr lang="en-IN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Rectangle 1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2"/>
          <p:cNvSpPr/>
          <p:nvPr/>
        </p:nvSpPr>
        <p:spPr>
          <a:xfrm>
            <a:off x="365760" y="13716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AI Use Cases · AgentFleet for Anderson Logistics — B2C / Parcel Flow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3"/>
          <p:cNvSpPr/>
          <p:nvPr/>
        </p:nvSpPr>
        <p:spPr>
          <a:xfrm>
            <a:off x="365760" y="530280"/>
            <a:ext cx="841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CCDDEE"/>
                </a:solidFill>
                <a:effectLst/>
                <a:uFillTx/>
                <a:latin typeface="Calibri"/>
              </a:rPr>
              <a:t>Shipsy AI capabilities mapped to your specific operational scenarios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ounded Rectangle 4"/>
          <p:cNvSpPr/>
          <p:nvPr/>
        </p:nvSpPr>
        <p:spPr>
          <a:xfrm>
            <a:off x="365760" y="1078920"/>
            <a:ext cx="2620800" cy="168912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>
            <a:solidFill>
              <a:srgbClr val="D0DAE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Rectangle 5"/>
          <p:cNvSpPr/>
          <p:nvPr/>
        </p:nvSpPr>
        <p:spPr>
          <a:xfrm>
            <a:off x="365760" y="1078920"/>
            <a:ext cx="2620800" cy="910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Rounded Rectangle 6"/>
          <p:cNvSpPr/>
          <p:nvPr/>
        </p:nvSpPr>
        <p:spPr>
          <a:xfrm>
            <a:off x="2109240" y="1261800"/>
            <a:ext cx="712800" cy="237240"/>
          </a:xfrm>
          <a:prstGeom prst="roundRect">
            <a:avLst>
              <a:gd name="adj" fmla="val 16667"/>
            </a:avLst>
          </a:prstGeom>
          <a:solidFill>
            <a:srgbClr val="599C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8360" rIns="3672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Now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7"/>
          <p:cNvSpPr/>
          <p:nvPr/>
        </p:nvSpPr>
        <p:spPr>
          <a:xfrm>
            <a:off x="530280" y="1261800"/>
            <a:ext cx="148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Routing Engine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8"/>
          <p:cNvSpPr/>
          <p:nvPr/>
        </p:nvSpPr>
        <p:spPr>
          <a:xfrm>
            <a:off x="530280" y="1581840"/>
            <a:ext cx="2291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200+ Constraint Optimiser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9"/>
          <p:cNvSpPr/>
          <p:nvPr/>
        </p:nvSpPr>
        <p:spPr>
          <a:xfrm>
            <a:off x="530280" y="1828800"/>
            <a:ext cx="2291760" cy="13320"/>
          </a:xfrm>
          <a:prstGeom prst="rect">
            <a:avLst/>
          </a:prstGeom>
          <a:solidFill>
            <a:srgbClr val="D9D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10"/>
          <p:cNvSpPr/>
          <p:nvPr/>
        </p:nvSpPr>
        <p:spPr>
          <a:xfrm>
            <a:off x="530280" y="1901880"/>
            <a:ext cx="2291760" cy="7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Plans last-mile trips against Wilaya-level transport SLAs, courier eligibility, and time-blocked road rules — replaces manual route-sheet construction at every branch.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ounded Rectangle 11"/>
          <p:cNvSpPr/>
          <p:nvPr/>
        </p:nvSpPr>
        <p:spPr>
          <a:xfrm>
            <a:off x="3261240" y="1078920"/>
            <a:ext cx="2620800" cy="168912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>
            <a:solidFill>
              <a:srgbClr val="D0DAE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Rectangle 12"/>
          <p:cNvSpPr/>
          <p:nvPr/>
        </p:nvSpPr>
        <p:spPr>
          <a:xfrm>
            <a:off x="3261240" y="1078920"/>
            <a:ext cx="2620800" cy="910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Rounded Rectangle 13"/>
          <p:cNvSpPr/>
          <p:nvPr/>
        </p:nvSpPr>
        <p:spPr>
          <a:xfrm>
            <a:off x="5004720" y="1261800"/>
            <a:ext cx="712800" cy="237240"/>
          </a:xfrm>
          <a:prstGeom prst="roundRect">
            <a:avLst>
              <a:gd name="adj" fmla="val 16667"/>
            </a:avLst>
          </a:prstGeom>
          <a:solidFill>
            <a:srgbClr val="599C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8360" rIns="3672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Now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14"/>
          <p:cNvSpPr/>
          <p:nvPr/>
        </p:nvSpPr>
        <p:spPr>
          <a:xfrm>
            <a:off x="3426120" y="1261800"/>
            <a:ext cx="148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ATLAS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15"/>
          <p:cNvSpPr/>
          <p:nvPr/>
        </p:nvSpPr>
        <p:spPr>
          <a:xfrm>
            <a:off x="3426120" y="1581840"/>
            <a:ext cx="2291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Control Tower Agent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16"/>
          <p:cNvSpPr/>
          <p:nvPr/>
        </p:nvSpPr>
        <p:spPr>
          <a:xfrm>
            <a:off x="3426120" y="1828800"/>
            <a:ext cx="2291760" cy="13320"/>
          </a:xfrm>
          <a:prstGeom prst="rect">
            <a:avLst/>
          </a:prstGeom>
          <a:solidFill>
            <a:srgbClr val="D9D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17"/>
          <p:cNvSpPr/>
          <p:nvPr/>
        </p:nvSpPr>
        <p:spPr>
          <a:xfrm>
            <a:off x="3426120" y="1901880"/>
            <a:ext cx="2291760" cy="7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Watches the network for sack discrepancies at scan-in, route deviations, and at-risk SLAs — auto-creates incidents and routes them to the right station / dispatcher.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Rounded Rectangle 18"/>
          <p:cNvSpPr/>
          <p:nvPr/>
        </p:nvSpPr>
        <p:spPr>
          <a:xfrm>
            <a:off x="6157080" y="1078920"/>
            <a:ext cx="2620800" cy="168912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>
            <a:solidFill>
              <a:srgbClr val="D0DAE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Rectangle 19"/>
          <p:cNvSpPr/>
          <p:nvPr/>
        </p:nvSpPr>
        <p:spPr>
          <a:xfrm>
            <a:off x="6157080" y="1078920"/>
            <a:ext cx="2620800" cy="910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Rounded Rectangle 20"/>
          <p:cNvSpPr/>
          <p:nvPr/>
        </p:nvSpPr>
        <p:spPr>
          <a:xfrm>
            <a:off x="7900560" y="1261800"/>
            <a:ext cx="712800" cy="237240"/>
          </a:xfrm>
          <a:prstGeom prst="roundRect">
            <a:avLst>
              <a:gd name="adj" fmla="val 16667"/>
            </a:avLst>
          </a:prstGeom>
          <a:solidFill>
            <a:srgbClr val="599C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8360" rIns="3672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Now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21"/>
          <p:cNvSpPr/>
          <p:nvPr/>
        </p:nvSpPr>
        <p:spPr>
          <a:xfrm>
            <a:off x="6321600" y="1261800"/>
            <a:ext cx="148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Address Intelligence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22"/>
          <p:cNvSpPr/>
          <p:nvPr/>
        </p:nvSpPr>
        <p:spPr>
          <a:xfrm>
            <a:off x="6321600" y="1581840"/>
            <a:ext cx="2291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Wilaya + Commune Precision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Rectangle 23"/>
          <p:cNvSpPr/>
          <p:nvPr/>
        </p:nvSpPr>
        <p:spPr>
          <a:xfrm>
            <a:off x="6321600" y="1828800"/>
            <a:ext cx="2291760" cy="13320"/>
          </a:xfrm>
          <a:prstGeom prst="rect">
            <a:avLst/>
          </a:prstGeom>
          <a:solidFill>
            <a:srgbClr val="D9D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24"/>
          <p:cNvSpPr/>
          <p:nvPr/>
        </p:nvSpPr>
        <p:spPr>
          <a:xfrm>
            <a:off x="6321600" y="1901880"/>
            <a:ext cx="2291760" cy="7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Standardises consignee Wilaya / commune addresses so geofences fire reliably and territory plans stay clean as the customer base grows.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Rounded Rectangle 25"/>
          <p:cNvSpPr/>
          <p:nvPr/>
        </p:nvSpPr>
        <p:spPr>
          <a:xfrm>
            <a:off x="365760" y="2997000"/>
            <a:ext cx="2620800" cy="168912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>
            <a:solidFill>
              <a:srgbClr val="D0DAE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Rectangle 26"/>
          <p:cNvSpPr/>
          <p:nvPr/>
        </p:nvSpPr>
        <p:spPr>
          <a:xfrm>
            <a:off x="365760" y="2997000"/>
            <a:ext cx="2620800" cy="910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Rounded Rectangle 27"/>
          <p:cNvSpPr/>
          <p:nvPr/>
        </p:nvSpPr>
        <p:spPr>
          <a:xfrm>
            <a:off x="2109240" y="3179880"/>
            <a:ext cx="712800" cy="237240"/>
          </a:xfrm>
          <a:prstGeom prst="roundRect">
            <a:avLst>
              <a:gd name="adj" fmla="val 16667"/>
            </a:avLst>
          </a:prstGeom>
          <a:solidFill>
            <a:srgbClr val="599C3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8360" rIns="3672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Now</a:t>
            </a:r>
            <a:endParaRPr lang="en-IN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28"/>
          <p:cNvSpPr/>
          <p:nvPr/>
        </p:nvSpPr>
        <p:spPr>
          <a:xfrm>
            <a:off x="530280" y="3179880"/>
            <a:ext cx="148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AI Pickup Allocation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29"/>
          <p:cNvSpPr/>
          <p:nvPr/>
        </p:nvSpPr>
        <p:spPr>
          <a:xfrm>
            <a:off x="530280" y="3499920"/>
            <a:ext cx="2291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No-Touch Dispatch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Rectangle 30"/>
          <p:cNvSpPr/>
          <p:nvPr/>
        </p:nvSpPr>
        <p:spPr>
          <a:xfrm>
            <a:off x="530280" y="3746880"/>
            <a:ext cx="2291760" cy="13320"/>
          </a:xfrm>
          <a:prstGeom prst="rect">
            <a:avLst/>
          </a:prstGeom>
          <a:solidFill>
            <a:srgbClr val="D9D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Box 31"/>
          <p:cNvSpPr/>
          <p:nvPr/>
        </p:nvSpPr>
        <p:spPr>
          <a:xfrm>
            <a:off x="530280" y="3819960"/>
            <a:ext cx="2291760" cy="7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Auto-allocates Ramasseurs to pickups based on territory, capacity and time-window — replaces manual assignment with system-driven dispatch.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ounded Rectangle 32"/>
          <p:cNvSpPr/>
          <p:nvPr/>
        </p:nvSpPr>
        <p:spPr>
          <a:xfrm>
            <a:off x="3261240" y="2997000"/>
            <a:ext cx="2620800" cy="168912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>
            <a:solidFill>
              <a:srgbClr val="D0DAE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Rectangle 33"/>
          <p:cNvSpPr/>
          <p:nvPr/>
        </p:nvSpPr>
        <p:spPr>
          <a:xfrm>
            <a:off x="3261240" y="2997000"/>
            <a:ext cx="2620800" cy="910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Rounded Rectangle 34"/>
          <p:cNvSpPr/>
          <p:nvPr/>
        </p:nvSpPr>
        <p:spPr>
          <a:xfrm>
            <a:off x="5004720" y="3179880"/>
            <a:ext cx="712800" cy="237240"/>
          </a:xfrm>
          <a:prstGeom prst="roundRect">
            <a:avLst>
              <a:gd name="adj" fmla="val 16667"/>
            </a:avLst>
          </a:prstGeom>
          <a:solidFill>
            <a:srgbClr val="E095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8360" rIns="3672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Phase 2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35"/>
          <p:cNvSpPr/>
          <p:nvPr/>
        </p:nvSpPr>
        <p:spPr>
          <a:xfrm>
            <a:off x="3426120" y="3179880"/>
            <a:ext cx="148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ASTRA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36"/>
          <p:cNvSpPr/>
          <p:nvPr/>
        </p:nvSpPr>
        <p:spPr>
          <a:xfrm>
            <a:off x="3426120" y="3499920"/>
            <a:ext cx="2291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Driver Assist Agent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Rectangle 37"/>
          <p:cNvSpPr/>
          <p:nvPr/>
        </p:nvSpPr>
        <p:spPr>
          <a:xfrm>
            <a:off x="3426120" y="3746880"/>
            <a:ext cx="2291760" cy="13320"/>
          </a:xfrm>
          <a:prstGeom prst="rect">
            <a:avLst/>
          </a:prstGeom>
          <a:solidFill>
            <a:srgbClr val="D9D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Box 38"/>
          <p:cNvSpPr/>
          <p:nvPr/>
        </p:nvSpPr>
        <p:spPr>
          <a:xfrm>
            <a:off x="3426120" y="3819960"/>
            <a:ext cx="2291760" cy="7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On the last-mile leg, watches for unplanned stops, route deviation and missed delivery windows — nudges the courier before the slot slips.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Rounded Rectangle 39"/>
          <p:cNvSpPr/>
          <p:nvPr/>
        </p:nvSpPr>
        <p:spPr>
          <a:xfrm>
            <a:off x="6157080" y="2997000"/>
            <a:ext cx="2620800" cy="1689120"/>
          </a:xfrm>
          <a:prstGeom prst="roundRect">
            <a:avLst>
              <a:gd name="adj" fmla="val 16667"/>
            </a:avLst>
          </a:prstGeom>
          <a:solidFill>
            <a:srgbClr val="F6F8FB"/>
          </a:solidFill>
          <a:ln>
            <a:solidFill>
              <a:srgbClr val="D0DAE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0" name="Rectangle 40"/>
          <p:cNvSpPr/>
          <p:nvPr/>
        </p:nvSpPr>
        <p:spPr>
          <a:xfrm>
            <a:off x="6157080" y="2997000"/>
            <a:ext cx="2620800" cy="91080"/>
          </a:xfrm>
          <a:prstGeom prst="rect">
            <a:avLst/>
          </a:prstGeom>
          <a:solidFill>
            <a:srgbClr val="1F4E7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Rounded Rectangle 41"/>
          <p:cNvSpPr/>
          <p:nvPr/>
        </p:nvSpPr>
        <p:spPr>
          <a:xfrm>
            <a:off x="7900560" y="3179880"/>
            <a:ext cx="712800" cy="237240"/>
          </a:xfrm>
          <a:prstGeom prst="roundRect">
            <a:avLst>
              <a:gd name="adj" fmla="val 16667"/>
            </a:avLst>
          </a:prstGeom>
          <a:solidFill>
            <a:srgbClr val="E0951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tIns="18360" rIns="3672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Phase 2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42"/>
          <p:cNvSpPr/>
          <p:nvPr/>
        </p:nvSpPr>
        <p:spPr>
          <a:xfrm>
            <a:off x="6321600" y="3179880"/>
            <a:ext cx="148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F3A5F"/>
                </a:solidFill>
                <a:effectLst/>
                <a:uFillTx/>
                <a:latin typeface="Calibri"/>
              </a:rPr>
              <a:t>NEXA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43"/>
          <p:cNvSpPr/>
          <p:nvPr/>
        </p:nvSpPr>
        <p:spPr>
          <a:xfrm>
            <a:off x="6321600" y="3499920"/>
            <a:ext cx="22917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Settlement Agent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Rectangle 44"/>
          <p:cNvSpPr/>
          <p:nvPr/>
        </p:nvSpPr>
        <p:spPr>
          <a:xfrm>
            <a:off x="6321600" y="3746880"/>
            <a:ext cx="2291760" cy="13320"/>
          </a:xfrm>
          <a:prstGeom prst="rect">
            <a:avLst/>
          </a:prstGeom>
          <a:solidFill>
            <a:srgbClr val="D9DF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1320" rIns="90000" bIns="-313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45"/>
          <p:cNvSpPr/>
          <p:nvPr/>
        </p:nvSpPr>
        <p:spPr>
          <a:xfrm>
            <a:off x="6321600" y="3819960"/>
            <a:ext cx="2291760" cy="75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Reconciles courier remuneration vs B2B per-courier tariffs, COD payouts and reimbursements — shrinks the finance close cycle.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Rectangle 46"/>
          <p:cNvSpPr/>
          <p:nvPr/>
        </p:nvSpPr>
        <p:spPr>
          <a:xfrm>
            <a:off x="0" y="4851000"/>
            <a:ext cx="9143640" cy="292320"/>
          </a:xfrm>
          <a:prstGeom prst="rect">
            <a:avLst/>
          </a:prstGeom>
          <a:solidFill>
            <a:srgbClr val="4FB0C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TextBox 47"/>
          <p:cNvSpPr/>
          <p:nvPr/>
        </p:nvSpPr>
        <p:spPr>
          <a:xfrm>
            <a:off x="365760" y="48693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Anderson Logistics — B2C / Parcel Flow · Parcel &amp; document logistics — Standard E-commerce (B2C) segment · AI Use Cases · Shipsy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LibreOffice/26.2.2.2$MacOSX_AARCH64 LibreOffice_project/1f77d10d6938fd34972958f64b2bcfa54f8b1ba5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