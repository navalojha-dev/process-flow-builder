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Process Flow with Shipsy — B2B Day Delivery</a:t>
            </a:r>
          </a:p>
        </p:txBody>
      </p:sp>
      <p:pic>
        <p:nvPicPr>
          <p:cNvPr id="3" name="Picture 2" descr="shipsy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64592"/>
            <a:ext cx="69991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7512"/>
            <a:ext cx="1417320" cy="6198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" y="694944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Order Ingestion · Pre-Sales to Plan</a:t>
            </a:r>
          </a:p>
        </p:txBody>
      </p:sp>
      <p:pic>
        <p:nvPicPr>
          <p:cNvPr id="6" name="Picture 5" descr="business-cl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455" y="713232"/>
            <a:ext cx="260329" cy="2603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4752" y="1010137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Supermarket / Hyper Orders</a:t>
            </a:r>
          </a:p>
        </p:txBody>
      </p:sp>
      <p:pic>
        <p:nvPicPr>
          <p:cNvPr id="8" name="Picture 7" descr="pickup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055" y="713232"/>
            <a:ext cx="260329" cy="2603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59352" y="1010137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Pre-Sales captured in Oracle EBS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50504" y="770244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rp-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3655" y="713232"/>
            <a:ext cx="260329" cy="2603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73952" y="1010137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Next-day order pool synced to Shipsy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365104" y="770244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287344"/>
            <a:ext cx="1417320" cy="619832"/>
          </a:xfrm>
          <a:prstGeom prst="rect">
            <a:avLst/>
          </a:prstGeom>
          <a:solidFill>
            <a:srgbClr val="2C4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463040" y="1287344.5714285714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" y="1314776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Routing &amp; Plan Generation</a:t>
            </a:r>
          </a:p>
        </p:txBody>
      </p:sp>
      <p:pic>
        <p:nvPicPr>
          <p:cNvPr id="17" name="Picture 16" descr="allocation-eng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0130" y="1333064"/>
            <a:ext cx="260329" cy="2603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44752" y="1629970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200+ constraints (Ramadan / school / cameras)</a:t>
            </a:r>
          </a:p>
        </p:txBody>
      </p:sp>
      <p:pic>
        <p:nvPicPr>
          <p:cNvPr id="19" name="Picture 18" descr="load-balanc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6080" y="1333064"/>
            <a:ext cx="260329" cy="26032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330702" y="1629970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Truck + bay-capacity matching (4 / 6 / 10-bay)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36179" y="1390077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verify-clip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2030" y="1333064"/>
            <a:ext cx="260329" cy="26032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16652" y="1629970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Holds / returns / order selection in-system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422129" y="1390077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ashboard-comparis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7980" y="1333064"/>
            <a:ext cx="260329" cy="26032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02602" y="1629970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Trucks/day optimised (200 → 180-190)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308079" y="1390077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1907177"/>
            <a:ext cx="1417320" cy="619832"/>
          </a:xfrm>
          <a:prstGeom prst="rect">
            <a:avLst/>
          </a:prstGeom>
          <a:solidFill>
            <a:srgbClr val="395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463040" y="1907177.142857143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" y="1934609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Warehouse Picking &amp; Loading</a:t>
            </a:r>
          </a:p>
        </p:txBody>
      </p:sp>
      <p:pic>
        <p:nvPicPr>
          <p:cNvPr id="31" name="Picture 30" descr="sort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0130" y="1952897"/>
            <a:ext cx="260329" cy="2603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44752" y="2249802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Pick list generated per route</a:t>
            </a:r>
          </a:p>
        </p:txBody>
      </p:sp>
      <p:pic>
        <p:nvPicPr>
          <p:cNvPr id="33" name="Picture 32" descr="loading-tru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6080" y="1952897"/>
            <a:ext cx="260329" cy="26032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330702" y="2249802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Loading per route + bay sequence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536179" y="2009909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verify-clip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2030" y="1952897"/>
            <a:ext cx="260329" cy="2603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216652" y="2249802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MoT waybill auto-generated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422129" y="2009909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redicted-windo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7980" y="1952897"/>
            <a:ext cx="260329" cy="26032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102602" y="2249802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Wave dispatch (5 AM / 7 AM)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308079" y="2009909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2527009"/>
            <a:ext cx="1417320" cy="619832"/>
          </a:xfrm>
          <a:prstGeom prst="rect">
            <a:avLst/>
          </a:prstGeom>
          <a:solidFill>
            <a:srgbClr val="466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463040" y="2527009.7142857146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720" y="2554441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Last Mile · Delivery to Store</a:t>
            </a:r>
          </a:p>
        </p:txBody>
      </p:sp>
      <p:pic>
        <p:nvPicPr>
          <p:cNvPr id="45" name="Picture 44" descr="mobile-ap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41535" y="2572729"/>
            <a:ext cx="260329" cy="26032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44752" y="2869635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Driver receives trip in handheld</a:t>
            </a:r>
          </a:p>
        </p:txBody>
      </p:sp>
      <p:pic>
        <p:nvPicPr>
          <p:cNvPr id="47" name="Picture 46" descr="navigation-epo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50295" y="2572729"/>
            <a:ext cx="260329" cy="26032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953512" y="2869635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Navigation to next supermarket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347584" y="2629742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redicted-windo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59055" y="2572729"/>
            <a:ext cx="260329" cy="26032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462272" y="2869635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Service time at hyper / super (1-3 hr)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3856344" y="2629742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pickup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815" y="2572729"/>
            <a:ext cx="260329" cy="26032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971032" y="2869635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ePOD + cases delivered captured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5365104" y="2629742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erp-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6575" y="2572729"/>
            <a:ext cx="260329" cy="26032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479792" y="2869635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Trip data sync to Oracle EBS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6873864" y="2629742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3146842"/>
            <a:ext cx="1417320" cy="619832"/>
          </a:xfrm>
          <a:prstGeom prst="rect">
            <a:avLst/>
          </a:prstGeom>
          <a:solidFill>
            <a:srgbClr val="537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1463040" y="3146842.285714286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5720" y="3174274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Store Communication &amp; Slot Adherence</a:t>
            </a:r>
          </a:p>
        </p:txBody>
      </p:sp>
      <p:pic>
        <p:nvPicPr>
          <p:cNvPr id="62" name="Picture 61" descr="comm-st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30130" y="3192562"/>
            <a:ext cx="260329" cy="26032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444752" y="3489467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Stage-wise comms to store contact</a:t>
            </a:r>
          </a:p>
        </p:txBody>
      </p:sp>
      <p:pic>
        <p:nvPicPr>
          <p:cNvPr id="64" name="Picture 63" descr="live-tracking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16080" y="3192562"/>
            <a:ext cx="260329" cy="26032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330702" y="3489467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Live tracking + ETA to receiving dock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2536179" y="3249575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predicted-windo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2030" y="3192562"/>
            <a:ext cx="260329" cy="260329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216652" y="3489467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Receiving window 06:30-12:30 adherence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4422129" y="3249575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geofence-validatio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87980" y="3192562"/>
            <a:ext cx="260329" cy="260329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7102602" y="3489467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Geofence-based delivery validation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6308079" y="3249575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3766674"/>
            <a:ext cx="1417320" cy="619832"/>
          </a:xfrm>
          <a:prstGeom prst="rect">
            <a:avLst/>
          </a:prstGeom>
          <a:solidFill>
            <a:srgbClr val="607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1463040" y="3766674.8571428573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5720" y="3794106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Finance Operations</a:t>
            </a:r>
          </a:p>
        </p:txBody>
      </p:sp>
      <p:pic>
        <p:nvPicPr>
          <p:cNvPr id="76" name="Picture 75" descr="verify-clip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4455" y="3812394"/>
            <a:ext cx="260329" cy="260329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444752" y="4109300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Truck operating cost tracking</a:t>
            </a:r>
          </a:p>
        </p:txBody>
      </p:sp>
      <p:pic>
        <p:nvPicPr>
          <p:cNvPr id="78" name="Picture 77" descr="verify-clip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9055" y="3812394"/>
            <a:ext cx="260329" cy="260329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959352" y="4109300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Sub-contractor rate contracts &amp; payouts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2850504" y="3869407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dashboard-comparis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3655" y="3812394"/>
            <a:ext cx="260329" cy="260329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473952" y="4109300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Plan vs actual cost reconciliation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5365104" y="3869407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0" y="4386507"/>
            <a:ext cx="1417320" cy="619832"/>
          </a:xfrm>
          <a:prstGeom prst="rect">
            <a:avLst/>
          </a:prstGeom>
          <a:solidFill>
            <a:srgbClr val="6E8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1463040" y="4386507.428571429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5720" y="4413939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Analytics &amp; Reporting</a:t>
            </a:r>
          </a:p>
        </p:txBody>
      </p:sp>
      <p:pic>
        <p:nvPicPr>
          <p:cNvPr id="87" name="Picture 86" descr="dashboard-comparis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4455" y="4432227"/>
            <a:ext cx="260329" cy="26032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444752" y="4729133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Cases/truck/day (KPI 1300)</a:t>
            </a:r>
          </a:p>
        </p:txBody>
      </p:sp>
      <p:pic>
        <p:nvPicPr>
          <p:cNvPr id="89" name="Picture 88" descr="dashboard-comparis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9055" y="4432227"/>
            <a:ext cx="260329" cy="260329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3959352" y="4729133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DC plan-time tracking + drill-down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2850504" y="4489240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alerts-warning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73655" y="4432227"/>
            <a:ext cx="260329" cy="260329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6473952" y="4729133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Driver / dispatcher / planner performance</a:t>
            </a:r>
          </a:p>
        </p:txBody>
      </p:sp>
      <p:sp>
        <p:nvSpPr>
          <p:cNvPr id="94" name="Right Arrow 93"/>
          <p:cNvSpPr/>
          <p:nvPr/>
        </p:nvSpPr>
        <p:spPr>
          <a:xfrm>
            <a:off x="5365104" y="4489240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7360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Process Mapping &amp; Capability Enhancement with Shipsy</a:t>
            </a:r>
          </a:p>
        </p:txBody>
      </p:sp>
      <p:sp>
        <p:nvSpPr>
          <p:cNvPr id="3" name="Right Arrow 2"/>
          <p:cNvSpPr/>
          <p:nvPr/>
        </p:nvSpPr>
        <p:spPr>
          <a:xfrm>
            <a:off x="7818120" y="256032"/>
            <a:ext cx="274320" cy="256032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5F"/>
                </a:solidFill>
              </a:rPr>
              <a:t>Shipsy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40080"/>
            <a:ext cx="85039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1417320" cy="384048"/>
          </a:xfrm>
          <a:prstGeom prst="rect">
            <a:avLst/>
          </a:prstGeom>
          <a:solidFill>
            <a:srgbClr val="2A2A2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14173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Business 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804672"/>
            <a:ext cx="2392680" cy="384048"/>
          </a:xfrm>
          <a:prstGeom prst="rect">
            <a:avLst/>
          </a:prstGeom>
          <a:solidFill>
            <a:srgbClr val="A9372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804672"/>
            <a:ext cx="23926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As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4320" y="804672"/>
            <a:ext cx="2392680" cy="384048"/>
          </a:xfrm>
          <a:prstGeom prst="rect">
            <a:avLst/>
          </a:prstGeom>
          <a:solidFill>
            <a:srgbClr val="2C496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4320" y="804672"/>
            <a:ext cx="23926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To-Be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77000" y="804672"/>
            <a:ext cx="2392680" cy="384048"/>
          </a:xfrm>
          <a:prstGeom prst="rect">
            <a:avLst/>
          </a:prstGeom>
          <a:solidFill>
            <a:srgbClr val="599C3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7000" y="804672"/>
            <a:ext cx="23926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18872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18872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Delivery Plan Optimization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11887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11887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12 planners + dispatchers spending 3-4 hrs/day in Roadnet per DC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Excel macro for order selection / holds / returns, then re-imported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Road restrictions (Ramadan / school / cameras) hard to configure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Dynamic routing limits at fleet scale (450 trucks)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84320" y="11887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84320" y="11887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Shipsy Routing Engine: 200+ constraints incl. Ramadan / school / camera time-windows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Native handling of order selection / holds / returns (no Excel macro)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Truck-bay matching (4 / 6 / 10-bay) and capacity rules in-system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Dynamic + AI-assisted re-routing at 19-DC fleet 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7000" y="11887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0" y="11887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Planner effort drops sharply (3-4 hrs → ~1 hr per DC)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Trucks/day reduce (target 200 → 180-190) at same SLA window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Roadnet sunset; Excel-macro workaround eliminated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81737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81737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Warehouse Picking &amp; MoT Waybills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18173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18173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Plan re-imported into Oracle EBS for warehouse picking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Bay-sequenced loading coordinated manually with supervisor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MoT KSA waybills generated as a separate paper / portal step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Wave dispatch (5 AM / 7 AM) coordinated by phone + clipboard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84320" y="18173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4320" y="18173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Pick list auto-spawns per route with bay sequence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Loading checklist on warehouse handheld tied to trip ID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MoT waybill portal integration auto-generates KSA waybills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Wave dispatch automated with truck-on-map and ETA visibility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7000" y="18173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7000" y="18173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Loading errors and re-picks reduce sharply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Paper waybill steps removed end-to-end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Wave handoffs cleaner — 5 AM / 7 AM dispatched on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4602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44602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Master Data + Integrations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24460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24460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Customer / driver / truck / pallet-capacity masters in Roadnet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Integrations to Oracle EBS, CRM, ISIL, Salesforce automation are partial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Master changes propagate manually across systems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84320" y="24460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84320" y="24460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Unified master data in Shipsy with native sync to Oracle EBS / CRM / ISIL / Salesforce automation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Trip + plan data flows bi-directionally without manual hops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Customer receiving windows + geofences as first-class attributes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7000" y="24460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7000" y="24460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Single source of truth for masters; no duplicate upkeep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Integration touchpoints clean and observable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Cleaner audit trail across the order-to-delivery chain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07467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07467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Driver Execution + Dispatch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30746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91640" y="30746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Trips hop from Roadnet → Oracle EBS → Salesforce handhelds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Wave dispatch (5 AM / 7 AM) coordinated manually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Hyper / super service time (1-3 hr) not visible to dispatch in real time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Receiving-window misses caught only when store calls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84320" y="30746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84320" y="30746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Shipsy Driver App OR integration to Salesforce handhelds (TBD per IT)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Live truck-on-map + at-risk slot detection in dispatch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Service time logged in-app at delivery; feeds future routing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Receiving-window adherence (06:30 - 12:30) measurable per DC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77000" y="30746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7000" y="30746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Fewer system hops; cleaner dispatch handoff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Live visibility from depot to store doorstep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Receiving-window misses surface in minutes, not hours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70332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370332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Store Communication &amp; Slot Compliance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1640" y="37033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91640" y="37033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Stores call DC / driver to check ETA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No proactive slot-miss notification to store contact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Receiving-window adherence tracked offline, lagged by a day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84320" y="37033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84320" y="37033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Stage-wise configurable comms to store contact (SMS / WhatsApp)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Live tracking + sharp predicted receiving window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Geofence-based delivery validation at store dock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77000" y="37033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7000" y="37033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Inbound 'where's my truck' calls drop sharply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Slot-miss risk caught while truck is still en route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Cleaner POD evidence at the store dock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33197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433197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Dashboards + Performance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91640" y="43319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91640" y="43319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No DC plan-time tracking — managers can't see why a plan was delayed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Truck productivity (cases/truck/day) reported manually, lagged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Planner / dispatcher / driver KPIs scattered across systems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84320" y="43319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84320" y="43319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ShipsyBI dashboards: cases/truck/day, DC plan time, planner / dispatcher activity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Live exception view of at-risk trips and slot misses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Drill-down: 'DC X made the plan in N minutes — root cause if delayed'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77000" y="43319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77000" y="43319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Management gets one screen for end-to-end performance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Continuous improvement loop on truck productivity and plan time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Trucks/day reduction target trackable in real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AI Use Cases · AgentFleet for Aljomaih · Pepsi KSA (B2B)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CDDEE"/>
                </a:solidFill>
              </a:rPr>
              <a:t>Shipsy AI capabilities mapped to your specific operational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78992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9216" y="1261872"/>
            <a:ext cx="713232" cy="237744"/>
          </a:xfrm>
          <a:prstGeom prst="roundRect">
            <a:avLst/>
          </a:prstGeom>
          <a:solidFill>
            <a:srgbClr val="59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61872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</a:rPr>
              <a:t>Routing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81912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200+ Constraint Optimiser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828800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01952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Replaces Roadnet at 19-DC / 450-truck scale. Natively handles Ramadan timings, school / university time-windows, camera-fine zones, and bay-capacity matching (4 / 6 / 10-bay) for next-day B2B delivery plans.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1360" y="1078992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1360" y="1078992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04816" y="1261872"/>
            <a:ext cx="713232" cy="237744"/>
          </a:xfrm>
          <a:prstGeom prst="roundRect">
            <a:avLst/>
          </a:prstGeom>
          <a:solidFill>
            <a:srgbClr val="59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5952" y="1261872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ATLAS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5952" y="1581912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Control Tower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5952" y="1828800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5952" y="1901952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Tracks 'DC X plan time' end-to-end. When a plan is delayed or a wave dispatch slips, surfaces the why (data delay / constraint violation / planner block) and routes the alert to the right manager.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6960" y="1078992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6960" y="1078992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00416" y="1261872"/>
            <a:ext cx="713232" cy="237744"/>
          </a:xfrm>
          <a:prstGeom prst="roundRect">
            <a:avLst/>
          </a:prstGeom>
          <a:solidFill>
            <a:srgbClr val="E0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1552" y="1261872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</a:rPr>
              <a:t>Service Time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1552" y="1581912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Historical Service-Time Predictor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1552" y="1828800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1552" y="1901952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Learns from delivery history to predict per-customer service time (1-3 hr at hyper / super) and feeds back into the next routing pass — sharpening receiving-window adherence (06:30-12:30).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996946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996946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09216" y="3179826"/>
            <a:ext cx="713232" cy="237744"/>
          </a:xfrm>
          <a:prstGeom prst="roundRect">
            <a:avLst/>
          </a:prstGeom>
          <a:solidFill>
            <a:srgbClr val="E0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3179826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ASTRA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3499866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Driver Assist 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3746754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819906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Watches for unplanned stoppages, route deviation, and at-risk receiving windows on the day-delivery leg — nudges the driver before the slot slips at the supermarket dock.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61360" y="2996946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61360" y="2996946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04816" y="3179826"/>
            <a:ext cx="713232" cy="237744"/>
          </a:xfrm>
          <a:prstGeom prst="roundRect">
            <a:avLst/>
          </a:prstGeom>
          <a:solidFill>
            <a:srgbClr val="59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5952" y="3179826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</a:rPr>
              <a:t>Address Intelligence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5952" y="3499866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Geocoding + Store Precision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5952" y="3746754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5952" y="3819906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Standardises supermarket / hypermarket addresses across the KSA network so geofences fire reliably at receiving docks and DC plans stay clean as the store base grows.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56960" y="2996946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56960" y="2996946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900416" y="3179826"/>
            <a:ext cx="713232" cy="237744"/>
          </a:xfrm>
          <a:prstGeom prst="round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1552" y="3179826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NEXA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1552" y="3499866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Settlement Agent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21552" y="3746754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1552" y="3819906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Reconciles sub-contractor rate contracts and trip-level operating cost vs plan; flags deviations and shrinks the settlement cycle for the day-delivery fleet.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8691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Aljomaih · Pepsi KSA (B2B) · FMCG · B2B Day Delivery (Pre-Sales → Next-Day to Hyper / Super) · AI Use Cases · Shipsy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