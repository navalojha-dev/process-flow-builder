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5055AFD-2729-419C-91D0-22C4CE8469D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2DC897D-AFBB-4CD5-B45C-8DE9F09CDAC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8837BB9-F75F-4EEF-989D-85923691F15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6FDF161-2C2A-459A-8D0B-DDEE3B20D57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A8BAEC0-073D-48EE-81D7-633158280A1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94A66EC-C82B-438A-BE77-249884099CE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35233B5-509F-4BBA-998F-3C90036EC00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C3FC3E0-B15F-46CC-B131-4892C5C7363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65E48F1-2F0B-41E7-BE2E-E6E4770F79F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06650B9-0346-4BF1-B6F4-0CB9D21B264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D70F943-94D1-471C-B6C6-E994C9CC637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3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3.png"/><Relationship Id="rId12" Type="http://schemas.openxmlformats.org/officeDocument/2006/relationships/image" Target="../media/image9.png"/><Relationship Id="rId13" Type="http://schemas.openxmlformats.org/officeDocument/2006/relationships/image" Target="../media/image3.png"/><Relationship Id="rId14" Type="http://schemas.openxmlformats.org/officeDocument/2006/relationships/image" Target="../media/image3.png"/><Relationship Id="rId15" Type="http://schemas.openxmlformats.org/officeDocument/2006/relationships/image" Target="../media/image10.png"/><Relationship Id="rId16" Type="http://schemas.openxmlformats.org/officeDocument/2006/relationships/image" Target="../media/image3.png"/><Relationship Id="rId17" Type="http://schemas.openxmlformats.org/officeDocument/2006/relationships/image" Target="../media/image11.png"/><Relationship Id="rId18" Type="http://schemas.openxmlformats.org/officeDocument/2006/relationships/image" Target="../media/image12.png"/><Relationship Id="rId19" Type="http://schemas.openxmlformats.org/officeDocument/2006/relationships/image" Target="../media/image13.png"/><Relationship Id="rId20" Type="http://schemas.openxmlformats.org/officeDocument/2006/relationships/image" Target="../media/image14.png"/><Relationship Id="rId21" Type="http://schemas.openxmlformats.org/officeDocument/2006/relationships/image" Target="../media/image11.png"/><Relationship Id="rId22" Type="http://schemas.openxmlformats.org/officeDocument/2006/relationships/image" Target="../media/image3.png"/><Relationship Id="rId23" Type="http://schemas.openxmlformats.org/officeDocument/2006/relationships/image" Target="../media/image6.png"/><Relationship Id="rId24" Type="http://schemas.openxmlformats.org/officeDocument/2006/relationships/image" Target="../media/image8.png"/><Relationship Id="rId25" Type="http://schemas.openxmlformats.org/officeDocument/2006/relationships/image" Target="../media/image15.png"/><Relationship Id="rId26" Type="http://schemas.openxmlformats.org/officeDocument/2006/relationships/image" Target="../media/image10.png"/><Relationship Id="rId27" Type="http://schemas.openxmlformats.org/officeDocument/2006/relationships/image" Target="../media/image3.png"/><Relationship Id="rId28" Type="http://schemas.openxmlformats.org/officeDocument/2006/relationships/image" Target="../media/image5.png"/><Relationship Id="rId29" Type="http://schemas.openxmlformats.org/officeDocument/2006/relationships/image" Target="../media/image3.png"/><Relationship Id="rId30" Type="http://schemas.openxmlformats.org/officeDocument/2006/relationships/image" Target="../media/image3.png"/><Relationship Id="rId31" Type="http://schemas.openxmlformats.org/officeDocument/2006/relationships/image" Target="../media/image3.png"/><Relationship Id="rId32" Type="http://schemas.openxmlformats.org/officeDocument/2006/relationships/image" Target="../media/image16.png"/><Relationship Id="rId33" Type="http://schemas.openxmlformats.org/officeDocument/2006/relationships/image" Target="../media/image10.png"/><Relationship Id="rId34" Type="http://schemas.openxmlformats.org/officeDocument/2006/relationships/image" Target="../media/image3.png"/><Relationship Id="rId35" Type="http://schemas.openxmlformats.org/officeDocument/2006/relationships/image" Target="../media/image16.png"/><Relationship Id="rId36" Type="http://schemas.openxmlformats.org/officeDocument/2006/relationships/image" Target="../media/image16.png"/><Relationship Id="rId37" Type="http://schemas.openxmlformats.org/officeDocument/2006/relationships/image" Target="../media/image16.png"/><Relationship Id="rId38" Type="http://schemas.openxmlformats.org/officeDocument/2006/relationships/image" Target="../media/image17.png"/><Relationship Id="rId39" Type="http://schemas.openxmlformats.org/officeDocument/2006/relationships/image" Target="../media/image3.png"/><Relationship Id="rId40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274320" y="91440"/>
            <a:ext cx="6857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Process Flow — Anderson B2B / Corporate (per FRS)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Picture 2" descr="shipsy-logo-mark.png"/>
          <p:cNvPicPr/>
          <p:nvPr/>
        </p:nvPicPr>
        <p:blipFill>
          <a:blip r:embed="rId1"/>
          <a:stretch/>
        </p:blipFill>
        <p:spPr>
          <a:xfrm>
            <a:off x="8092440" y="164520"/>
            <a:ext cx="69948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Rectangle 3"/>
          <p:cNvSpPr/>
          <p:nvPr/>
        </p:nvSpPr>
        <p:spPr>
          <a:xfrm>
            <a:off x="0" y="667440"/>
            <a:ext cx="1416960" cy="61956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45720" y="694800"/>
            <a:ext cx="1325520" cy="56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ctr">
            <a:spAutoFit/>
          </a:bodyPr>
          <a:p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Shipment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Creation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" name="Picture 5" descr="business-clients.png"/>
          <p:cNvPicPr/>
          <p:nvPr/>
        </p:nvPicPr>
        <p:blipFill>
          <a:blip r:embed="rId2"/>
          <a:stretch/>
        </p:blipFill>
        <p:spPr>
          <a:xfrm>
            <a:off x="1915920" y="71316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TextBox 6"/>
          <p:cNvSpPr/>
          <p:nvPr/>
        </p:nvSpPr>
        <p:spPr>
          <a:xfrm>
            <a:off x="1444680" y="1010160"/>
            <a:ext cx="120204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Corporate / B2B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shipper account (§8)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Picture 7" descr="verify-clipboard.png"/>
          <p:cNvPicPr/>
          <p:nvPr/>
        </p:nvPicPr>
        <p:blipFill>
          <a:blip r:embed="rId3"/>
          <a:stretch/>
        </p:blipFill>
        <p:spPr>
          <a:xfrm>
            <a:off x="3173040" y="71316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Box 8"/>
          <p:cNvSpPr/>
          <p:nvPr/>
        </p:nvSpPr>
        <p:spPr>
          <a:xfrm>
            <a:off x="2702160" y="1010160"/>
            <a:ext cx="120204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Operation type: delivery /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AR / tender / submission (§14.3)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ight Arrow 9"/>
          <p:cNvSpPr/>
          <p:nvPr/>
        </p:nvSpPr>
        <p:spPr>
          <a:xfrm>
            <a:off x="2221920" y="770400"/>
            <a:ext cx="93276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0" name="Picture 10" descr="erp-sync.png"/>
          <p:cNvPicPr/>
          <p:nvPr/>
        </p:nvPicPr>
        <p:blipFill>
          <a:blip r:embed="rId4"/>
          <a:stretch/>
        </p:blipFill>
        <p:spPr>
          <a:xfrm>
            <a:off x="4430520" y="71316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TextBox 11"/>
          <p:cNvSpPr/>
          <p:nvPr/>
        </p:nvSpPr>
        <p:spPr>
          <a:xfrm>
            <a:off x="3959280" y="1010160"/>
            <a:ext cx="120204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System-generated tracking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+ linked trackings (§9.2)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ight Arrow 12"/>
          <p:cNvSpPr/>
          <p:nvPr/>
        </p:nvSpPr>
        <p:spPr>
          <a:xfrm>
            <a:off x="3479040" y="770400"/>
            <a:ext cx="93276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3" name="Picture 13" descr="verify-clipboard.png"/>
          <p:cNvPicPr/>
          <p:nvPr/>
        </p:nvPicPr>
        <p:blipFill>
          <a:blip r:embed="rId5"/>
          <a:stretch/>
        </p:blipFill>
        <p:spPr>
          <a:xfrm>
            <a:off x="5687640" y="71316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extBox 14"/>
          <p:cNvSpPr/>
          <p:nvPr/>
        </p:nvSpPr>
        <p:spPr>
          <a:xfrm>
            <a:off x="5216760" y="1010160"/>
            <a:ext cx="120204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Tariff preview —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station × geography (§9.2, §10)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ight Arrow 15"/>
          <p:cNvSpPr/>
          <p:nvPr/>
        </p:nvSpPr>
        <p:spPr>
          <a:xfrm>
            <a:off x="4736520" y="770400"/>
            <a:ext cx="93276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6" name="Picture 16" descr="predicted-window.png"/>
          <p:cNvPicPr/>
          <p:nvPr/>
        </p:nvPicPr>
        <p:blipFill>
          <a:blip r:embed="rId6"/>
          <a:stretch/>
        </p:blipFill>
        <p:spPr>
          <a:xfrm>
            <a:off x="6945120" y="71316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Box 17"/>
          <p:cNvSpPr/>
          <p:nvPr/>
        </p:nvSpPr>
        <p:spPr>
          <a:xfrm>
            <a:off x="6473880" y="1010160"/>
            <a:ext cx="120204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Submission: deadline +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feasibility check (§14.3)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ight Arrow 18"/>
          <p:cNvSpPr/>
          <p:nvPr/>
        </p:nvSpPr>
        <p:spPr>
          <a:xfrm>
            <a:off x="5993640" y="770400"/>
            <a:ext cx="93276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9" name="Picture 19" descr="verify-clipboard.png"/>
          <p:cNvPicPr/>
          <p:nvPr/>
        </p:nvPicPr>
        <p:blipFill>
          <a:blip r:embed="rId7"/>
          <a:stretch/>
        </p:blipFill>
        <p:spPr>
          <a:xfrm>
            <a:off x="8202240" y="71316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TextBox 20"/>
          <p:cNvSpPr/>
          <p:nvPr/>
        </p:nvSpPr>
        <p:spPr>
          <a:xfrm>
            <a:off x="7731360" y="1010160"/>
            <a:ext cx="120204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Label + bordereau with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B2B visual identifier (§11)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ight Arrow 21"/>
          <p:cNvSpPr/>
          <p:nvPr/>
        </p:nvSpPr>
        <p:spPr>
          <a:xfrm>
            <a:off x="7251120" y="770400"/>
            <a:ext cx="93276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Rectangle 22"/>
          <p:cNvSpPr/>
          <p:nvPr/>
        </p:nvSpPr>
        <p:spPr>
          <a:xfrm>
            <a:off x="0" y="1287360"/>
            <a:ext cx="1416960" cy="619560"/>
          </a:xfrm>
          <a:prstGeom prst="rect">
            <a:avLst/>
          </a:prstGeom>
          <a:solidFill>
            <a:srgbClr val="2C476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83" name="Connector 23"/>
          <p:cNvCxnSpPr/>
          <p:nvPr/>
        </p:nvCxnSpPr>
        <p:spPr>
          <a:xfrm>
            <a:off x="1463040" y="1287000"/>
            <a:ext cx="7498440" cy="360"/>
          </a:xfrm>
          <a:prstGeom prst="straightConnector1">
            <a:avLst/>
          </a:prstGeom>
          <a:ln w="6350">
            <a:solidFill>
              <a:srgbClr val="D9DFE6"/>
            </a:solidFill>
            <a:prstDash val="dash"/>
            <a:round/>
          </a:ln>
        </p:spPr>
      </p:cxnSp>
      <p:sp>
        <p:nvSpPr>
          <p:cNvPr id="84" name="TextBox 24"/>
          <p:cNvSpPr/>
          <p:nvPr/>
        </p:nvSpPr>
        <p:spPr>
          <a:xfrm>
            <a:off x="45720" y="1314720"/>
            <a:ext cx="1325520" cy="56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ctr">
            <a:spAutoFit/>
          </a:bodyPr>
          <a:p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Pickup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&amp; Intake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Picture 25" descr="driver-assignment.png"/>
          <p:cNvPicPr/>
          <p:nvPr/>
        </p:nvPicPr>
        <p:blipFill>
          <a:blip r:embed="rId8"/>
          <a:stretch/>
        </p:blipFill>
        <p:spPr>
          <a:xfrm>
            <a:off x="2041560" y="133308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TextBox 26"/>
          <p:cNvSpPr/>
          <p:nvPr/>
        </p:nvSpPr>
        <p:spPr>
          <a:xfrm>
            <a:off x="1444680" y="1630080"/>
            <a:ext cx="145368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Launch pickup —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Ramasseur (§5, §13)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Picture 27" descr="pickup-check.png"/>
          <p:cNvPicPr/>
          <p:nvPr/>
        </p:nvPicPr>
        <p:blipFill>
          <a:blip r:embed="rId9"/>
          <a:stretch/>
        </p:blipFill>
        <p:spPr>
          <a:xfrm>
            <a:off x="3550320" y="133308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TextBox 28"/>
          <p:cNvSpPr/>
          <p:nvPr/>
        </p:nvSpPr>
        <p:spPr>
          <a:xfrm>
            <a:off x="2953440" y="1630080"/>
            <a:ext cx="145368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Pickup validation (§5)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ight Arrow 29"/>
          <p:cNvSpPr/>
          <p:nvPr/>
        </p:nvSpPr>
        <p:spPr>
          <a:xfrm>
            <a:off x="2347560" y="1389960"/>
            <a:ext cx="118404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0" name="Picture 30" descr="mobile-app.png"/>
          <p:cNvPicPr/>
          <p:nvPr/>
        </p:nvPicPr>
        <p:blipFill>
          <a:blip r:embed="rId10"/>
          <a:stretch/>
        </p:blipFill>
        <p:spPr>
          <a:xfrm>
            <a:off x="5059080" y="133308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TextBox 31"/>
          <p:cNvSpPr/>
          <p:nvPr/>
        </p:nvSpPr>
        <p:spPr>
          <a:xfrm>
            <a:off x="4462200" y="1630080"/>
            <a:ext cx="145368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Mobile app: B2B in dedicated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section / strong identifier (§13)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ight Arrow 32"/>
          <p:cNvSpPr/>
          <p:nvPr/>
        </p:nvSpPr>
        <p:spPr>
          <a:xfrm>
            <a:off x="3856320" y="1389960"/>
            <a:ext cx="118404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3" name="Picture 33" descr="verify-clipboard.png"/>
          <p:cNvPicPr/>
          <p:nvPr/>
        </p:nvPicPr>
        <p:blipFill>
          <a:blip r:embed="rId11"/>
          <a:stretch/>
        </p:blipFill>
        <p:spPr>
          <a:xfrm>
            <a:off x="6567840" y="133308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TextBox 34"/>
          <p:cNvSpPr/>
          <p:nvPr/>
        </p:nvSpPr>
        <p:spPr>
          <a:xfrm>
            <a:off x="5970960" y="1630080"/>
            <a:ext cx="145368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Scan intake at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origin station (§13)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ight Arrow 35"/>
          <p:cNvSpPr/>
          <p:nvPr/>
        </p:nvSpPr>
        <p:spPr>
          <a:xfrm>
            <a:off x="5365080" y="1389960"/>
            <a:ext cx="118404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6" name="Picture 36" descr="visibility-clipboard.png"/>
          <p:cNvPicPr/>
          <p:nvPr/>
        </p:nvPicPr>
        <p:blipFill>
          <a:blip r:embed="rId12"/>
          <a:stretch/>
        </p:blipFill>
        <p:spPr>
          <a:xfrm>
            <a:off x="8076600" y="133308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TextBox 37"/>
          <p:cNvSpPr/>
          <p:nvPr/>
        </p:nvSpPr>
        <p:spPr>
          <a:xfrm>
            <a:off x="7479720" y="1630080"/>
            <a:ext cx="145368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Receive at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origin station (§5)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ight Arrow 38"/>
          <p:cNvSpPr/>
          <p:nvPr/>
        </p:nvSpPr>
        <p:spPr>
          <a:xfrm>
            <a:off x="6873840" y="1389960"/>
            <a:ext cx="118404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Rectangle 39"/>
          <p:cNvSpPr/>
          <p:nvPr/>
        </p:nvSpPr>
        <p:spPr>
          <a:xfrm>
            <a:off x="0" y="1907280"/>
            <a:ext cx="1416960" cy="619560"/>
          </a:xfrm>
          <a:prstGeom prst="rect">
            <a:avLst/>
          </a:prstGeom>
          <a:solidFill>
            <a:srgbClr val="3955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00" name="Connector 40"/>
          <p:cNvCxnSpPr/>
          <p:nvPr/>
        </p:nvCxnSpPr>
        <p:spPr>
          <a:xfrm>
            <a:off x="1463040" y="1906920"/>
            <a:ext cx="7498440" cy="360"/>
          </a:xfrm>
          <a:prstGeom prst="straightConnector1">
            <a:avLst/>
          </a:prstGeom>
          <a:ln w="6350">
            <a:solidFill>
              <a:srgbClr val="D9DFE6"/>
            </a:solidFill>
            <a:prstDash val="dash"/>
            <a:round/>
          </a:ln>
        </p:spPr>
      </p:cxnSp>
      <p:sp>
        <p:nvSpPr>
          <p:cNvPr id="101" name="TextBox 41"/>
          <p:cNvSpPr/>
          <p:nvPr/>
        </p:nvSpPr>
        <p:spPr>
          <a:xfrm>
            <a:off x="45720" y="1934640"/>
            <a:ext cx="1325520" cy="56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ctr">
            <a:spAutoFit/>
          </a:bodyPr>
          <a:p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Preparation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&amp; Dispatch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" name="Picture 42" descr="verify-clipboard.png"/>
          <p:cNvPicPr/>
          <p:nvPr/>
        </p:nvPicPr>
        <p:blipFill>
          <a:blip r:embed="rId13"/>
          <a:stretch/>
        </p:blipFill>
        <p:spPr>
          <a:xfrm>
            <a:off x="2041560" y="195300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TextBox 43"/>
          <p:cNvSpPr/>
          <p:nvPr/>
        </p:nvSpPr>
        <p:spPr>
          <a:xfrm>
            <a:off x="1444680" y="2249640"/>
            <a:ext cx="145368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Prepare products +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validate preparation (§5)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Picture 44" descr="verify-clipboard.png"/>
          <p:cNvPicPr/>
          <p:nvPr/>
        </p:nvPicPr>
        <p:blipFill>
          <a:blip r:embed="rId14"/>
          <a:stretch/>
        </p:blipFill>
        <p:spPr>
          <a:xfrm>
            <a:off x="3550320" y="195300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TextBox 45"/>
          <p:cNvSpPr/>
          <p:nvPr/>
        </p:nvSpPr>
        <p:spPr>
          <a:xfrm>
            <a:off x="2953440" y="2249640"/>
            <a:ext cx="145368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Print preparation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documents / labels (§5)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ight Arrow 46"/>
          <p:cNvSpPr/>
          <p:nvPr/>
        </p:nvSpPr>
        <p:spPr>
          <a:xfrm>
            <a:off x="2347560" y="2009880"/>
            <a:ext cx="118404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7" name="Picture 47" descr="allocation-engine.png"/>
          <p:cNvPicPr/>
          <p:nvPr/>
        </p:nvPicPr>
        <p:blipFill>
          <a:blip r:embed="rId15"/>
          <a:stretch/>
        </p:blipFill>
        <p:spPr>
          <a:xfrm>
            <a:off x="5059080" y="195300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Box 48"/>
          <p:cNvSpPr/>
          <p:nvPr/>
        </p:nvSpPr>
        <p:spPr>
          <a:xfrm>
            <a:off x="4462200" y="2249640"/>
            <a:ext cx="145368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Assign to route sheet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or sack (§5, §11)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ight Arrow 49"/>
          <p:cNvSpPr/>
          <p:nvPr/>
        </p:nvSpPr>
        <p:spPr>
          <a:xfrm>
            <a:off x="3856320" y="2009880"/>
            <a:ext cx="118404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0" name="Picture 50" descr="verify-clipboard.png"/>
          <p:cNvPicPr/>
          <p:nvPr/>
        </p:nvPicPr>
        <p:blipFill>
          <a:blip r:embed="rId16"/>
          <a:stretch/>
        </p:blipFill>
        <p:spPr>
          <a:xfrm>
            <a:off x="6567840" y="195300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TextBox 51"/>
          <p:cNvSpPr/>
          <p:nvPr/>
        </p:nvSpPr>
        <p:spPr>
          <a:xfrm>
            <a:off x="5970960" y="2249640"/>
            <a:ext cx="145368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Decharge — handover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manifest (§4, §11)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ight Arrow 52"/>
          <p:cNvSpPr/>
          <p:nvPr/>
        </p:nvSpPr>
        <p:spPr>
          <a:xfrm>
            <a:off x="5365080" y="2009880"/>
            <a:ext cx="118404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3" name="Picture 53" descr="loading-truck.png"/>
          <p:cNvPicPr/>
          <p:nvPr/>
        </p:nvPicPr>
        <p:blipFill>
          <a:blip r:embed="rId17"/>
          <a:stretch/>
        </p:blipFill>
        <p:spPr>
          <a:xfrm>
            <a:off x="8076600" y="195300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TextBox 54"/>
          <p:cNvSpPr/>
          <p:nvPr/>
        </p:nvSpPr>
        <p:spPr>
          <a:xfrm>
            <a:off x="7479720" y="2249640"/>
            <a:ext cx="145368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Dispatch to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next node (§5)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ight Arrow 55"/>
          <p:cNvSpPr/>
          <p:nvPr/>
        </p:nvSpPr>
        <p:spPr>
          <a:xfrm>
            <a:off x="6873840" y="2009880"/>
            <a:ext cx="118404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Rectangle 56"/>
          <p:cNvSpPr/>
          <p:nvPr/>
        </p:nvSpPr>
        <p:spPr>
          <a:xfrm>
            <a:off x="0" y="2526840"/>
            <a:ext cx="1416960" cy="619560"/>
          </a:xfrm>
          <a:prstGeom prst="rect">
            <a:avLst/>
          </a:prstGeom>
          <a:solidFill>
            <a:srgbClr val="4663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17" name="Connector 57"/>
          <p:cNvCxnSpPr/>
          <p:nvPr/>
        </p:nvCxnSpPr>
        <p:spPr>
          <a:xfrm>
            <a:off x="1463040" y="2526840"/>
            <a:ext cx="7498440" cy="360"/>
          </a:xfrm>
          <a:prstGeom prst="straightConnector1">
            <a:avLst/>
          </a:prstGeom>
          <a:ln w="6350">
            <a:solidFill>
              <a:srgbClr val="D9DFE6"/>
            </a:solidFill>
            <a:prstDash val="dash"/>
            <a:round/>
          </a:ln>
        </p:spPr>
      </p:cxnSp>
      <p:sp>
        <p:nvSpPr>
          <p:cNvPr id="118" name="TextBox 58"/>
          <p:cNvSpPr/>
          <p:nvPr/>
        </p:nvSpPr>
        <p:spPr>
          <a:xfrm>
            <a:off x="45720" y="2554560"/>
            <a:ext cx="1325520" cy="56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ctr">
            <a:spAutoFit/>
          </a:bodyPr>
          <a:p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CTR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Transit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(Sortation)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" name="Picture 59" descr="unloading-truck.png"/>
          <p:cNvPicPr/>
          <p:nvPr/>
        </p:nvPicPr>
        <p:blipFill>
          <a:blip r:embed="rId18"/>
          <a:stretch/>
        </p:blipFill>
        <p:spPr>
          <a:xfrm>
            <a:off x="2041560" y="257256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TextBox 60"/>
          <p:cNvSpPr/>
          <p:nvPr/>
        </p:nvSpPr>
        <p:spPr>
          <a:xfrm>
            <a:off x="1444680" y="2869560"/>
            <a:ext cx="145368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Receive sack at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CTR — scan (§5, §12.3)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Picture 61" descr="sorting.png"/>
          <p:cNvPicPr/>
          <p:nvPr/>
        </p:nvPicPr>
        <p:blipFill>
          <a:blip r:embed="rId19"/>
          <a:stretch/>
        </p:blipFill>
        <p:spPr>
          <a:xfrm>
            <a:off x="3550320" y="257256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TextBox 62"/>
          <p:cNvSpPr/>
          <p:nvPr/>
        </p:nvSpPr>
        <p:spPr>
          <a:xfrm>
            <a:off x="2953440" y="2869560"/>
            <a:ext cx="145368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Sort by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destination (§5, §12.3)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ight Arrow 63"/>
          <p:cNvSpPr/>
          <p:nvPr/>
        </p:nvSpPr>
        <p:spPr>
          <a:xfrm>
            <a:off x="2347560" y="2629800"/>
            <a:ext cx="118404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4" name="Picture 64" descr="bagging-box.png"/>
          <p:cNvPicPr/>
          <p:nvPr/>
        </p:nvPicPr>
        <p:blipFill>
          <a:blip r:embed="rId20"/>
          <a:stretch/>
        </p:blipFill>
        <p:spPr>
          <a:xfrm>
            <a:off x="5059080" y="257256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TextBox 65"/>
          <p:cNvSpPr/>
          <p:nvPr/>
        </p:nvSpPr>
        <p:spPr>
          <a:xfrm>
            <a:off x="4462200" y="2869560"/>
            <a:ext cx="145368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Prepare outgoing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sack + decharge (§12.3)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ight Arrow 66"/>
          <p:cNvSpPr/>
          <p:nvPr/>
        </p:nvSpPr>
        <p:spPr>
          <a:xfrm>
            <a:off x="3856320" y="2629800"/>
            <a:ext cx="118404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7" name="Picture 67" descr="loading-truck.png"/>
          <p:cNvPicPr/>
          <p:nvPr/>
        </p:nvPicPr>
        <p:blipFill>
          <a:blip r:embed="rId21"/>
          <a:stretch/>
        </p:blipFill>
        <p:spPr>
          <a:xfrm>
            <a:off x="6567840" y="257256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TextBox 68"/>
          <p:cNvSpPr/>
          <p:nvPr/>
        </p:nvSpPr>
        <p:spPr>
          <a:xfrm>
            <a:off x="5970960" y="2869560"/>
            <a:ext cx="145368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Re-dispatch to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destination station (§12.3)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ight Arrow 69"/>
          <p:cNvSpPr/>
          <p:nvPr/>
        </p:nvSpPr>
        <p:spPr>
          <a:xfrm>
            <a:off x="5365080" y="2629800"/>
            <a:ext cx="118404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0" name="Picture 70" descr="verify-clipboard.png"/>
          <p:cNvPicPr/>
          <p:nvPr/>
        </p:nvPicPr>
        <p:blipFill>
          <a:blip r:embed="rId22"/>
          <a:stretch/>
        </p:blipFill>
        <p:spPr>
          <a:xfrm>
            <a:off x="8076600" y="257256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TextBox 71"/>
          <p:cNvSpPr/>
          <p:nvPr/>
        </p:nvSpPr>
        <p:spPr>
          <a:xfrm>
            <a:off x="7479720" y="2869560"/>
            <a:ext cx="145368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Scan history +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sack history (§5, §11)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ight Arrow 72"/>
          <p:cNvSpPr/>
          <p:nvPr/>
        </p:nvSpPr>
        <p:spPr>
          <a:xfrm>
            <a:off x="6873840" y="2629800"/>
            <a:ext cx="118404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Rectangle 73"/>
          <p:cNvSpPr/>
          <p:nvPr/>
        </p:nvSpPr>
        <p:spPr>
          <a:xfrm>
            <a:off x="0" y="3146760"/>
            <a:ext cx="1416960" cy="619560"/>
          </a:xfrm>
          <a:prstGeom prst="rect">
            <a:avLst/>
          </a:prstGeom>
          <a:solidFill>
            <a:srgbClr val="5370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34" name="Connector 74"/>
          <p:cNvCxnSpPr/>
          <p:nvPr/>
        </p:nvCxnSpPr>
        <p:spPr>
          <a:xfrm>
            <a:off x="1463040" y="3146760"/>
            <a:ext cx="7498440" cy="360"/>
          </a:xfrm>
          <a:prstGeom prst="straightConnector1">
            <a:avLst/>
          </a:prstGeom>
          <a:ln w="6350">
            <a:solidFill>
              <a:srgbClr val="D9DFE6"/>
            </a:solidFill>
            <a:prstDash val="dash"/>
            <a:round/>
          </a:ln>
        </p:spPr>
      </p:cxnSp>
      <p:sp>
        <p:nvSpPr>
          <p:cNvPr id="135" name="TextBox 75"/>
          <p:cNvSpPr/>
          <p:nvPr/>
        </p:nvSpPr>
        <p:spPr>
          <a:xfrm>
            <a:off x="45720" y="3174120"/>
            <a:ext cx="1325520" cy="56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ctr">
            <a:spAutoFit/>
          </a:bodyPr>
          <a:p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Last Mile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&amp; Delivery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6" name="Picture 76" descr="driver-assignment.png"/>
          <p:cNvPicPr/>
          <p:nvPr/>
        </p:nvPicPr>
        <p:blipFill>
          <a:blip r:embed="rId23"/>
          <a:stretch/>
        </p:blipFill>
        <p:spPr>
          <a:xfrm>
            <a:off x="1915920" y="319248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TextBox 77"/>
          <p:cNvSpPr/>
          <p:nvPr/>
        </p:nvSpPr>
        <p:spPr>
          <a:xfrm>
            <a:off x="1444680" y="3489480"/>
            <a:ext cx="120204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Assign courier — per-courier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B2B tariff + fallback (§10)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Picture 78" descr="mobile-app.png"/>
          <p:cNvPicPr/>
          <p:nvPr/>
        </p:nvPicPr>
        <p:blipFill>
          <a:blip r:embed="rId24"/>
          <a:stretch/>
        </p:blipFill>
        <p:spPr>
          <a:xfrm>
            <a:off x="3173040" y="319248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TextBox 79"/>
          <p:cNvSpPr/>
          <p:nvPr/>
        </p:nvSpPr>
        <p:spPr>
          <a:xfrm>
            <a:off x="2702160" y="3489480"/>
            <a:ext cx="120204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Courier app: B2B section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/ strong identifier (§13)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Right Arrow 80"/>
          <p:cNvSpPr/>
          <p:nvPr/>
        </p:nvSpPr>
        <p:spPr>
          <a:xfrm>
            <a:off x="2221920" y="3249720"/>
            <a:ext cx="93276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1" name="Picture 81" descr="navigation-epod.png"/>
          <p:cNvPicPr/>
          <p:nvPr/>
        </p:nvPicPr>
        <p:blipFill>
          <a:blip r:embed="rId25"/>
          <a:stretch/>
        </p:blipFill>
        <p:spPr>
          <a:xfrm>
            <a:off x="4430520" y="319248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TextBox 82"/>
          <p:cNvSpPr/>
          <p:nvPr/>
        </p:nvSpPr>
        <p:spPr>
          <a:xfrm>
            <a:off x="3959280" y="3489480"/>
            <a:ext cx="120204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Home / stop-desk delivery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+ ePOD sig / photo / OTP (§4, §13)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ight Arrow 83"/>
          <p:cNvSpPr/>
          <p:nvPr/>
        </p:nvSpPr>
        <p:spPr>
          <a:xfrm>
            <a:off x="3479040" y="3249720"/>
            <a:ext cx="93276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4" name="Picture 84" descr="allocation-engine.png"/>
          <p:cNvPicPr/>
          <p:nvPr/>
        </p:nvPicPr>
        <p:blipFill>
          <a:blip r:embed="rId26"/>
          <a:stretch/>
        </p:blipFill>
        <p:spPr>
          <a:xfrm>
            <a:off x="5687640" y="319248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TextBox 85"/>
          <p:cNvSpPr/>
          <p:nvPr/>
        </p:nvSpPr>
        <p:spPr>
          <a:xfrm>
            <a:off x="5216760" y="3489480"/>
            <a:ext cx="120204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AR auto-trigger: outbound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delivered → reverse flow (§14.3)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Right Arrow 86"/>
          <p:cNvSpPr/>
          <p:nvPr/>
        </p:nvSpPr>
        <p:spPr>
          <a:xfrm>
            <a:off x="4736520" y="3249720"/>
            <a:ext cx="93276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7" name="Picture 87" descr="verify-clipboard.png"/>
          <p:cNvPicPr/>
          <p:nvPr/>
        </p:nvPicPr>
        <p:blipFill>
          <a:blip r:embed="rId27"/>
          <a:stretch/>
        </p:blipFill>
        <p:spPr>
          <a:xfrm>
            <a:off x="6945120" y="319248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TextBox 88"/>
          <p:cNvSpPr/>
          <p:nvPr/>
        </p:nvSpPr>
        <p:spPr>
          <a:xfrm>
            <a:off x="6473880" y="3489480"/>
            <a:ext cx="120204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Tender withdrawal: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docs + money transport (§14.3)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Right Arrow 89"/>
          <p:cNvSpPr/>
          <p:nvPr/>
        </p:nvSpPr>
        <p:spPr>
          <a:xfrm>
            <a:off x="5993640" y="3249720"/>
            <a:ext cx="93276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50" name="Picture 90" descr="predicted-window.png"/>
          <p:cNvPicPr/>
          <p:nvPr/>
        </p:nvPicPr>
        <p:blipFill>
          <a:blip r:embed="rId28"/>
          <a:stretch/>
        </p:blipFill>
        <p:spPr>
          <a:xfrm>
            <a:off x="8202240" y="319248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TextBox 91"/>
          <p:cNvSpPr/>
          <p:nvPr/>
        </p:nvSpPr>
        <p:spPr>
          <a:xfrm>
            <a:off x="7731360" y="3489480"/>
            <a:ext cx="120204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Submission delivery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vs final deadline (§14.3)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Right Arrow 92"/>
          <p:cNvSpPr/>
          <p:nvPr/>
        </p:nvSpPr>
        <p:spPr>
          <a:xfrm>
            <a:off x="7251120" y="3249720"/>
            <a:ext cx="93276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Rectangle 93"/>
          <p:cNvSpPr/>
          <p:nvPr/>
        </p:nvSpPr>
        <p:spPr>
          <a:xfrm>
            <a:off x="0" y="3766680"/>
            <a:ext cx="1416960" cy="619560"/>
          </a:xfrm>
          <a:prstGeom prst="rect">
            <a:avLst/>
          </a:prstGeom>
          <a:solidFill>
            <a:srgbClr val="607EA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54" name="Connector 94"/>
          <p:cNvCxnSpPr/>
          <p:nvPr/>
        </p:nvCxnSpPr>
        <p:spPr>
          <a:xfrm>
            <a:off x="1463040" y="3766320"/>
            <a:ext cx="7498440" cy="360"/>
          </a:xfrm>
          <a:prstGeom prst="straightConnector1">
            <a:avLst/>
          </a:prstGeom>
          <a:ln w="6350">
            <a:solidFill>
              <a:srgbClr val="D9DFE6"/>
            </a:solidFill>
            <a:prstDash val="dash"/>
            <a:round/>
          </a:ln>
        </p:spPr>
      </p:cxnSp>
      <p:sp>
        <p:nvSpPr>
          <p:cNvPr id="155" name="TextBox 95"/>
          <p:cNvSpPr/>
          <p:nvPr/>
        </p:nvSpPr>
        <p:spPr>
          <a:xfrm>
            <a:off x="45720" y="3794040"/>
            <a:ext cx="1325520" cy="56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ctr">
            <a:spAutoFit/>
          </a:bodyPr>
          <a:p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Finance,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Returns &amp;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Reimbursement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6" name="Picture 96" descr="verify-clipboard.png"/>
          <p:cNvPicPr/>
          <p:nvPr/>
        </p:nvPicPr>
        <p:blipFill>
          <a:blip r:embed="rId29"/>
          <a:stretch/>
        </p:blipFill>
        <p:spPr>
          <a:xfrm>
            <a:off x="1915920" y="381240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TextBox 97"/>
          <p:cNvSpPr/>
          <p:nvPr/>
        </p:nvSpPr>
        <p:spPr>
          <a:xfrm>
            <a:off x="1444680" y="4109400"/>
            <a:ext cx="120204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B2B tariff engine —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station × geography (§10)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8" name="Picture 98" descr="verify-clipboard.png"/>
          <p:cNvPicPr/>
          <p:nvPr/>
        </p:nvPicPr>
        <p:blipFill>
          <a:blip r:embed="rId30"/>
          <a:stretch/>
        </p:blipFill>
        <p:spPr>
          <a:xfrm>
            <a:off x="3173040" y="381240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TextBox 99"/>
          <p:cNvSpPr/>
          <p:nvPr/>
        </p:nvSpPr>
        <p:spPr>
          <a:xfrm>
            <a:off x="2702160" y="4109400"/>
            <a:ext cx="120204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Per-courier B2B remuneration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+ default fallback (§10)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ight Arrow 100"/>
          <p:cNvSpPr/>
          <p:nvPr/>
        </p:nvSpPr>
        <p:spPr>
          <a:xfrm>
            <a:off x="2221920" y="3869280"/>
            <a:ext cx="93276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61" name="Picture 101" descr="verify-clipboard.png"/>
          <p:cNvPicPr/>
          <p:nvPr/>
        </p:nvPicPr>
        <p:blipFill>
          <a:blip r:embed="rId31"/>
          <a:stretch/>
        </p:blipFill>
        <p:spPr>
          <a:xfrm>
            <a:off x="4430520" y="381240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TextBox 102"/>
          <p:cNvSpPr/>
          <p:nvPr/>
        </p:nvSpPr>
        <p:spPr>
          <a:xfrm>
            <a:off x="3959280" y="4109400"/>
            <a:ext cx="120204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High-value surcharge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if HV access (§10)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Right Arrow 103"/>
          <p:cNvSpPr/>
          <p:nvPr/>
        </p:nvSpPr>
        <p:spPr>
          <a:xfrm>
            <a:off x="3479040" y="3869280"/>
            <a:ext cx="93276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64" name="Picture 104" descr="dashboard-comparison.png"/>
          <p:cNvPicPr/>
          <p:nvPr/>
        </p:nvPicPr>
        <p:blipFill>
          <a:blip r:embed="rId32"/>
          <a:stretch/>
        </p:blipFill>
        <p:spPr>
          <a:xfrm>
            <a:off x="5687640" y="381240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TextBox 105"/>
          <p:cNvSpPr/>
          <p:nvPr/>
        </p:nvSpPr>
        <p:spPr>
          <a:xfrm>
            <a:off x="5216760" y="4109400"/>
            <a:ext cx="120204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Reimbursement: request →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approval → payment (§14.5)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Right Arrow 106"/>
          <p:cNvSpPr/>
          <p:nvPr/>
        </p:nvSpPr>
        <p:spPr>
          <a:xfrm>
            <a:off x="4736520" y="3869280"/>
            <a:ext cx="93276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67" name="Picture 107" descr="allocation-engine.png"/>
          <p:cNvPicPr/>
          <p:nvPr/>
        </p:nvPicPr>
        <p:blipFill>
          <a:blip r:embed="rId33"/>
          <a:stretch/>
        </p:blipFill>
        <p:spPr>
          <a:xfrm>
            <a:off x="6945120" y="381240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TextBox 108"/>
          <p:cNvSpPr/>
          <p:nvPr/>
        </p:nvSpPr>
        <p:spPr>
          <a:xfrm>
            <a:off x="6473880" y="4109400"/>
            <a:ext cx="120204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AR / tender reverse-flow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lifecycle (§14.1, §14.3)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Right Arrow 109"/>
          <p:cNvSpPr/>
          <p:nvPr/>
        </p:nvSpPr>
        <p:spPr>
          <a:xfrm>
            <a:off x="5993640" y="3869280"/>
            <a:ext cx="93276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70" name="Picture 110" descr="verify-clipboard.png"/>
          <p:cNvPicPr/>
          <p:nvPr/>
        </p:nvPicPr>
        <p:blipFill>
          <a:blip r:embed="rId34"/>
          <a:stretch/>
        </p:blipFill>
        <p:spPr>
          <a:xfrm>
            <a:off x="8202240" y="381240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" name="TextBox 111"/>
          <p:cNvSpPr/>
          <p:nvPr/>
        </p:nvSpPr>
        <p:spPr>
          <a:xfrm>
            <a:off x="7731360" y="4109400"/>
            <a:ext cx="120204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Receipt + payment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bordereau (§10, §11)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Right Arrow 112"/>
          <p:cNvSpPr/>
          <p:nvPr/>
        </p:nvSpPr>
        <p:spPr>
          <a:xfrm>
            <a:off x="7251120" y="3869280"/>
            <a:ext cx="93276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Rectangle 113"/>
          <p:cNvSpPr/>
          <p:nvPr/>
        </p:nvSpPr>
        <p:spPr>
          <a:xfrm>
            <a:off x="0" y="4386600"/>
            <a:ext cx="1416960" cy="619560"/>
          </a:xfrm>
          <a:prstGeom prst="rect">
            <a:avLst/>
          </a:prstGeom>
          <a:solidFill>
            <a:srgbClr val="6E8C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74" name="Connector 114"/>
          <p:cNvCxnSpPr/>
          <p:nvPr/>
        </p:nvCxnSpPr>
        <p:spPr>
          <a:xfrm>
            <a:off x="1463040" y="4386240"/>
            <a:ext cx="7498440" cy="360"/>
          </a:xfrm>
          <a:prstGeom prst="straightConnector1">
            <a:avLst/>
          </a:prstGeom>
          <a:ln w="6350">
            <a:solidFill>
              <a:srgbClr val="D9DFE6"/>
            </a:solidFill>
            <a:prstDash val="dash"/>
            <a:round/>
          </a:ln>
        </p:spPr>
      </p:cxnSp>
      <p:sp>
        <p:nvSpPr>
          <p:cNvPr id="175" name="TextBox 115"/>
          <p:cNvSpPr/>
          <p:nvPr/>
        </p:nvSpPr>
        <p:spPr>
          <a:xfrm>
            <a:off x="45720" y="4413960"/>
            <a:ext cx="1325520" cy="56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ctr">
            <a:spAutoFit/>
          </a:bodyPr>
          <a:p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B2B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Statistics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&amp; SLA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6" name="Picture 116" descr="dashboard-comparison.png"/>
          <p:cNvPicPr/>
          <p:nvPr/>
        </p:nvPicPr>
        <p:blipFill>
          <a:blip r:embed="rId35"/>
          <a:stretch/>
        </p:blipFill>
        <p:spPr>
          <a:xfrm>
            <a:off x="2041560" y="443232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TextBox 117"/>
          <p:cNvSpPr/>
          <p:nvPr/>
        </p:nvSpPr>
        <p:spPr>
          <a:xfrm>
            <a:off x="1444680" y="4728960"/>
            <a:ext cx="145368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Volume by operation type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(Delivery / AR / Tender / Submission) (§15)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8" name="Picture 118" descr="dashboard-comparison.png"/>
          <p:cNvPicPr/>
          <p:nvPr/>
        </p:nvPicPr>
        <p:blipFill>
          <a:blip r:embed="rId36"/>
          <a:stretch/>
        </p:blipFill>
        <p:spPr>
          <a:xfrm>
            <a:off x="3550320" y="443232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TextBox 119"/>
          <p:cNvSpPr/>
          <p:nvPr/>
        </p:nvSpPr>
        <p:spPr>
          <a:xfrm>
            <a:off x="2953440" y="4728960"/>
            <a:ext cx="145368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On-time rate (§15)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Right Arrow 120"/>
          <p:cNvSpPr/>
          <p:nvPr/>
        </p:nvSpPr>
        <p:spPr>
          <a:xfrm>
            <a:off x="2347560" y="4489200"/>
            <a:ext cx="118404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81" name="Picture 121" descr="dashboard-comparison.png"/>
          <p:cNvPicPr/>
          <p:nvPr/>
        </p:nvPicPr>
        <p:blipFill>
          <a:blip r:embed="rId37"/>
          <a:stretch/>
        </p:blipFill>
        <p:spPr>
          <a:xfrm>
            <a:off x="5059080" y="443232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" name="TextBox 122"/>
          <p:cNvSpPr/>
          <p:nvPr/>
        </p:nvSpPr>
        <p:spPr>
          <a:xfrm>
            <a:off x="4462200" y="4728960"/>
            <a:ext cx="145368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AR return turnaround (§15)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ight Arrow 123"/>
          <p:cNvSpPr/>
          <p:nvPr/>
        </p:nvSpPr>
        <p:spPr>
          <a:xfrm>
            <a:off x="3856320" y="4489200"/>
            <a:ext cx="118404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84" name="Picture 124" descr="alerts-warning.png"/>
          <p:cNvPicPr/>
          <p:nvPr/>
        </p:nvPicPr>
        <p:blipFill>
          <a:blip r:embed="rId38"/>
          <a:stretch/>
        </p:blipFill>
        <p:spPr>
          <a:xfrm>
            <a:off x="6567840" y="443232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TextBox 125"/>
          <p:cNvSpPr/>
          <p:nvPr/>
        </p:nvSpPr>
        <p:spPr>
          <a:xfrm>
            <a:off x="5970960" y="4728960"/>
            <a:ext cx="145368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Submission compliance (§15)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Right Arrow 126"/>
          <p:cNvSpPr/>
          <p:nvPr/>
        </p:nvSpPr>
        <p:spPr>
          <a:xfrm>
            <a:off x="5365080" y="4489200"/>
            <a:ext cx="118404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87" name="Picture 127" descr="verify-clipboard.png"/>
          <p:cNvPicPr/>
          <p:nvPr/>
        </p:nvPicPr>
        <p:blipFill>
          <a:blip r:embed="rId39"/>
          <a:stretch/>
        </p:blipFill>
        <p:spPr>
          <a:xfrm>
            <a:off x="8076600" y="443232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" name="TextBox 128"/>
          <p:cNvSpPr/>
          <p:nvPr/>
        </p:nvSpPr>
        <p:spPr>
          <a:xfrm>
            <a:off x="7479720" y="4728960"/>
            <a:ext cx="145368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Filters: B2B / HV / station /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CTR / courier / shipper (§15)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Right Arrow 129"/>
          <p:cNvSpPr/>
          <p:nvPr/>
        </p:nvSpPr>
        <p:spPr>
          <a:xfrm>
            <a:off x="6873840" y="4489200"/>
            <a:ext cx="118404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Box 1"/>
          <p:cNvSpPr/>
          <p:nvPr/>
        </p:nvSpPr>
        <p:spPr>
          <a:xfrm>
            <a:off x="320040" y="182880"/>
            <a:ext cx="73605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Process Mapping &amp; Capability Enhancement with Shipsy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Right Arrow 2"/>
          <p:cNvSpPr/>
          <p:nvPr/>
        </p:nvSpPr>
        <p:spPr>
          <a:xfrm>
            <a:off x="7818120" y="255960"/>
            <a:ext cx="273960" cy="25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Box 3"/>
          <p:cNvSpPr/>
          <p:nvPr/>
        </p:nvSpPr>
        <p:spPr>
          <a:xfrm>
            <a:off x="8138160" y="237600"/>
            <a:ext cx="959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Shipsy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Rectangle 4"/>
          <p:cNvSpPr/>
          <p:nvPr/>
        </p:nvSpPr>
        <p:spPr>
          <a:xfrm>
            <a:off x="320040" y="640080"/>
            <a:ext cx="8503560" cy="1800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Rectangle 5"/>
          <p:cNvSpPr/>
          <p:nvPr/>
        </p:nvSpPr>
        <p:spPr>
          <a:xfrm>
            <a:off x="274320" y="804600"/>
            <a:ext cx="1416960" cy="383760"/>
          </a:xfrm>
          <a:prstGeom prst="rect">
            <a:avLst/>
          </a:prstGeom>
          <a:solidFill>
            <a:srgbClr val="2A2A2A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TextBox 6"/>
          <p:cNvSpPr/>
          <p:nvPr/>
        </p:nvSpPr>
        <p:spPr>
          <a:xfrm>
            <a:off x="274320" y="804600"/>
            <a:ext cx="1416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Business Process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Rectangle 7"/>
          <p:cNvSpPr/>
          <p:nvPr/>
        </p:nvSpPr>
        <p:spPr>
          <a:xfrm>
            <a:off x="1691640" y="804600"/>
            <a:ext cx="2392200" cy="383760"/>
          </a:xfrm>
          <a:prstGeom prst="rect">
            <a:avLst/>
          </a:prstGeom>
          <a:solidFill>
            <a:srgbClr val="A93729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TextBox 8"/>
          <p:cNvSpPr/>
          <p:nvPr/>
        </p:nvSpPr>
        <p:spPr>
          <a:xfrm>
            <a:off x="1691640" y="804600"/>
            <a:ext cx="2392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As Is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Rectangle 9"/>
          <p:cNvSpPr/>
          <p:nvPr/>
        </p:nvSpPr>
        <p:spPr>
          <a:xfrm>
            <a:off x="4084200" y="804600"/>
            <a:ext cx="2392200" cy="383760"/>
          </a:xfrm>
          <a:prstGeom prst="rect">
            <a:avLst/>
          </a:prstGeom>
          <a:solidFill>
            <a:srgbClr val="2C496A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TextBox 10"/>
          <p:cNvSpPr/>
          <p:nvPr/>
        </p:nvSpPr>
        <p:spPr>
          <a:xfrm>
            <a:off x="4084200" y="804600"/>
            <a:ext cx="2392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To-Be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Rectangle 11"/>
          <p:cNvSpPr/>
          <p:nvPr/>
        </p:nvSpPr>
        <p:spPr>
          <a:xfrm>
            <a:off x="6477120" y="804600"/>
            <a:ext cx="2392200" cy="383760"/>
          </a:xfrm>
          <a:prstGeom prst="rect">
            <a:avLst/>
          </a:prstGeom>
          <a:solidFill>
            <a:srgbClr val="599C38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TextBox 12"/>
          <p:cNvSpPr/>
          <p:nvPr/>
        </p:nvSpPr>
        <p:spPr>
          <a:xfrm>
            <a:off x="6477120" y="804600"/>
            <a:ext cx="2392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Impact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Rectangle 13"/>
          <p:cNvSpPr/>
          <p:nvPr/>
        </p:nvSpPr>
        <p:spPr>
          <a:xfrm>
            <a:off x="274320" y="1188720"/>
            <a:ext cx="1416960" cy="53856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TextBox 14"/>
          <p:cNvSpPr/>
          <p:nvPr/>
        </p:nvSpPr>
        <p:spPr>
          <a:xfrm>
            <a:off x="274320" y="1188720"/>
            <a:ext cx="141696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B2B Account &amp; Permission Setup (§6, §8)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Rectangle 15"/>
          <p:cNvSpPr/>
          <p:nvPr/>
        </p:nvSpPr>
        <p:spPr>
          <a:xfrm>
            <a:off x="1691640" y="1188720"/>
            <a:ext cx="2392200" cy="5385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Box 16"/>
          <p:cNvSpPr/>
          <p:nvPr/>
        </p:nvSpPr>
        <p:spPr>
          <a:xfrm>
            <a:off x="1691640" y="1188720"/>
            <a:ext cx="23922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Current Ecotrack-based SaaS — Admin / Station / CTR / Stock accesses observed (§3)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Permission distribution by role exists but is not granular by action / data (§6)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B2B account type is not explicitly called out in current observed menus (§3)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Rectangle 17"/>
          <p:cNvSpPr/>
          <p:nvPr/>
        </p:nvSpPr>
        <p:spPr>
          <a:xfrm>
            <a:off x="4084200" y="1188720"/>
            <a:ext cx="2392200" cy="5385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18"/>
          <p:cNvSpPr/>
          <p:nvPr/>
        </p:nvSpPr>
        <p:spPr>
          <a:xfrm>
            <a:off x="4084200" y="1188720"/>
            <a:ext cx="23922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Granular permissions including: see B2B, create B2B account, activate high-value access (§6)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Dedicated B2B tag and dedicated access (§8)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Account-type-aware tariffs and statistics (§8)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Rectangle 19"/>
          <p:cNvSpPr/>
          <p:nvPr/>
        </p:nvSpPr>
        <p:spPr>
          <a:xfrm>
            <a:off x="6477120" y="1188720"/>
            <a:ext cx="2392200" cy="5385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TextBox 20"/>
          <p:cNvSpPr/>
          <p:nvPr/>
        </p:nvSpPr>
        <p:spPr>
          <a:xfrm>
            <a:off x="6477120" y="1188720"/>
            <a:ext cx="23922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Permissions distributed by role and activatable / deactivatable by admin (§6)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Each shipper account exposes badges / filters in admin, station, CTR, statistics, search (§8)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Each parcel carries its account type / service-access identifiers (§8)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Rectangle 21"/>
          <p:cNvSpPr/>
          <p:nvPr/>
        </p:nvSpPr>
        <p:spPr>
          <a:xfrm>
            <a:off x="274320" y="1727640"/>
            <a:ext cx="1416960" cy="53856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22"/>
          <p:cNvSpPr/>
          <p:nvPr/>
        </p:nvSpPr>
        <p:spPr>
          <a:xfrm>
            <a:off x="274320" y="1727640"/>
            <a:ext cx="141696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B2B Shipment Creation &amp; Linked Tracking (§9, §14.3)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Rectangle 23"/>
          <p:cNvSpPr/>
          <p:nvPr/>
        </p:nvSpPr>
        <p:spPr>
          <a:xfrm>
            <a:off x="1691640" y="1727640"/>
            <a:ext cx="2392200" cy="53856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TextBox 24"/>
          <p:cNvSpPr/>
          <p:nvPr/>
        </p:nvSpPr>
        <p:spPr>
          <a:xfrm>
            <a:off x="1691640" y="1727640"/>
            <a:ext cx="23922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Shipment creation observed in current SaaS via shipper portal / admin / station (§9)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Linked-tracking handling for AR / tender-file reverse flow not formalized in observed screens (§9.2)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Rectangle 25"/>
          <p:cNvSpPr/>
          <p:nvPr/>
        </p:nvSpPr>
        <p:spPr>
          <a:xfrm>
            <a:off x="4084200" y="1727640"/>
            <a:ext cx="2392200" cy="53856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TextBox 26"/>
          <p:cNvSpPr/>
          <p:nvPr/>
        </p:nvSpPr>
        <p:spPr>
          <a:xfrm>
            <a:off x="4084200" y="1727640"/>
            <a:ext cx="23922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Tracking numbers system-generated and unique; linked operations (exchange, AR return, B2B tender-file reverse) keep referential links (§9.2)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Creation workflow dynamically shows / hides fields per account type, delivery type, operation type (§9.2)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Tariff preview displayed before confirmation (§9.2)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Rectangle 27"/>
          <p:cNvSpPr/>
          <p:nvPr/>
        </p:nvSpPr>
        <p:spPr>
          <a:xfrm>
            <a:off x="6477120" y="1727640"/>
            <a:ext cx="2392200" cy="53856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7" name="TextBox 28"/>
          <p:cNvSpPr/>
          <p:nvPr/>
        </p:nvSpPr>
        <p:spPr>
          <a:xfrm>
            <a:off x="6477120" y="1727640"/>
            <a:ext cx="23922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Linked-tracking pairs (outbound + AR / tender reverse) created in-system, not off-system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B2B-aware tariff visible at creation (§10)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Submission deadline misses caught at order creation, not after (§14.3)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Rectangle 29"/>
          <p:cNvSpPr/>
          <p:nvPr/>
        </p:nvSpPr>
        <p:spPr>
          <a:xfrm>
            <a:off x="274320" y="2266560"/>
            <a:ext cx="1416960" cy="53856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TextBox 30"/>
          <p:cNvSpPr/>
          <p:nvPr/>
        </p:nvSpPr>
        <p:spPr>
          <a:xfrm>
            <a:off x="274320" y="2266560"/>
            <a:ext cx="141696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Pickup, Intake &amp; B2B Identifier (§3, §11, §13)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Rectangle 31"/>
          <p:cNvSpPr/>
          <p:nvPr/>
        </p:nvSpPr>
        <p:spPr>
          <a:xfrm>
            <a:off x="1691640" y="2266560"/>
            <a:ext cx="2392200" cy="5385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Box 32"/>
          <p:cNvSpPr/>
          <p:nvPr/>
        </p:nvSpPr>
        <p:spPr>
          <a:xfrm>
            <a:off x="1691640" y="2266560"/>
            <a:ext cx="23922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Pickup, scan and reception present in observed Station / CTR menus (§3)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B2B-specific visual identifier on labels / bordereaux not confirmed in current screens (§11 implies it must be added)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Rectangle 33"/>
          <p:cNvSpPr/>
          <p:nvPr/>
        </p:nvSpPr>
        <p:spPr>
          <a:xfrm>
            <a:off x="4084200" y="2266560"/>
            <a:ext cx="2392200" cy="5385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TextBox 34"/>
          <p:cNvSpPr/>
          <p:nvPr/>
        </p:nvSpPr>
        <p:spPr>
          <a:xfrm>
            <a:off x="4084200" y="2266560"/>
            <a:ext cx="23922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Bordereau contains specific identification for special flows (Corporate / B2B, Particular) (§11)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Corporate / B2B shipments display dedicated visual identifier on labels and bordereaux (§11)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Mobile apps show B2B parcels in dedicated section or always with a strong identifier (§13)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Rectangle 35"/>
          <p:cNvSpPr/>
          <p:nvPr/>
        </p:nvSpPr>
        <p:spPr>
          <a:xfrm>
            <a:off x="6477120" y="2266560"/>
            <a:ext cx="2392200" cy="5385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TextBox 36"/>
          <p:cNvSpPr/>
          <p:nvPr/>
        </p:nvSpPr>
        <p:spPr>
          <a:xfrm>
            <a:off x="6477120" y="2266560"/>
            <a:ext cx="23922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Field actors recognize B2B parcels at every scan and handover (§13)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Audit trail visibly distinguishes B2B from standard flows (§8, §11)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Every printed B2B document reproducible from history screens (§11)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Rectangle 37"/>
          <p:cNvSpPr/>
          <p:nvPr/>
        </p:nvSpPr>
        <p:spPr>
          <a:xfrm>
            <a:off x="274320" y="2805120"/>
            <a:ext cx="1416960" cy="53856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Box 38"/>
          <p:cNvSpPr/>
          <p:nvPr/>
        </p:nvSpPr>
        <p:spPr>
          <a:xfrm>
            <a:off x="274320" y="2805120"/>
            <a:ext cx="141696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CTR Transit, Sortation &amp; Sack / Decharge (§5, §11, §12.3)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Rectangle 39"/>
          <p:cNvSpPr/>
          <p:nvPr/>
        </p:nvSpPr>
        <p:spPr>
          <a:xfrm>
            <a:off x="1691640" y="2805120"/>
            <a:ext cx="2392200" cy="53856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TextBox 40"/>
          <p:cNvSpPr/>
          <p:nvPr/>
        </p:nvSpPr>
        <p:spPr>
          <a:xfrm>
            <a:off x="1691640" y="2805120"/>
            <a:ext cx="23922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CTR menus observed: parcel management, returns, parcels to validate / dispatch / in transit, sacks in transit (§3, §12.3)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Sortation done via CTR access; sack / decharge handling already core mechanic (§3, §11)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Rectangle 41"/>
          <p:cNvSpPr/>
          <p:nvPr/>
        </p:nvSpPr>
        <p:spPr>
          <a:xfrm>
            <a:off x="4084200" y="2805120"/>
            <a:ext cx="2392200" cy="53856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TextBox 42"/>
          <p:cNvSpPr/>
          <p:nvPr/>
        </p:nvSpPr>
        <p:spPr>
          <a:xfrm>
            <a:off x="4084200" y="2805120"/>
            <a:ext cx="23922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CTR validates incoming sacks / parcels and sorts by destination (§12.3)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Prepare outgoing sacks / decharges; manage transit exceptions; maintain scan history (§12.3)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CTR can dispatch normal parcels and return flows to stations or other CTRs (§12.3)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Rectangle 43"/>
          <p:cNvSpPr/>
          <p:nvPr/>
        </p:nvSpPr>
        <p:spPr>
          <a:xfrm>
            <a:off x="6477120" y="2805120"/>
            <a:ext cx="2392200" cy="53856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3" name="TextBox 44"/>
          <p:cNvSpPr/>
          <p:nvPr/>
        </p:nvSpPr>
        <p:spPr>
          <a:xfrm>
            <a:off x="6477120" y="2805120"/>
            <a:ext cx="23922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Pending sacks and aging parcels surfaced in CTR dashboards (§12.3)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Scan-controlled and reversible-only-by-authorized-workflow transfers (§2)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Every transition timestamped and attributable to user / role / node (§2, §5)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Rectangle 45"/>
          <p:cNvSpPr/>
          <p:nvPr/>
        </p:nvSpPr>
        <p:spPr>
          <a:xfrm>
            <a:off x="274320" y="3344040"/>
            <a:ext cx="1416960" cy="53856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5" name="TextBox 46"/>
          <p:cNvSpPr/>
          <p:nvPr/>
        </p:nvSpPr>
        <p:spPr>
          <a:xfrm>
            <a:off x="274320" y="3344040"/>
            <a:ext cx="141696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Last Mile — Delivery, AR, Tender, Submission (§13, §14.3)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Rectangle 47"/>
          <p:cNvSpPr/>
          <p:nvPr/>
        </p:nvSpPr>
        <p:spPr>
          <a:xfrm>
            <a:off x="1691640" y="3344040"/>
            <a:ext cx="2392200" cy="5385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7" name="TextBox 48"/>
          <p:cNvSpPr/>
          <p:nvPr/>
        </p:nvSpPr>
        <p:spPr>
          <a:xfrm>
            <a:off x="1691640" y="3344040"/>
            <a:ext cx="23922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Last-mile courier flow present in current SaaS (§3)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B2B operation types (AR / tender / submission) handled informally; system support for them is the explicit ask (§14.3)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Rectangle 49"/>
          <p:cNvSpPr/>
          <p:nvPr/>
        </p:nvSpPr>
        <p:spPr>
          <a:xfrm>
            <a:off x="4084200" y="3344040"/>
            <a:ext cx="2392200" cy="5385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TextBox 50"/>
          <p:cNvSpPr/>
          <p:nvPr/>
        </p:nvSpPr>
        <p:spPr>
          <a:xfrm>
            <a:off x="4084200" y="3344040"/>
            <a:ext cx="23922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Courier app shows B2B in dedicated section or with strong identifier; supports COD collection, signature / photo / OTP (§13)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Per-courier dedicated B2B remuneration with default fallback (§10)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AR flow uses two linked trackings; on outbound delivery, AR auto-enters reverse-flow lifecycle (§14.3)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Rectangle 51"/>
          <p:cNvSpPr/>
          <p:nvPr/>
        </p:nvSpPr>
        <p:spPr>
          <a:xfrm>
            <a:off x="6477120" y="3344040"/>
            <a:ext cx="2392200" cy="5385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1" name="TextBox 52"/>
          <p:cNvSpPr/>
          <p:nvPr/>
        </p:nvSpPr>
        <p:spPr>
          <a:xfrm>
            <a:off x="6477120" y="3344040"/>
            <a:ext cx="23922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AR / tender / submission tracked end-to-end in the same status engine (§5, §14.3)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Couriers paid per B2B contract with fallback for unconfigured couriers (§10)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Mobile actions create server-side audit log after sync (§13)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Rectangle 53"/>
          <p:cNvSpPr/>
          <p:nvPr/>
        </p:nvSpPr>
        <p:spPr>
          <a:xfrm>
            <a:off x="274320" y="3882960"/>
            <a:ext cx="1416960" cy="53856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TextBox 54"/>
          <p:cNvSpPr/>
          <p:nvPr/>
        </p:nvSpPr>
        <p:spPr>
          <a:xfrm>
            <a:off x="274320" y="3882960"/>
            <a:ext cx="141696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B2B Finance, Tariffs &amp; Reimbursement (§10, §14.5)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Rectangle 55"/>
          <p:cNvSpPr/>
          <p:nvPr/>
        </p:nvSpPr>
        <p:spPr>
          <a:xfrm>
            <a:off x="1691640" y="3882960"/>
            <a:ext cx="2392200" cy="53856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TextBox 56"/>
          <p:cNvSpPr/>
          <p:nvPr/>
        </p:nvSpPr>
        <p:spPr>
          <a:xfrm>
            <a:off x="1691640" y="3882960"/>
            <a:ext cx="23922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Finance / payment screens for shipper payments and station cash exist in observed SaaS (§3)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Reimbursement currently risks being external-spreadsheet workflow (§14.5 says it must NOT be)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Rectangle 57"/>
          <p:cNvSpPr/>
          <p:nvPr/>
        </p:nvSpPr>
        <p:spPr>
          <a:xfrm>
            <a:off x="4084200" y="3882960"/>
            <a:ext cx="2392200" cy="53856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7" name="TextBox 58"/>
          <p:cNvSpPr/>
          <p:nvPr/>
        </p:nvSpPr>
        <p:spPr>
          <a:xfrm>
            <a:off x="4084200" y="3882960"/>
            <a:ext cx="23922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B2B tariff engine: defined by station and geography; auto-applied when shipper is B2B and address is in B2B rule scope (§10)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Per-courier B2B remuneration with default fallback (§10)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High-value surcharge auto-applied only when HV access is used and value &gt; standard limit (§10)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Rectangle 59"/>
          <p:cNvSpPr/>
          <p:nvPr/>
        </p:nvSpPr>
        <p:spPr>
          <a:xfrm>
            <a:off x="6477120" y="3882960"/>
            <a:ext cx="2392200" cy="53856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9" name="TextBox 60"/>
          <p:cNvSpPr/>
          <p:nvPr/>
        </p:nvSpPr>
        <p:spPr>
          <a:xfrm>
            <a:off x="6477120" y="3882960"/>
            <a:ext cx="23922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Customer pricing distinguished from internal courier remuneration (§10)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COD / collection traceable from parcel → courier → station → finance → shipper payment (§10)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Reimbursement supports approval, rejection, partial reimbursement, payment, history (§14.5)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Rectangle 61"/>
          <p:cNvSpPr/>
          <p:nvPr/>
        </p:nvSpPr>
        <p:spPr>
          <a:xfrm>
            <a:off x="274320" y="4421880"/>
            <a:ext cx="1416960" cy="53856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1" name="TextBox 62"/>
          <p:cNvSpPr/>
          <p:nvPr/>
        </p:nvSpPr>
        <p:spPr>
          <a:xfrm>
            <a:off x="274320" y="4421880"/>
            <a:ext cx="141696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B2B SLA, Statistics &amp; Search / Trace (§15, §17)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Rectangle 63"/>
          <p:cNvSpPr/>
          <p:nvPr/>
        </p:nvSpPr>
        <p:spPr>
          <a:xfrm>
            <a:off x="1691640" y="4421880"/>
            <a:ext cx="2392200" cy="5385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3" name="TextBox 64"/>
          <p:cNvSpPr/>
          <p:nvPr/>
        </p:nvSpPr>
        <p:spPr>
          <a:xfrm>
            <a:off x="1691640" y="4421880"/>
            <a:ext cx="23922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Current SaaS displays operational counts and timeline events (§15)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Statistics not formalized as B2B SLA framework in current observed screens (§15)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Rectangle 65"/>
          <p:cNvSpPr/>
          <p:nvPr/>
        </p:nvSpPr>
        <p:spPr>
          <a:xfrm>
            <a:off x="4084200" y="4421880"/>
            <a:ext cx="2392200" cy="5385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5" name="TextBox 66"/>
          <p:cNvSpPr/>
          <p:nvPr/>
        </p:nvSpPr>
        <p:spPr>
          <a:xfrm>
            <a:off x="4084200" y="4421880"/>
            <a:ext cx="23922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Corporate / B2B performance: volume by operation type, on-time rate, AR return turnaround, submission compliance (§15)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All statistics filterable by account type, B2B, particular, HV, service mode, operation type, station, CTR, courier, shipper, date range (§15)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Global search by tracking, sack id, payment ref, reimbursement ref, shipper, consignee, phone, courier, station, CTR, bordereau, route sheet (§17)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Rectangle 67"/>
          <p:cNvSpPr/>
          <p:nvPr/>
        </p:nvSpPr>
        <p:spPr>
          <a:xfrm>
            <a:off x="6477120" y="4421880"/>
            <a:ext cx="2392200" cy="5385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TextBox 68"/>
          <p:cNvSpPr/>
          <p:nvPr/>
        </p:nvSpPr>
        <p:spPr>
          <a:xfrm>
            <a:off x="6477120" y="4421880"/>
            <a:ext cx="23922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Admin can define delays / SLA limits by operation, account type, station or network segment (§15)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Delay breaches shown at parcel level and in aggregate dashboards (§15)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User-facing shipment history timeline with human-readable event labels (§17)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Rectangle 1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9" name="TextBox 2"/>
          <p:cNvSpPr/>
          <p:nvPr/>
        </p:nvSpPr>
        <p:spPr>
          <a:xfrm>
            <a:off x="365760" y="137160"/>
            <a:ext cx="8412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AI Use Cases · AgentFleet for Anderson Logistics — B2B / Corporate Flow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3"/>
          <p:cNvSpPr/>
          <p:nvPr/>
        </p:nvSpPr>
        <p:spPr>
          <a:xfrm>
            <a:off x="365760" y="530280"/>
            <a:ext cx="8412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Shipsy AI capabilities mapped to your specific operational scenarios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Rounded Rectangle 4"/>
          <p:cNvSpPr/>
          <p:nvPr/>
        </p:nvSpPr>
        <p:spPr>
          <a:xfrm>
            <a:off x="365760" y="1078920"/>
            <a:ext cx="2620800" cy="1689120"/>
          </a:xfrm>
          <a:prstGeom prst="roundRect">
            <a:avLst>
              <a:gd name="adj" fmla="val 16667"/>
            </a:avLst>
          </a:prstGeom>
          <a:solidFill>
            <a:srgbClr val="F6F8FB"/>
          </a:solidFill>
          <a:ln>
            <a:solidFill>
              <a:srgbClr val="D0DAE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2" name="Rectangle 5"/>
          <p:cNvSpPr/>
          <p:nvPr/>
        </p:nvSpPr>
        <p:spPr>
          <a:xfrm>
            <a:off x="365760" y="1078920"/>
            <a:ext cx="2620800" cy="9108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3" name="Rounded Rectangle 6"/>
          <p:cNvSpPr/>
          <p:nvPr/>
        </p:nvSpPr>
        <p:spPr>
          <a:xfrm>
            <a:off x="2109240" y="1261800"/>
            <a:ext cx="712800" cy="237240"/>
          </a:xfrm>
          <a:prstGeom prst="roundRect">
            <a:avLst>
              <a:gd name="adj" fmla="val 16667"/>
            </a:avLst>
          </a:prstGeom>
          <a:solidFill>
            <a:srgbClr val="599C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18360" rIns="36720" bIns="18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Now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7"/>
          <p:cNvSpPr/>
          <p:nvPr/>
        </p:nvSpPr>
        <p:spPr>
          <a:xfrm>
            <a:off x="530280" y="1261800"/>
            <a:ext cx="1487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Linked-Tracking Engine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8"/>
          <p:cNvSpPr/>
          <p:nvPr/>
        </p:nvSpPr>
        <p:spPr>
          <a:xfrm>
            <a:off x="530280" y="1581840"/>
            <a:ext cx="2291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AR + Tender Reverse Flow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Rectangle 9"/>
          <p:cNvSpPr/>
          <p:nvPr/>
        </p:nvSpPr>
        <p:spPr>
          <a:xfrm>
            <a:off x="530280" y="1828800"/>
            <a:ext cx="2291760" cy="13320"/>
          </a:xfrm>
          <a:prstGeom prst="rect">
            <a:avLst/>
          </a:prstGeom>
          <a:solidFill>
            <a:srgbClr val="D9D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7" name="TextBox 10"/>
          <p:cNvSpPr/>
          <p:nvPr/>
        </p:nvSpPr>
        <p:spPr>
          <a:xfrm>
            <a:off x="530280" y="1901880"/>
            <a:ext cx="2291760" cy="75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On delivery of the outbound parcel, the acknowledgment-receipt tracking automatically enters the reverse-flow lifecycle and follows return-like routing logic. Tender-file withdrawal uses the same linked outbound / inbound logical handling for business documents and money transport. (§9.2, §14.3)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Rounded Rectangle 11"/>
          <p:cNvSpPr/>
          <p:nvPr/>
        </p:nvSpPr>
        <p:spPr>
          <a:xfrm>
            <a:off x="3261240" y="1078920"/>
            <a:ext cx="2620800" cy="1689120"/>
          </a:xfrm>
          <a:prstGeom prst="roundRect">
            <a:avLst>
              <a:gd name="adj" fmla="val 16667"/>
            </a:avLst>
          </a:prstGeom>
          <a:solidFill>
            <a:srgbClr val="F6F8FB"/>
          </a:solidFill>
          <a:ln>
            <a:solidFill>
              <a:srgbClr val="D0DAE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9" name="Rectangle 12"/>
          <p:cNvSpPr/>
          <p:nvPr/>
        </p:nvSpPr>
        <p:spPr>
          <a:xfrm>
            <a:off x="3261240" y="1078920"/>
            <a:ext cx="2620800" cy="9108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0" name="Rounded Rectangle 13"/>
          <p:cNvSpPr/>
          <p:nvPr/>
        </p:nvSpPr>
        <p:spPr>
          <a:xfrm>
            <a:off x="5004720" y="1261800"/>
            <a:ext cx="712800" cy="237240"/>
          </a:xfrm>
          <a:prstGeom prst="roundRect">
            <a:avLst>
              <a:gd name="adj" fmla="val 16667"/>
            </a:avLst>
          </a:prstGeom>
          <a:solidFill>
            <a:srgbClr val="599C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18360" rIns="36720" bIns="18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Now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Box 14"/>
          <p:cNvSpPr/>
          <p:nvPr/>
        </p:nvSpPr>
        <p:spPr>
          <a:xfrm>
            <a:off x="3426120" y="1261800"/>
            <a:ext cx="1487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Submission Feasibility Check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15"/>
          <p:cNvSpPr/>
          <p:nvPr/>
        </p:nvSpPr>
        <p:spPr>
          <a:xfrm>
            <a:off x="3426120" y="1581840"/>
            <a:ext cx="2291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Deadline vs Transport SLA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Rectangle 16"/>
          <p:cNvSpPr/>
          <p:nvPr/>
        </p:nvSpPr>
        <p:spPr>
          <a:xfrm>
            <a:off x="3426120" y="1828800"/>
            <a:ext cx="2291760" cy="13320"/>
          </a:xfrm>
          <a:prstGeom prst="rect">
            <a:avLst/>
          </a:prstGeom>
          <a:solidFill>
            <a:srgbClr val="D9D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4" name="TextBox 17"/>
          <p:cNvSpPr/>
          <p:nvPr/>
        </p:nvSpPr>
        <p:spPr>
          <a:xfrm>
            <a:off x="3426120" y="1901880"/>
            <a:ext cx="2291760" cy="75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B2B submission flow forces capture of the final delivery deadline and exposes an operational feasibility check against transport delays; if not feasible, the system warns the operator. (§9.2, §14.3)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Rounded Rectangle 18"/>
          <p:cNvSpPr/>
          <p:nvPr/>
        </p:nvSpPr>
        <p:spPr>
          <a:xfrm>
            <a:off x="6157080" y="1078920"/>
            <a:ext cx="2620800" cy="1689120"/>
          </a:xfrm>
          <a:prstGeom prst="roundRect">
            <a:avLst>
              <a:gd name="adj" fmla="val 16667"/>
            </a:avLst>
          </a:prstGeom>
          <a:solidFill>
            <a:srgbClr val="F6F8FB"/>
          </a:solidFill>
          <a:ln>
            <a:solidFill>
              <a:srgbClr val="D0DAE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6" name="Rectangle 19"/>
          <p:cNvSpPr/>
          <p:nvPr/>
        </p:nvSpPr>
        <p:spPr>
          <a:xfrm>
            <a:off x="6157080" y="1078920"/>
            <a:ext cx="2620800" cy="9108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7" name="Rounded Rectangle 20"/>
          <p:cNvSpPr/>
          <p:nvPr/>
        </p:nvSpPr>
        <p:spPr>
          <a:xfrm>
            <a:off x="7900560" y="1261800"/>
            <a:ext cx="712800" cy="237240"/>
          </a:xfrm>
          <a:prstGeom prst="roundRect">
            <a:avLst>
              <a:gd name="adj" fmla="val 16667"/>
            </a:avLst>
          </a:prstGeom>
          <a:solidFill>
            <a:srgbClr val="599C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18360" rIns="36720" bIns="18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Now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21"/>
          <p:cNvSpPr/>
          <p:nvPr/>
        </p:nvSpPr>
        <p:spPr>
          <a:xfrm>
            <a:off x="6321600" y="1261800"/>
            <a:ext cx="1487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B2B Tariff Engine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22"/>
          <p:cNvSpPr/>
          <p:nvPr/>
        </p:nvSpPr>
        <p:spPr>
          <a:xfrm>
            <a:off x="6321600" y="1581840"/>
            <a:ext cx="2291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Station × Geography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Rectangle 23"/>
          <p:cNvSpPr/>
          <p:nvPr/>
        </p:nvSpPr>
        <p:spPr>
          <a:xfrm>
            <a:off x="6321600" y="1828800"/>
            <a:ext cx="2291760" cy="13320"/>
          </a:xfrm>
          <a:prstGeom prst="rect">
            <a:avLst/>
          </a:prstGeom>
          <a:solidFill>
            <a:srgbClr val="D9D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1" name="TextBox 24"/>
          <p:cNvSpPr/>
          <p:nvPr/>
        </p:nvSpPr>
        <p:spPr>
          <a:xfrm>
            <a:off x="6321600" y="1901880"/>
            <a:ext cx="2291760" cy="75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Corporate / B2B tariffs defined by station and geography, automatically applied when shipper account type is B2B and address is within the B2B rule scope. Tariff preview shown before confirmation. (§9.2, §10)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Rounded Rectangle 25"/>
          <p:cNvSpPr/>
          <p:nvPr/>
        </p:nvSpPr>
        <p:spPr>
          <a:xfrm>
            <a:off x="365760" y="2997000"/>
            <a:ext cx="2620800" cy="1689120"/>
          </a:xfrm>
          <a:prstGeom prst="roundRect">
            <a:avLst>
              <a:gd name="adj" fmla="val 16667"/>
            </a:avLst>
          </a:prstGeom>
          <a:solidFill>
            <a:srgbClr val="F6F8FB"/>
          </a:solidFill>
          <a:ln>
            <a:solidFill>
              <a:srgbClr val="D0DAE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3" name="Rectangle 26"/>
          <p:cNvSpPr/>
          <p:nvPr/>
        </p:nvSpPr>
        <p:spPr>
          <a:xfrm>
            <a:off x="365760" y="2997000"/>
            <a:ext cx="2620800" cy="9108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4" name="Rounded Rectangle 27"/>
          <p:cNvSpPr/>
          <p:nvPr/>
        </p:nvSpPr>
        <p:spPr>
          <a:xfrm>
            <a:off x="2109240" y="3179880"/>
            <a:ext cx="712800" cy="237240"/>
          </a:xfrm>
          <a:prstGeom prst="roundRect">
            <a:avLst>
              <a:gd name="adj" fmla="val 16667"/>
            </a:avLst>
          </a:prstGeom>
          <a:solidFill>
            <a:srgbClr val="599C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18360" rIns="36720" bIns="18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Now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28"/>
          <p:cNvSpPr/>
          <p:nvPr/>
        </p:nvSpPr>
        <p:spPr>
          <a:xfrm>
            <a:off x="530280" y="3179880"/>
            <a:ext cx="1487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B2B Courier Remuneration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Box 29"/>
          <p:cNvSpPr/>
          <p:nvPr/>
        </p:nvSpPr>
        <p:spPr>
          <a:xfrm>
            <a:off x="530280" y="3499920"/>
            <a:ext cx="2291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Per-Courier + Default Fallback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Rectangle 30"/>
          <p:cNvSpPr/>
          <p:nvPr/>
        </p:nvSpPr>
        <p:spPr>
          <a:xfrm>
            <a:off x="530280" y="3746880"/>
            <a:ext cx="2291760" cy="13320"/>
          </a:xfrm>
          <a:prstGeom prst="rect">
            <a:avLst/>
          </a:prstGeom>
          <a:solidFill>
            <a:srgbClr val="D9D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8" name="TextBox 31"/>
          <p:cNvSpPr/>
          <p:nvPr/>
        </p:nvSpPr>
        <p:spPr>
          <a:xfrm>
            <a:off x="530280" y="3819960"/>
            <a:ext cx="2291760" cy="75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Per-courier dedicated tariff for B2B parcels, with a default fallback tariff applied to couriers without a specific setup. Internal remuneration distinguished from customer pricing. (§10)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Rounded Rectangle 32"/>
          <p:cNvSpPr/>
          <p:nvPr/>
        </p:nvSpPr>
        <p:spPr>
          <a:xfrm>
            <a:off x="3261240" y="2997000"/>
            <a:ext cx="2620800" cy="1689120"/>
          </a:xfrm>
          <a:prstGeom prst="roundRect">
            <a:avLst>
              <a:gd name="adj" fmla="val 16667"/>
            </a:avLst>
          </a:prstGeom>
          <a:solidFill>
            <a:srgbClr val="F6F8FB"/>
          </a:solidFill>
          <a:ln>
            <a:solidFill>
              <a:srgbClr val="D0DAE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0" name="Rectangle 33"/>
          <p:cNvSpPr/>
          <p:nvPr/>
        </p:nvSpPr>
        <p:spPr>
          <a:xfrm>
            <a:off x="3261240" y="2997000"/>
            <a:ext cx="2620800" cy="9108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1" name="Rounded Rectangle 34"/>
          <p:cNvSpPr/>
          <p:nvPr/>
        </p:nvSpPr>
        <p:spPr>
          <a:xfrm>
            <a:off x="5004720" y="3179880"/>
            <a:ext cx="712800" cy="237240"/>
          </a:xfrm>
          <a:prstGeom prst="roundRect">
            <a:avLst>
              <a:gd name="adj" fmla="val 16667"/>
            </a:avLst>
          </a:prstGeom>
          <a:solidFill>
            <a:srgbClr val="599C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18360" rIns="36720" bIns="18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Now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Box 35"/>
          <p:cNvSpPr/>
          <p:nvPr/>
        </p:nvSpPr>
        <p:spPr>
          <a:xfrm>
            <a:off x="3426120" y="3179880"/>
            <a:ext cx="1487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B2B Statistics &amp; SLA Module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36"/>
          <p:cNvSpPr/>
          <p:nvPr/>
        </p:nvSpPr>
        <p:spPr>
          <a:xfrm>
            <a:off x="3426120" y="3499920"/>
            <a:ext cx="2291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Volume / On-Time / AR / Submission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Rectangle 37"/>
          <p:cNvSpPr/>
          <p:nvPr/>
        </p:nvSpPr>
        <p:spPr>
          <a:xfrm>
            <a:off x="3426120" y="3746880"/>
            <a:ext cx="2291760" cy="13320"/>
          </a:xfrm>
          <a:prstGeom prst="rect">
            <a:avLst/>
          </a:prstGeom>
          <a:solidFill>
            <a:srgbClr val="D9D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5" name="TextBox 38"/>
          <p:cNvSpPr/>
          <p:nvPr/>
        </p:nvSpPr>
        <p:spPr>
          <a:xfrm>
            <a:off x="3426120" y="3819960"/>
            <a:ext cx="2291760" cy="75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Corporate / B2B performance: volume by operation type, on-time rate, AR return turnaround, submission compliance. All statistics filterable by account type / B2B / HV / operation type / station / CTR / courier / shipper / date range. Delay breaches surfaced at parcel and aggregate level. (§15)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Rounded Rectangle 39"/>
          <p:cNvSpPr/>
          <p:nvPr/>
        </p:nvSpPr>
        <p:spPr>
          <a:xfrm>
            <a:off x="6157080" y="2997000"/>
            <a:ext cx="2620800" cy="1689120"/>
          </a:xfrm>
          <a:prstGeom prst="roundRect">
            <a:avLst>
              <a:gd name="adj" fmla="val 16667"/>
            </a:avLst>
          </a:prstGeom>
          <a:solidFill>
            <a:srgbClr val="F6F8FB"/>
          </a:solidFill>
          <a:ln>
            <a:solidFill>
              <a:srgbClr val="D0DAE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7" name="Rectangle 40"/>
          <p:cNvSpPr/>
          <p:nvPr/>
        </p:nvSpPr>
        <p:spPr>
          <a:xfrm>
            <a:off x="6157080" y="2997000"/>
            <a:ext cx="2620800" cy="9108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8" name="Rounded Rectangle 41"/>
          <p:cNvSpPr/>
          <p:nvPr/>
        </p:nvSpPr>
        <p:spPr>
          <a:xfrm>
            <a:off x="7900560" y="3179880"/>
            <a:ext cx="712800" cy="237240"/>
          </a:xfrm>
          <a:prstGeom prst="roundRect">
            <a:avLst>
              <a:gd name="adj" fmla="val 16667"/>
            </a:avLst>
          </a:prstGeom>
          <a:solidFill>
            <a:srgbClr val="599C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18360" rIns="36720" bIns="18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Now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42"/>
          <p:cNvSpPr/>
          <p:nvPr/>
        </p:nvSpPr>
        <p:spPr>
          <a:xfrm>
            <a:off x="6321600" y="3179880"/>
            <a:ext cx="1487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Reimbursement Workflow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Box 43"/>
          <p:cNvSpPr/>
          <p:nvPr/>
        </p:nvSpPr>
        <p:spPr>
          <a:xfrm>
            <a:off x="6321600" y="3499920"/>
            <a:ext cx="2291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Request → Approval → Payment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Rectangle 44"/>
          <p:cNvSpPr/>
          <p:nvPr/>
        </p:nvSpPr>
        <p:spPr>
          <a:xfrm>
            <a:off x="6321600" y="3746880"/>
            <a:ext cx="2291760" cy="13320"/>
          </a:xfrm>
          <a:prstGeom prst="rect">
            <a:avLst/>
          </a:prstGeom>
          <a:solidFill>
            <a:srgbClr val="D9D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2" name="TextBox 45"/>
          <p:cNvSpPr/>
          <p:nvPr/>
        </p:nvSpPr>
        <p:spPr>
          <a:xfrm>
            <a:off x="6321600" y="3819960"/>
            <a:ext cx="2291760" cy="75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Integrated reimbursement process — request carries type, requester, parcel reference, amount, responsible party, validation chain, payment state and proof documents. Supports approval, rejection, partial reimbursement, payment and history. (§14.5)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Rectangle 46"/>
          <p:cNvSpPr/>
          <p:nvPr/>
        </p:nvSpPr>
        <p:spPr>
          <a:xfrm>
            <a:off x="0" y="4851000"/>
            <a:ext cx="9143640" cy="292320"/>
          </a:xfrm>
          <a:prstGeom prst="rect">
            <a:avLst/>
          </a:prstGeom>
          <a:solidFill>
            <a:srgbClr val="4FB0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4" name="TextBox 47"/>
          <p:cNvSpPr/>
          <p:nvPr/>
        </p:nvSpPr>
        <p:spPr>
          <a:xfrm>
            <a:off x="365760" y="486936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Anderson Logistics — B2B / Corporate Flow · Parcel &amp; document logistics — Corporate / B2B segment (per FRS doc) · AI Use Cases · Shipsy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LibreOffice/26.2.2.2$MacOSX_AARCH64 LibreOffice_project/1f77d10d6938fd34972958f64b2bcfa54f8b1ba5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